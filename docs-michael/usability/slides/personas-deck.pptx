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6"/>
  </p:normalViewPr>
  <p:slideViewPr>
    <p:cSldViewPr snapToGrid="0" snapToObjects="1">
      <p:cViewPr varScale="1">
        <p:scale>
          <a:sx n="109" d="100"/>
          <a:sy n="109" d="100"/>
        </p:scale>
        <p:origin x="70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797859-CBE5-A345-A4D0-6AECFDEC885F}" type="datetimeFigureOut">
              <a:rPr lang="en-IL" smtClean="0"/>
              <a:t>09/09/2026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EC4B32-A2B8-6C42-B9A5-F75DF8C2B84F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918751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developer who changes jiuwenswarm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Runs their own instance - and is also a user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Runs one instance as a shared bot a group talks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Uses the agent directly - the base everyone builds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Uses the agent in the rich Web UI (chat + code).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Uses the Web UI mostly to ask questions and get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Uses the Web UI to get real code work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TBD - findings not yet collected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TBD - findings not yet collected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Writes, packages, and distributes skills.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Builds their own product using jiuwenswarm as its backend.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316523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The 4 pillars around jiuwenswarm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who makes it, runs it, uses it, and builds on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64592" rtlCol="0" anchor="t"/>
          <a:lstStyle/>
          <a:p>
            <a:pPr algn="ctr"/>
            <a:r>
              <a:rPr sz="2400" b="1" dirty="0">
                <a:solidFill>
                  <a:srgbClr val="4E9EFF"/>
                </a:solidFill>
              </a:rPr>
              <a:t>Makers</a:t>
            </a:r>
            <a:endParaRPr lang="ru-RU" sz="2400" b="1" dirty="0">
              <a:solidFill>
                <a:srgbClr val="4E9EFF"/>
              </a:solidFill>
            </a:endParaRPr>
          </a:p>
          <a:p>
            <a:pPr algn="ctr"/>
            <a:endParaRPr sz="2400" b="1" dirty="0">
              <a:solidFill>
                <a:srgbClr val="4E9EFF"/>
              </a:solidFill>
            </a:endParaRPr>
          </a:p>
          <a:p>
            <a:endParaRPr lang="ru-RU" sz="1600" dirty="0">
              <a:solidFill>
                <a:srgbClr val="9AA6B8"/>
              </a:solidFill>
            </a:endParaRPr>
          </a:p>
          <a:p>
            <a:r>
              <a:rPr sz="1600" dirty="0">
                <a:solidFill>
                  <a:srgbClr val="9AA6B8"/>
                </a:solidFill>
              </a:rPr>
              <a:t>Engine Contributor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64592" rtlCol="0" anchor="t"/>
          <a:lstStyle/>
          <a:p>
            <a:pPr algn="ctr"/>
            <a:r>
              <a:rPr sz="2400" b="1" dirty="0">
                <a:solidFill>
                  <a:srgbClr val="66BB6A"/>
                </a:solidFill>
              </a:rPr>
              <a:t>Runners</a:t>
            </a:r>
            <a:endParaRPr lang="ru-RU" sz="2400" b="1" dirty="0">
              <a:solidFill>
                <a:srgbClr val="66BB6A"/>
              </a:solidFill>
            </a:endParaRPr>
          </a:p>
          <a:p>
            <a:pPr algn="ctr"/>
            <a:endParaRPr sz="2400" b="1" dirty="0">
              <a:solidFill>
                <a:srgbClr val="66BB6A"/>
              </a:solidFill>
            </a:endParaRPr>
          </a:p>
          <a:p>
            <a:endParaRPr lang="ru-RU" sz="1600" dirty="0">
              <a:solidFill>
                <a:srgbClr val="9AA6B8"/>
              </a:solidFill>
            </a:endParaRPr>
          </a:p>
          <a:p>
            <a:r>
              <a:rPr sz="1600" dirty="0">
                <a:solidFill>
                  <a:srgbClr val="9AA6B8"/>
                </a:solidFill>
              </a:rPr>
              <a:t>Self-</a:t>
            </a:r>
            <a:r>
              <a:rPr sz="1600" dirty="0" err="1">
                <a:solidFill>
                  <a:srgbClr val="9AA6B8"/>
                </a:solidFill>
              </a:rPr>
              <a:t>hoster</a:t>
            </a:r>
            <a:endParaRPr sz="1600" dirty="0">
              <a:solidFill>
                <a:srgbClr val="9AA6B8"/>
              </a:solidFill>
            </a:endParaRPr>
          </a:p>
          <a:p>
            <a:r>
              <a:rPr sz="1600" dirty="0">
                <a:solidFill>
                  <a:srgbClr val="9AA6B8"/>
                </a:solidFill>
              </a:rPr>
              <a:t>Bot-</a:t>
            </a:r>
            <a:r>
              <a:rPr sz="1600" dirty="0" err="1">
                <a:solidFill>
                  <a:srgbClr val="9AA6B8"/>
                </a:solidFill>
              </a:rPr>
              <a:t>hoster</a:t>
            </a:r>
            <a:endParaRPr sz="1600" dirty="0">
              <a:solidFill>
                <a:srgbClr val="9AA6B8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9893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64592" rtlCol="0" anchor="t"/>
          <a:lstStyle/>
          <a:p>
            <a:pPr algn="ctr"/>
            <a:r>
              <a:rPr sz="2400" b="1" dirty="0">
                <a:solidFill>
                  <a:srgbClr val="FFB74D"/>
                </a:solidFill>
              </a:rPr>
              <a:t>Consumers</a:t>
            </a:r>
            <a:r>
              <a:rPr lang="en-US" sz="2400" b="1" dirty="0">
                <a:solidFill>
                  <a:srgbClr val="FFB74D"/>
                </a:solidFill>
              </a:rPr>
              <a:t> (B2C)</a:t>
            </a:r>
            <a:endParaRPr lang="ru-RU" sz="1600" i="1" dirty="0">
              <a:solidFill>
                <a:srgbClr val="FFB74D"/>
              </a:solidFill>
            </a:endParaRPr>
          </a:p>
          <a:p>
            <a:pPr algn="ctr"/>
            <a:endParaRPr sz="1600" i="1" dirty="0">
              <a:solidFill>
                <a:srgbClr val="FFB74D"/>
              </a:solidFill>
            </a:endParaRPr>
          </a:p>
          <a:p>
            <a:endParaRPr lang="en-US" sz="1600" dirty="0">
              <a:solidFill>
                <a:srgbClr val="9AA6B8"/>
              </a:solidFill>
            </a:endParaRPr>
          </a:p>
          <a:p>
            <a:r>
              <a:rPr sz="1600" dirty="0">
                <a:solidFill>
                  <a:srgbClr val="9AA6B8"/>
                </a:solidFill>
              </a:rPr>
              <a:t>Web chatter</a:t>
            </a:r>
          </a:p>
          <a:p>
            <a:r>
              <a:rPr sz="1600" dirty="0">
                <a:solidFill>
                  <a:srgbClr val="9AA6B8"/>
                </a:solidFill>
              </a:rPr>
              <a:t>Web coder</a:t>
            </a:r>
          </a:p>
          <a:p>
            <a:r>
              <a:rPr sz="1600" dirty="0">
                <a:solidFill>
                  <a:srgbClr val="9AA6B8"/>
                </a:solidFill>
              </a:rPr>
              <a:t>Text CLI</a:t>
            </a:r>
          </a:p>
          <a:p>
            <a:r>
              <a:rPr sz="1600" dirty="0">
                <a:solidFill>
                  <a:srgbClr val="9AA6B8"/>
                </a:solidFill>
              </a:rPr>
              <a:t>Text TUI</a:t>
            </a:r>
          </a:p>
          <a:p>
            <a:r>
              <a:rPr sz="1600" dirty="0">
                <a:solidFill>
                  <a:srgbClr val="9AA6B8"/>
                </a:solidFill>
              </a:rPr>
              <a:t>Text IM</a:t>
            </a:r>
          </a:p>
          <a:p>
            <a:r>
              <a:rPr sz="1600" dirty="0">
                <a:solidFill>
                  <a:srgbClr val="9AA6B8"/>
                </a:solidFill>
              </a:rPr>
              <a:t>Channel Browser</a:t>
            </a:r>
          </a:p>
          <a:p>
            <a:r>
              <a:rPr sz="1600" dirty="0">
                <a:solidFill>
                  <a:srgbClr val="9AA6B8"/>
                </a:solidFill>
              </a:rPr>
              <a:t>Channel 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325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64592" rtlCol="0" anchor="t"/>
          <a:lstStyle/>
          <a:p>
            <a:pPr algn="ctr"/>
            <a:r>
              <a:rPr sz="2400" b="1" dirty="0">
                <a:solidFill>
                  <a:srgbClr val="F46D9B"/>
                </a:solidFill>
              </a:rPr>
              <a:t>Builders</a:t>
            </a:r>
          </a:p>
          <a:p>
            <a:pPr algn="ctr"/>
            <a:r>
              <a:rPr lang="en-US" sz="1600" i="1" dirty="0">
                <a:solidFill>
                  <a:srgbClr val="F46D9B"/>
                </a:solidFill>
              </a:rPr>
              <a:t> </a:t>
            </a:r>
          </a:p>
          <a:p>
            <a:pPr algn="ctr"/>
            <a:endParaRPr lang="en-US" sz="1600" i="1" dirty="0">
              <a:solidFill>
                <a:srgbClr val="F46D9B"/>
              </a:solidFill>
            </a:endParaRPr>
          </a:p>
          <a:p>
            <a:pPr algn="ctr"/>
            <a:endParaRPr lang="ru-RU" sz="1600" i="1" dirty="0">
              <a:solidFill>
                <a:srgbClr val="F46D9B"/>
              </a:solidFill>
            </a:endParaRPr>
          </a:p>
          <a:p>
            <a:r>
              <a:rPr lang="en-US" sz="1200" i="1" dirty="0">
                <a:solidFill>
                  <a:srgbClr val="F46D9B"/>
                </a:solidFill>
              </a:rPr>
              <a:t>Ecosystem</a:t>
            </a:r>
            <a:r>
              <a:rPr lang="en-US" sz="1600" i="1" dirty="0">
                <a:solidFill>
                  <a:srgbClr val="F46D9B"/>
                </a:solidFill>
              </a:rPr>
              <a:t> </a:t>
            </a:r>
          </a:p>
          <a:p>
            <a:r>
              <a:rPr lang="en-US" sz="1600" i="1" dirty="0">
                <a:solidFill>
                  <a:srgbClr val="F46D9B"/>
                </a:solidFill>
              </a:rPr>
              <a:t>	</a:t>
            </a:r>
            <a:r>
              <a:rPr sz="1600" dirty="0">
                <a:solidFill>
                  <a:srgbClr val="9AA6B8"/>
                </a:solidFill>
              </a:rPr>
              <a:t>Skill Author</a:t>
            </a:r>
          </a:p>
          <a:p>
            <a:r>
              <a:rPr lang="en-US" sz="1200" i="1" dirty="0">
                <a:solidFill>
                  <a:srgbClr val="F46D9B"/>
                </a:solidFill>
              </a:rPr>
              <a:t>M2M</a:t>
            </a:r>
            <a:r>
              <a:rPr lang="en-US" sz="1600" i="1" dirty="0">
                <a:solidFill>
                  <a:srgbClr val="F46D9B"/>
                </a:solidFill>
              </a:rPr>
              <a:t> </a:t>
            </a:r>
          </a:p>
          <a:p>
            <a:r>
              <a:rPr lang="en-US" sz="1600" i="1" dirty="0">
                <a:solidFill>
                  <a:srgbClr val="F46D9B"/>
                </a:solidFill>
              </a:rPr>
              <a:t>	</a:t>
            </a:r>
            <a:r>
              <a:rPr sz="1600" dirty="0">
                <a:solidFill>
                  <a:srgbClr val="9AA6B8"/>
                </a:solidFill>
              </a:rPr>
              <a:t>Agent Integrator</a:t>
            </a:r>
          </a:p>
          <a:p>
            <a:r>
              <a:rPr lang="en-US" sz="1200" i="1" dirty="0">
                <a:solidFill>
                  <a:srgbClr val="F46D9B"/>
                </a:solidFill>
              </a:rPr>
              <a:t>B2B2C</a:t>
            </a:r>
            <a:r>
              <a:rPr lang="en-US" sz="1600" i="1" dirty="0">
                <a:solidFill>
                  <a:srgbClr val="F46D9B"/>
                </a:solidFill>
              </a:rPr>
              <a:t> </a:t>
            </a:r>
          </a:p>
          <a:p>
            <a:r>
              <a:rPr lang="en-US" sz="1600" i="1" dirty="0">
                <a:solidFill>
                  <a:srgbClr val="F46D9B"/>
                </a:solidFill>
              </a:rPr>
              <a:t>	 </a:t>
            </a:r>
            <a:r>
              <a:rPr sz="1600" dirty="0">
                <a:solidFill>
                  <a:srgbClr val="9AA6B8"/>
                </a:solidFill>
              </a:rPr>
              <a:t>Product Builder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MAKERS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Engine Contributor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The developer who changes jiuwenswarm itself.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Rails &amp; Context API</a:t>
            </a:r>
          </a:p>
          <a:p>
            <a:r>
              <a:rPr sz="1350">
                <a:solidFill>
                  <a:srgbClr val="9AA6B8"/>
                </a:solidFill>
              </a:rPr>
              <a:t>rail hooks, context &amp; errors are undocumented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Tools &amp; Agent Factory</a:t>
            </a:r>
          </a:p>
          <a:p>
            <a:r>
              <a:rPr sz="1350">
                <a:solidFill>
                  <a:srgbClr val="9AA6B8"/>
                </a:solidFill>
              </a:rPr>
              <a:t>registering tools &amp; factory params undocumented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Testing &amp; Tooling</a:t>
            </a:r>
          </a:p>
          <a:p>
            <a:r>
              <a:rPr sz="1350">
                <a:solidFill>
                  <a:srgbClr val="9AA6B8"/>
                </a:solidFill>
              </a:rPr>
              <a:t>no scaffold CLI; rails are hard to test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Docs &amp; Stability</a:t>
            </a:r>
          </a:p>
          <a:p>
            <a:r>
              <a:rPr sz="1350">
                <a:solidFill>
                  <a:srgbClr val="9AA6B8"/>
                </a:solidFill>
              </a:rPr>
              <a:t>undiscoverable examples, no stable public 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960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Channels</a:t>
            </a:r>
          </a:p>
          <a:p>
            <a:r>
              <a:rPr sz="1350">
                <a:solidFill>
                  <a:srgbClr val="9AA6B8"/>
                </a:solidFill>
              </a:rPr>
              <a:t>no guide for writing a custom channel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RUNNERS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Self-hoster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Runs their own instance - and is also a user of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also a Consumer (of their own instance)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Setup &amp; Config</a:t>
            </a:r>
          </a:p>
          <a:p>
            <a:r>
              <a:rPr sz="1350">
                <a:solidFill>
                  <a:srgbClr val="9AA6B8"/>
                </a:solidFill>
              </a:rPr>
              <a:t>no validation; credentials fail late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Running the instance</a:t>
            </a:r>
          </a:p>
          <a:p>
            <a:r>
              <a:rPr sz="1350">
                <a:solidFill>
                  <a:srgbClr val="9AA6B8"/>
                </a:solidFill>
              </a:rPr>
              <a:t>ports/logs/upgrades/permissions are opaque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Cost &amp; Tokens</a:t>
            </a:r>
          </a:p>
          <a:p>
            <a:r>
              <a:rPr sz="1350">
                <a:solidFill>
                  <a:srgbClr val="9AA6B8"/>
                </a:solidFill>
              </a:rPr>
              <a:t>no token or cost visibility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Data Retention</a:t>
            </a:r>
          </a:p>
          <a:p>
            <a:r>
              <a:rPr sz="1350">
                <a:solidFill>
                  <a:srgbClr val="9AA6B8"/>
                </a:solidFill>
              </a:rPr>
              <a:t>data is kept forever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960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Health</a:t>
            </a:r>
          </a:p>
          <a:p>
            <a:r>
              <a:rPr sz="1350">
                <a:solidFill>
                  <a:srgbClr val="9AA6B8"/>
                </a:solidFill>
              </a:rPr>
              <a:t>subsystem failures go unnoticed</a:t>
            </a:r>
          </a:p>
        </p:txBody>
      </p:sp>
      <p:sp>
        <p:nvSpPr>
          <p:cNvPr id="12" name="Rounded Rectangle 10"/>
          <p:cNvSpPr/>
          <p:nvPr/>
        </p:nvSpPr>
        <p:spPr>
          <a:xfrm>
            <a:off x="8016239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First Run</a:t>
            </a:r>
          </a:p>
          <a:p>
            <a:r>
              <a:rPr sz="1350">
                <a:solidFill>
                  <a:srgbClr val="9AA6B8"/>
                </a:solidFill>
              </a:rPr>
              <a:t>wizard exits before the model is confirmed working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RUNNERS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Bot-hoster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Runs one instance as a shared bot a group talks 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Identity &amp; Isolation</a:t>
            </a:r>
          </a:p>
          <a:p>
            <a:r>
              <a:rPr sz="1350">
                <a:solidFill>
                  <a:srgbClr val="9AA6B8"/>
                </a:solidFill>
              </a:rPr>
              <a:t>no login, no per-user isolation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Shared Skills</a:t>
            </a:r>
          </a:p>
          <a:p>
            <a:r>
              <a:rPr sz="1350">
                <a:solidFill>
                  <a:srgbClr val="9AA6B8"/>
                </a:solidFill>
              </a:rPr>
              <a:t>no shared skill library across instances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Consumer — 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These findings apply to every consumer regardless of surface. Web, Text, and Channel personas all inherit from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base persona (no parent)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Errors &amp; Feedback</a:t>
            </a:r>
          </a:p>
          <a:p>
            <a:r>
              <a:rPr sz="1350">
                <a:solidFill>
                  <a:srgbClr val="9AA6B8"/>
                </a:solidFill>
              </a:rPr>
              <a:t>unactionable errors; can't correct the agent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Conversation</a:t>
            </a:r>
          </a:p>
          <a:p>
            <a:r>
              <a:rPr sz="1350">
                <a:solidFill>
                  <a:srgbClr val="9AA6B8"/>
                </a:solidFill>
              </a:rPr>
              <a:t>unclear context in replies and clarification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History &amp; Notifications</a:t>
            </a:r>
          </a:p>
          <a:p>
            <a:r>
              <a:rPr sz="1350">
                <a:solidFill>
                  <a:srgbClr val="9AA6B8"/>
                </a:solidFill>
              </a:rPr>
              <a:t>no search or task-finished notice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Control &amp; Continuity</a:t>
            </a:r>
          </a:p>
          <a:p>
            <a:r>
              <a:rPr sz="1350">
                <a:solidFill>
                  <a:srgbClr val="9AA6B8"/>
                </a:solidFill>
              </a:rPr>
              <a:t>crashes and disconnects lose work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960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Memory &amp; Privacy</a:t>
            </a:r>
          </a:p>
          <a:p>
            <a:r>
              <a:rPr sz="1350">
                <a:solidFill>
                  <a:srgbClr val="9AA6B8"/>
                </a:solidFill>
              </a:rPr>
              <a:t>can't see what's remembered or sent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6239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Help &amp; Diagnostics</a:t>
            </a:r>
          </a:p>
          <a:p>
            <a:r>
              <a:rPr sz="1350">
                <a:solidFill>
                  <a:srgbClr val="9AA6B8"/>
                </a:solidFill>
              </a:rPr>
              <a:t>no guidance or easy diagnostics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Web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Uses the agent in the rich Web UI (chat + code).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Discovery &amp; Onboarding</a:t>
            </a:r>
          </a:p>
          <a:p>
            <a:r>
              <a:rPr sz="1350">
                <a:solidFill>
                  <a:srgbClr val="9AA6B8"/>
                </a:solidFill>
              </a:rPr>
              <a:t>empty start; powerful features hidden; mode names are unclear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Language</a:t>
            </a:r>
          </a:p>
          <a:p>
            <a:r>
              <a:rPr sz="1350">
                <a:solidFill>
                  <a:srgbClr val="9AA6B8"/>
                </a:solidFill>
              </a:rPr>
              <a:t>GUI isn't fully translated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Navigation &amp; Settings</a:t>
            </a:r>
          </a:p>
          <a:p>
            <a:r>
              <a:rPr sz="1350">
                <a:solidFill>
                  <a:srgbClr val="9AA6B8"/>
                </a:solidFill>
              </a:rPr>
              <a:t>settings by module; skills/connectors split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960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Accessibility</a:t>
            </a:r>
          </a:p>
          <a:p>
            <a:r>
              <a:rPr sz="1350">
                <a:solidFill>
                  <a:srgbClr val="9AA6B8"/>
                </a:solidFill>
              </a:rPr>
              <a:t>contrast &amp; screen-reader gaps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6239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Mobile</a:t>
            </a:r>
          </a:p>
          <a:p>
            <a:r>
              <a:rPr sz="1350">
                <a:solidFill>
                  <a:srgbClr val="9AA6B8"/>
                </a:solidFill>
              </a:rPr>
              <a:t>not mobile-friendly, no offline 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 -&gt; WEB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Web Chat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Uses the Web UI mostly to ask questions and get answers.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 -&gt; Web 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Reply &amp; Formatting</a:t>
            </a:r>
          </a:p>
          <a:p>
            <a:r>
              <a:rPr sz="1350">
                <a:solidFill>
                  <a:srgbClr val="9AA6B8"/>
                </a:solidFill>
              </a:rPr>
              <a:t>no control over length or writing style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Sharing &amp; Export</a:t>
            </a:r>
          </a:p>
          <a:p>
            <a:r>
              <a:rPr sz="1350">
                <a:solidFill>
                  <a:srgbClr val="9AA6B8"/>
                </a:solidFill>
              </a:rPr>
              <a:t>conversations can only be shared as a flat image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 -&gt; WEB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Web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Uses the Web UI to get real code work done.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 -&gt; Web 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Explanation</a:t>
            </a:r>
          </a:p>
          <a:p>
            <a:r>
              <a:rPr sz="1350">
                <a:solidFill>
                  <a:srgbClr val="9AA6B8"/>
                </a:solidFill>
              </a:rPr>
              <a:t>can't see reasoning or why a tool ran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Safety &amp; Undo</a:t>
            </a:r>
          </a:p>
          <a:p>
            <a:r>
              <a:rPr sz="1350">
                <a:solidFill>
                  <a:srgbClr val="9AA6B8"/>
                </a:solidFill>
              </a:rPr>
              <a:t>changes apply without preview; hard to undo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Progress</a:t>
            </a:r>
          </a:p>
          <a:p>
            <a:r>
              <a:rPr sz="1350">
                <a:solidFill>
                  <a:srgbClr val="9AA6B8"/>
                </a:solidFill>
              </a:rPr>
              <a:t>long builds show no progress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Keyboard</a:t>
            </a:r>
          </a:p>
          <a:p>
            <a:r>
              <a:rPr sz="1350">
                <a:solidFill>
                  <a:srgbClr val="9AA6B8"/>
                </a:solidFill>
              </a:rPr>
              <a:t>not fully keyboard-driven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 -&gt; TEXT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Text Users (CLI · TUI · IM)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Reach the agent through a text surface.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 -&gt; Text 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E07B7B"/>
                </a:solidFill>
              </a:rPr>
              <a:t>CLI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E07B7B"/>
                </a:solidFill>
              </a:rPr>
              <a:t>TUI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E07B7B"/>
                </a:solidFill>
              </a:rPr>
              <a:t>IM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 -&gt; CHANNEL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Channel Users (Browser · IDE)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Reach the agent through a code/editor channel.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 -&gt; Channel 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E07B7B"/>
                </a:solidFill>
              </a:rPr>
              <a:t>IDE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E07B7B"/>
                </a:solidFill>
              </a:rPr>
              <a:t>Browser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46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BUILDERS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Skill Author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Writes, packages, and distributes skills.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Authoring &amp; Testing</a:t>
            </a:r>
          </a:p>
          <a:p>
            <a:r>
              <a:rPr sz="1350">
                <a:solidFill>
                  <a:srgbClr val="9AA6B8"/>
                </a:solidFill>
              </a:rPr>
              <a:t>no clear entry point; only live-chat testing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Marketplace</a:t>
            </a:r>
          </a:p>
          <a:p>
            <a:r>
              <a:rPr sz="1350">
                <a:solidFill>
                  <a:srgbClr val="9AA6B8"/>
                </a:solidFill>
              </a:rPr>
              <a:t>no ratings, usage or freshness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6239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Packaging &amp; Distribution</a:t>
            </a:r>
          </a:p>
          <a:p>
            <a:r>
              <a:rPr sz="1350">
                <a:solidFill>
                  <a:srgbClr val="9AA6B8"/>
                </a:solidFill>
              </a:rPr>
              <a:t>updates can't be reviewed or rolled back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46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BUILDERS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Agent Integrator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Wires jiuwenswarm into a multi-agent system via the A2A protocol.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42A2D31-BF03-DAC4-08A1-8F6BADA696A2}"/>
              </a:ext>
            </a:extLst>
          </p:cNvPr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 dirty="0">
                <a:solidFill>
                  <a:srgbClr val="E07B7B"/>
                </a:solidFill>
              </a:rPr>
              <a:t> (TBD)</a:t>
            </a:r>
          </a:p>
          <a:p>
            <a:r>
              <a:rPr sz="1350" dirty="0">
                <a:solidFill>
                  <a:srgbClr val="9AA6B8"/>
                </a:solidFill>
              </a:rPr>
              <a:t>TBD - not built yet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46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BUILDERS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Product Builder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Builds their own product using jiuwenswarm as its backend.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Connection &amp; Security</a:t>
            </a:r>
          </a:p>
          <a:p>
            <a:r>
              <a:rPr sz="1350">
                <a:solidFill>
                  <a:srgbClr val="9AA6B8"/>
                </a:solidFill>
              </a:rPr>
              <a:t>no API auth; weak origin checks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Transport &amp; Protocol</a:t>
            </a:r>
          </a:p>
          <a:p>
            <a:r>
              <a:rPr sz="1350">
                <a:solidFill>
                  <a:srgbClr val="9AA6B8"/>
                </a:solidFill>
              </a:rPr>
              <a:t>WebSocket-only; prose spec, no SDK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6239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Integration &amp; Tooling</a:t>
            </a:r>
          </a:p>
          <a:p>
            <a:r>
              <a:rPr sz="1350">
                <a:solidFill>
                  <a:srgbClr val="9AA6B8"/>
                </a:solidFill>
              </a:rPr>
              <a:t>no dev stubs; only shell hooks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797</Words>
  <Application>Microsoft Macintosh PowerPoint</Application>
  <PresentationFormat>Widescreen</PresentationFormat>
  <Paragraphs>170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מאיה אטמוק</cp:lastModifiedBy>
  <cp:revision>9</cp:revision>
  <dcterms:created xsi:type="dcterms:W3CDTF">2013-01-27T09:14:16Z</dcterms:created>
  <dcterms:modified xsi:type="dcterms:W3CDTF">2026-09-08T22:58:38Z</dcterms:modified>
  <cp:category/>
</cp:coreProperties>
</file>