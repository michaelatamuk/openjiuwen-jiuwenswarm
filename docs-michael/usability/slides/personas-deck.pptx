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Git-clones jiuwenswarm and contributes to the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Installs, runs and keeps one instance healthy; also its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Maintains a bot a group uses; no multi-tenancy means all share one identity.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consumer; other consumers build on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 UI surface shared by chat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Chatter; inherits Consumer + Web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Coder; inherits Consumer + Web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Builds on a ready jiuwenswarm over E2A/WebSocket/ACP.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Adds capability content (skills) users enable on an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The 4 pillars around jiuwenswarm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468880" cy="4023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4E9EFF"/>
                </a:solidFill>
              </a:rPr>
              <a:t>Makers</a:t>
            </a:r>
          </a:p>
          <a:p>
            <a:r>
              <a:rPr sz="160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46120" y="2194560"/>
            <a:ext cx="2468880" cy="4023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66BB6A"/>
                </a:solidFill>
              </a:rPr>
              <a:t>Runners</a:t>
            </a:r>
          </a:p>
          <a:p>
            <a:r>
              <a:rPr sz="1600">
                <a:solidFill>
                  <a:srgbClr val="9AA6B8"/>
                </a:solidFill>
              </a:rPr>
              <a:t>Self-hoster</a:t>
            </a:r>
          </a:p>
          <a:p>
            <a:r>
              <a:rPr sz="1600">
                <a:solidFill>
                  <a:srgbClr val="9AA6B8"/>
                </a:solidFill>
              </a:rPr>
              <a:t>Bot-hoster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2194560"/>
            <a:ext cx="2468880" cy="4023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FB74D"/>
                </a:solidFill>
              </a:rPr>
              <a:t>Consumers</a:t>
            </a:r>
          </a:p>
          <a:p>
            <a:r>
              <a:rPr sz="1600">
                <a:solidFill>
                  <a:srgbClr val="9AA6B8"/>
                </a:solidFill>
              </a:rPr>
              <a:t>Web chatter</a:t>
            </a:r>
          </a:p>
          <a:p>
            <a:r>
              <a:rPr sz="1600">
                <a:solidFill>
                  <a:srgbClr val="9AA6B8"/>
                </a:solidFill>
              </a:rPr>
              <a:t>Web coder</a:t>
            </a:r>
          </a:p>
          <a:p>
            <a:r>
              <a:rPr sz="1600">
                <a:solidFill>
                  <a:srgbClr val="9AA6B8"/>
                </a:solidFill>
              </a:rPr>
              <a:t>Text CLI</a:t>
            </a:r>
          </a:p>
          <a:p>
            <a:r>
              <a:rPr sz="1600">
                <a:solidFill>
                  <a:srgbClr val="9AA6B8"/>
                </a:solidFill>
              </a:rPr>
              <a:t>Text TUI</a:t>
            </a:r>
          </a:p>
          <a:p>
            <a:r>
              <a:rPr sz="1600">
                <a:solidFill>
                  <a:srgbClr val="9AA6B8"/>
                </a:solidFill>
              </a:rPr>
              <a:t>Text IM</a:t>
            </a:r>
          </a:p>
          <a:p>
            <a:r>
              <a:rPr sz="1600">
                <a:solidFill>
                  <a:srgbClr val="9AA6B8"/>
                </a:solidFill>
              </a:rPr>
              <a:t>Channel Browser</a:t>
            </a:r>
          </a:p>
          <a:p>
            <a:r>
              <a:rPr sz="160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194560"/>
            <a:ext cx="2468880" cy="4023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64592" lIns="137160"/>
          <a:lstStyle/>
          <a:p>
            <a:pPr algn="ctr"/>
            <a:r>
              <a:rPr sz="2400" b="1">
                <a:solidFill>
                  <a:srgbClr val="F46D9B"/>
                </a:solidFill>
              </a:rPr>
              <a:t>Builders</a:t>
            </a:r>
          </a:p>
          <a:p>
            <a:r>
              <a:rPr sz="1600">
                <a:solidFill>
                  <a:srgbClr val="9AA6B8"/>
                </a:solidFill>
              </a:rPr>
              <a:t>Product Builder</a:t>
            </a:r>
          </a:p>
          <a:p>
            <a:r>
              <a:rPr sz="1600">
                <a:solidFill>
                  <a:srgbClr val="9AA6B8"/>
                </a:solidFill>
              </a:rPr>
              <a:t>Skill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Engine Contributor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40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40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40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40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Channels</a:t>
            </a:r>
          </a:p>
          <a:p>
            <a:r>
              <a:rPr sz="140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Self-hoster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Runs their own instance, usually to use it themselves.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Setup &amp; Config</a:t>
            </a:r>
          </a:p>
          <a:p>
            <a:r>
              <a:rPr sz="140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40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Cost &amp; Tokens</a:t>
            </a:r>
          </a:p>
          <a:p>
            <a:r>
              <a:rPr sz="140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Retention</a:t>
            </a:r>
          </a:p>
          <a:p>
            <a:r>
              <a:rPr sz="140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Health</a:t>
            </a:r>
          </a:p>
          <a:p>
            <a:r>
              <a:rPr sz="1400">
                <a:solidFill>
                  <a:srgbClr val="9AA6B8"/>
                </a:solidFill>
              </a:rPr>
              <a:t>subsystem failures go unnoticed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Bot-hoster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40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Shared Skills</a:t>
            </a:r>
          </a:p>
          <a:p>
            <a:r>
              <a:rPr sz="140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Consumer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Uses the agent directly - the base for everyone who talks to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40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Conversation</a:t>
            </a:r>
          </a:p>
          <a:p>
            <a:r>
              <a:rPr sz="140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40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40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40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6239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40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Web User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Language</a:t>
            </a:r>
          </a:p>
          <a:p>
            <a:r>
              <a:rPr sz="140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40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Discovery</a:t>
            </a:r>
          </a:p>
          <a:p>
            <a:r>
              <a:rPr sz="1400">
                <a:solidFill>
                  <a:srgbClr val="9AA6B8"/>
                </a:solidFill>
              </a:rPr>
              <a:t>empty start; powerful features hidden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Accessibility</a:t>
            </a:r>
          </a:p>
          <a:p>
            <a:r>
              <a:rPr sz="140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Mobile</a:t>
            </a:r>
          </a:p>
          <a:p>
            <a:r>
              <a:rPr sz="140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Web Chat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Reply</a:t>
            </a:r>
          </a:p>
          <a:p>
            <a:r>
              <a:rPr sz="140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Sharing</a:t>
            </a:r>
          </a:p>
          <a:p>
            <a:r>
              <a:rPr sz="140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Web Code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Explanation</a:t>
            </a:r>
          </a:p>
          <a:p>
            <a:r>
              <a:rPr sz="140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Safety &amp; Undo</a:t>
            </a:r>
          </a:p>
          <a:p>
            <a:r>
              <a:rPr sz="140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Progress</a:t>
            </a:r>
          </a:p>
          <a:p>
            <a:r>
              <a:rPr sz="140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Choosing</a:t>
            </a:r>
          </a:p>
          <a:p>
            <a:r>
              <a:rPr sz="1400">
                <a:solidFill>
                  <a:srgbClr val="9AA6B8"/>
                </a:solidFill>
              </a:rPr>
              <a:t>modes have no clear names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9600" y="4343400"/>
            <a:ext cx="3322320" cy="18288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Keyboard</a:t>
            </a:r>
          </a:p>
          <a:p>
            <a:r>
              <a:rPr sz="140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Product Builder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40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40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40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46304" cy="914400"/>
          </a:xfrm>
          <a:prstGeom prst="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E8EDF4"/>
                </a:solidFill>
              </a:rPr>
              <a:t>Skill Author</a:t>
            </a:r>
          </a:p>
          <a:p>
            <a:pPr algn="l"/>
            <a:r>
              <a:rPr sz="200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40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9600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Marketplace</a:t>
            </a:r>
          </a:p>
          <a:p>
            <a:r>
              <a:rPr sz="140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239" y="2286000"/>
            <a:ext cx="3322320" cy="365760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800" b="1">
                <a:solidFill>
                  <a:srgbClr val="4E9EFF"/>
                </a:solidFill>
              </a:rPr>
              <a:t>Versioning</a:t>
            </a:r>
          </a:p>
          <a:p>
            <a:r>
              <a:rPr sz="140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