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46304" cy="100584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5760"/>
            <a:ext cx="3108960" cy="365760"/>
          </a:xfrm>
          <a:prstGeom prst="round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/>
            <a:r>
              <a:rPr sz="1200" b="1">
                <a:solidFill>
                  <a:srgbClr val="0F1420"/>
                </a:solidFill>
              </a:rPr>
              <a:t>PERSONAS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E8EDF4"/>
                </a:solidFill>
              </a:rPr>
              <a:t>The 4 pillars around jiuwenswarm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9AA6B8"/>
                </a:solidFill>
              </a:rPr>
              <a:t>who makes it, runs it, uses it, and builds on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lIns="137160"/>
          <a:lstStyle/>
          <a:p>
            <a:pPr algn="ctr"/>
            <a:r>
              <a:rPr sz="2300" b="1">
                <a:solidFill>
                  <a:srgbClr val="4E9EFF"/>
                </a:solidFill>
              </a:rPr>
              <a:t>MAKERS</a:t>
            </a:r>
          </a:p>
          <a:p>
            <a:r>
              <a:rPr sz="1500">
                <a:solidFill>
                  <a:srgbClr val="9AA6B8"/>
                </a:solidFill>
              </a:rPr>
              <a:t>Engine Contributor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lIns="137160"/>
          <a:lstStyle/>
          <a:p>
            <a:pPr algn="ctr"/>
            <a:r>
              <a:rPr sz="2300" b="1">
                <a:solidFill>
                  <a:srgbClr val="66BB6A"/>
                </a:solidFill>
              </a:rPr>
              <a:t>RUNNERS</a:t>
            </a:r>
          </a:p>
          <a:p>
            <a:r>
              <a:rPr sz="1500">
                <a:solidFill>
                  <a:srgbClr val="9AA6B8"/>
                </a:solidFill>
              </a:rPr>
              <a:t>Self-hoster</a:t>
            </a:r>
          </a:p>
          <a:p>
            <a:r>
              <a:rPr sz="1500">
                <a:solidFill>
                  <a:srgbClr val="9AA6B8"/>
                </a:solidFill>
              </a:rPr>
              <a:t>Bot-hoster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lIns="137160"/>
          <a:lstStyle/>
          <a:p>
            <a:pPr algn="ctr"/>
            <a:r>
              <a:rPr sz="2300" b="1">
                <a:solidFill>
                  <a:srgbClr val="FFB74D"/>
                </a:solidFill>
              </a:rPr>
              <a:t>CONSUMERS</a:t>
            </a:r>
          </a:p>
          <a:p>
            <a:r>
              <a:rPr sz="1500">
                <a:solidFill>
                  <a:srgbClr val="9AA6B8"/>
                </a:solidFill>
              </a:rPr>
              <a:t>Web chatter</a:t>
            </a:r>
          </a:p>
          <a:p>
            <a:r>
              <a:rPr sz="1500">
                <a:solidFill>
                  <a:srgbClr val="9AA6B8"/>
                </a:solidFill>
              </a:rPr>
              <a:t>Web coder</a:t>
            </a:r>
          </a:p>
          <a:p>
            <a:r>
              <a:rPr sz="1500">
                <a:solidFill>
                  <a:srgbClr val="9AA6B8"/>
                </a:solidFill>
              </a:rPr>
              <a:t>Text CLI</a:t>
            </a:r>
          </a:p>
          <a:p>
            <a:r>
              <a:rPr sz="1500">
                <a:solidFill>
                  <a:srgbClr val="9AA6B8"/>
                </a:solidFill>
              </a:rPr>
              <a:t>Text TUI</a:t>
            </a:r>
          </a:p>
          <a:p>
            <a:r>
              <a:rPr sz="1500">
                <a:solidFill>
                  <a:srgbClr val="9AA6B8"/>
                </a:solidFill>
              </a:rPr>
              <a:t>Text IM</a:t>
            </a:r>
          </a:p>
          <a:p>
            <a:r>
              <a:rPr sz="1500">
                <a:solidFill>
                  <a:srgbClr val="9AA6B8"/>
                </a:solidFill>
              </a:rPr>
              <a:t>Channel Browser</a:t>
            </a:r>
          </a:p>
          <a:p>
            <a:r>
              <a:rPr sz="1500">
                <a:solidFill>
                  <a:srgbClr val="9AA6B8"/>
                </a:solidFill>
              </a:rPr>
              <a:t>Channel IDE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lIns="137160"/>
          <a:lstStyle/>
          <a:p>
            <a:pPr algn="ctr"/>
            <a:r>
              <a:rPr sz="2300" b="1">
                <a:solidFill>
                  <a:srgbClr val="F46D9B"/>
                </a:solidFill>
              </a:rPr>
              <a:t>BUILDERS</a:t>
            </a:r>
          </a:p>
          <a:p>
            <a:r>
              <a:rPr sz="1500">
                <a:solidFill>
                  <a:srgbClr val="9AA6B8"/>
                </a:solidFill>
              </a:rPr>
              <a:t>Skill Author</a:t>
            </a:r>
          </a:p>
          <a:p>
            <a:r>
              <a:rPr sz="1500">
                <a:solidFill>
                  <a:srgbClr val="9AA6B8"/>
                </a:solidFill>
              </a:rPr>
              <a:t>Agent Integrator</a:t>
            </a:r>
          </a:p>
          <a:p>
            <a:r>
              <a:rPr sz="1500">
                <a:solidFill>
                  <a:srgbClr val="9AA6B8"/>
                </a:solidFill>
              </a:rPr>
              <a:t>Product Builder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46304" cy="100584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5760"/>
            <a:ext cx="3108960" cy="365760"/>
          </a:xfrm>
          <a:prstGeom prst="round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/>
            <a:r>
              <a:rPr sz="1200" b="1">
                <a:solidFill>
                  <a:srgbClr val="0F1420"/>
                </a:solidFill>
              </a:rPr>
              <a:t>MAKERS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E8EDF4"/>
                </a:solidFill>
              </a:rPr>
              <a:t>Engine Contributor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9AA6B8"/>
                </a:solidFill>
              </a:rPr>
              <a:t>The developer who changes jiuwenswarm itself.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3352800" cy="1264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Extension Documentation &amp; Stability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2468880"/>
            <a:ext cx="3352800" cy="1264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Rails &amp; Context 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7199" y="2468880"/>
            <a:ext cx="3352800" cy="1264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Extension Testing &amp; Tooling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62400"/>
            <a:ext cx="3352800" cy="1264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Tools &amp; Agent Factory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0080" y="3962400"/>
            <a:ext cx="3352800" cy="1264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Custom 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199" y="3962400"/>
            <a:ext cx="3352800" cy="1264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Release &amp; Versioning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455920"/>
            <a:ext cx="3352800" cy="1264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Documentation &amp; Stability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46304" cy="100584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5760"/>
            <a:ext cx="3108960" cy="365760"/>
          </a:xfrm>
          <a:prstGeom prst="round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/>
            <a:r>
              <a:rPr sz="1200" b="1">
                <a:solidFill>
                  <a:srgbClr val="0F1420"/>
                </a:solidFill>
              </a:rPr>
              <a:t>RUNNERS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E8EDF4"/>
                </a:solidFill>
              </a:rPr>
              <a:t>Self-hoster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9AA6B8"/>
                </a:solidFill>
              </a:rPr>
              <a:t>Runs their own instance - and is also a user of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Data Retention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246888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Cost &amp; Token Economics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7199" y="246888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Running &amp; Managing the Instance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4617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Startup &amp; Configuration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0080" y="364617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First Run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199" y="364617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Health &amp; Degradation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82346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Backup &amp; Recovery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50080" y="482346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Cost &amp; Tokens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7199" y="482346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Diagnostics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600075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Documentation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46304" cy="100584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5760"/>
            <a:ext cx="3108960" cy="365760"/>
          </a:xfrm>
          <a:prstGeom prst="round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/>
            <a:r>
              <a:rPr sz="1200" b="1">
                <a:solidFill>
                  <a:srgbClr val="0F1420"/>
                </a:solidFill>
              </a:rPr>
              <a:t>RUNNERS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E8EDF4"/>
                </a:solidFill>
              </a:rPr>
              <a:t>Bot-hoster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9AA6B8"/>
                </a:solidFill>
              </a:rPr>
              <a:t>Runs one instance as a shared bot a group talks 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3352800" cy="37947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Identity &amp; Isolation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2468880"/>
            <a:ext cx="3352800" cy="37947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Shared Skill Library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7199" y="2468880"/>
            <a:ext cx="3352800" cy="37947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Rate Limiting &amp; Quotas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46304" cy="100584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5760"/>
            <a:ext cx="3108960" cy="365760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/>
            <a:r>
              <a:rPr sz="1200" b="1">
                <a:solidFill>
                  <a:srgbClr val="0F1420"/>
                </a:solidFill>
              </a:rPr>
              <a:t>CONSUMERS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E8EDF4"/>
                </a:solidFill>
              </a:rPr>
              <a:t>Consumer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9AA6B8"/>
                </a:solidFill>
              </a:rPr>
              <a:t>Uses the agent directly - the base everyone builds 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Errors &amp; Feedback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246888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Conversation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7199" y="246888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History &amp; Notifications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9486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Control &amp; Continuity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0080" y="459486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Memory &amp; Privacy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199" y="459486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Help &amp; Diagnostics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46304" cy="100584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5760"/>
            <a:ext cx="3108960" cy="365760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/>
            <a:r>
              <a:rPr sz="1200" b="1">
                <a:solidFill>
                  <a:srgbClr val="0F1420"/>
                </a:solidFill>
              </a:rPr>
              <a:t>CONSUMERS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E8EDF4"/>
                </a:solidFill>
              </a:rPr>
              <a:t>Web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9AA6B8"/>
                </a:solidFill>
              </a:rPr>
              <a:t>Uses the agent in the rich Web UI (chat + code).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Language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246888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Navigation &amp; Settings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7199" y="246888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Discovery &amp; Onboarding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4617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Accessibility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0080" y="364617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Mobile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199" y="364617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Skill Marketplace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82346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Browser Research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50080" y="482346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Explanation &amp; Visibility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7199" y="482346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Safety &amp; Undo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600075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Control &amp; Continuity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50080" y="600075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Conversation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7199" y="6000750"/>
            <a:ext cx="3352800" cy="94869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History &amp; Notifications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46304" cy="100584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5760"/>
            <a:ext cx="3108960" cy="365760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/>
            <a:r>
              <a:rPr sz="1200" b="1">
                <a:solidFill>
                  <a:srgbClr val="0F1420"/>
                </a:solidFill>
              </a:rPr>
              <a:t>CONSUMERS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E8EDF4"/>
                </a:solidFill>
              </a:rPr>
              <a:t>Web Chat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9AA6B8"/>
                </a:solidFill>
              </a:rPr>
              <a:t>Uses the Web UI mostly to ask questions and get answers.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3352800" cy="37947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Reply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2468880"/>
            <a:ext cx="3352800" cy="37947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Sharing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46304" cy="100584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5760"/>
            <a:ext cx="3108960" cy="365760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/>
            <a:r>
              <a:rPr sz="1200" b="1">
                <a:solidFill>
                  <a:srgbClr val="0F1420"/>
                </a:solidFill>
              </a:rPr>
              <a:t>CONSUMERS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E8EDF4"/>
                </a:solidFill>
              </a:rPr>
              <a:t>Web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9AA6B8"/>
                </a:solidFill>
              </a:rPr>
              <a:t>Uses the Web UI to get real code work done.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Explanation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246888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Safety &amp; Undo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7199" y="246888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Progress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9486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Keyboard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0080" y="459486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Diff &amp; Review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46304" cy="100584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5760"/>
            <a:ext cx="3108960" cy="365760"/>
          </a:xfrm>
          <a:prstGeom prst="roundRect">
            <a:avLst/>
          </a:prstGeom>
          <a:solidFill>
            <a:srgbClr val="F46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/>
            <a:r>
              <a:rPr sz="1200" b="1">
                <a:solidFill>
                  <a:srgbClr val="0F1420"/>
                </a:solidFill>
              </a:rPr>
              <a:t>BUILDERS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E8EDF4"/>
                </a:solidFill>
              </a:rPr>
              <a:t>Skill Author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9AA6B8"/>
                </a:solidFill>
              </a:rPr>
              <a:t>Writes, packages, and distributes skills.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Authoring &amp; Testing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246888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Marketplace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7199" y="246888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Packaging &amp; Distribution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9486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Documentation &amp; Samples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46304" cy="100584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5760"/>
            <a:ext cx="3108960" cy="365760"/>
          </a:xfrm>
          <a:prstGeom prst="roundRect">
            <a:avLst/>
          </a:prstGeom>
          <a:solidFill>
            <a:srgbClr val="F46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/>
            <a:r>
              <a:rPr sz="1200" b="1">
                <a:solidFill>
                  <a:srgbClr val="0F1420"/>
                </a:solidFill>
              </a:rPr>
              <a:t>BUILDERS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E8EDF4"/>
                </a:solidFill>
              </a:rPr>
              <a:t>Agent Integrator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9AA6B8"/>
                </a:solidFill>
              </a:rPr>
              <a:t>Connects an external agent framework to jiuwenswarm via A2A (M2M).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Discovery &amp; Card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246888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Task Lifecycle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7199" y="246888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Outbound &amp; Delegation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9486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Protocol &amp; Compatibility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0080" y="459486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Structured Output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46304" cy="100584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5760"/>
            <a:ext cx="3108960" cy="365760"/>
          </a:xfrm>
          <a:prstGeom prst="roundRect">
            <a:avLst/>
          </a:prstGeom>
          <a:solidFill>
            <a:srgbClr val="F46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/>
            <a:r>
              <a:rPr sz="1200" b="1">
                <a:solidFill>
                  <a:srgbClr val="0F1420"/>
                </a:solidFill>
              </a:rPr>
              <a:t>BUILDERS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E8EDF4"/>
                </a:solidFill>
              </a:rPr>
              <a:t>Product Builder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9AA6B8"/>
                </a:solidFill>
              </a:rPr>
              <a:t>Builds their own product using jiuwenswarm as its backend.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Connection &amp; Security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246888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Transport &amp; Protocol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7199" y="246888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Integration &amp; Tooling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9486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Observability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0080" y="4594860"/>
            <a:ext cx="3352800" cy="189738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0" wrap="square"/>
          <a:lstStyle/>
          <a:p>
            <a:pPr algn="ctr"/>
            <a:r>
              <a:rPr sz="1500" b="1">
                <a:solidFill>
                  <a:srgbClr val="4E9EFF"/>
                </a:solidFill>
              </a:rPr>
              <a:t>Documentation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