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developer who changes jiuwenswarm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Runs their own instance - and is also a user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Runs one instance as a shared bot a group talks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agent directly - the base everyone builds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agent in the rich Web UI (chat + code).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Web UI mostly to ask questions and get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Web UI to get real code work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TBD - findings not yet collected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Builds their own product using jiuwenswarm as its backend.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Writes, packages, and distributes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The 4 pillars around jiuwenswarm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who makes it, runs it, uses it, and builds on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64592" lIns="137160"/>
          <a:lstStyle/>
          <a:p>
            <a:pPr algn="ctr"/>
            <a:r>
              <a:rPr sz="2400" b="1">
                <a:solidFill>
                  <a:srgbClr val="4E9EFF"/>
                </a:solidFill>
              </a:rPr>
              <a:t>Makers</a:t>
            </a:r>
          </a:p>
          <a:p>
            <a:r>
              <a:rPr sz="1600">
                <a:solidFill>
                  <a:srgbClr val="9AA6B8"/>
                </a:solidFill>
              </a:rPr>
              <a:t>Engine Contributor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64592" lIns="137160"/>
          <a:lstStyle/>
          <a:p>
            <a:pPr algn="ctr"/>
            <a:r>
              <a:rPr sz="2400" b="1">
                <a:solidFill>
                  <a:srgbClr val="66BB6A"/>
                </a:solidFill>
              </a:rPr>
              <a:t>Runners</a:t>
            </a:r>
          </a:p>
          <a:p>
            <a:r>
              <a:rPr sz="1600">
                <a:solidFill>
                  <a:srgbClr val="9AA6B8"/>
                </a:solidFill>
              </a:rPr>
              <a:t>Self-hoster</a:t>
            </a:r>
          </a:p>
          <a:p>
            <a:r>
              <a:rPr sz="1600">
                <a:solidFill>
                  <a:srgbClr val="9AA6B8"/>
                </a:solidFill>
              </a:rPr>
              <a:t>Bot-hoster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64592" lIns="137160"/>
          <a:lstStyle/>
          <a:p>
            <a:pPr algn="ctr"/>
            <a:r>
              <a:rPr sz="2400" b="1">
                <a:solidFill>
                  <a:srgbClr val="FFB74D"/>
                </a:solidFill>
              </a:rPr>
              <a:t>Consumers</a:t>
            </a:r>
          </a:p>
          <a:p>
            <a:pPr algn="ctr"/>
            <a:r>
              <a:rPr sz="1600" i="1" dirty="0">
                <a:solidFill>
                  <a:srgbClr val="FFB74D"/>
                </a:solidFill>
              </a:rPr>
              <a:t>B2C</a:t>
            </a:r>
          </a:p>
          <a:p>
            <a:r>
              <a:rPr sz="1600">
                <a:solidFill>
                  <a:srgbClr val="9AA6B8"/>
                </a:solidFill>
              </a:rPr>
              <a:t>Web chatter</a:t>
            </a:r>
          </a:p>
          <a:p>
            <a:r>
              <a:rPr sz="1600">
                <a:solidFill>
                  <a:srgbClr val="9AA6B8"/>
                </a:solidFill>
              </a:rPr>
              <a:t>Web coder</a:t>
            </a:r>
          </a:p>
          <a:p>
            <a:r>
              <a:rPr sz="1600">
                <a:solidFill>
                  <a:srgbClr val="9AA6B8"/>
                </a:solidFill>
              </a:rPr>
              <a:t>Text CLI</a:t>
            </a:r>
          </a:p>
          <a:p>
            <a:r>
              <a:rPr sz="1600">
                <a:solidFill>
                  <a:srgbClr val="9AA6B8"/>
                </a:solidFill>
              </a:rPr>
              <a:t>Text TUI</a:t>
            </a:r>
          </a:p>
          <a:p>
            <a:r>
              <a:rPr sz="1600">
                <a:solidFill>
                  <a:srgbClr val="9AA6B8"/>
                </a:solidFill>
              </a:rPr>
              <a:t>Text IM</a:t>
            </a:r>
          </a:p>
          <a:p>
            <a:r>
              <a:rPr sz="1600">
                <a:solidFill>
                  <a:srgbClr val="9AA6B8"/>
                </a:solidFill>
              </a:rPr>
              <a:t>Channel Browser</a:t>
            </a:r>
          </a:p>
          <a:p>
            <a:r>
              <a:rPr sz="1600">
                <a:solidFill>
                  <a:srgbClr val="9AA6B8"/>
                </a:solidFill>
              </a:rPr>
              <a:t>Channel 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2520" y="2377440"/>
            <a:ext cx="2468880" cy="39319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164592" lIns="137160"/>
          <a:lstStyle/>
          <a:p>
            <a:pPr algn="ctr"/>
            <a:r>
              <a:rPr sz="2400" b="1">
                <a:solidFill>
                  <a:srgbClr val="F46D9B"/>
                </a:solidFill>
              </a:rPr>
              <a:t>Builders</a:t>
            </a:r>
          </a:p>
          <a:p>
            <a:pPr algn="ctr"/>
            <a:r>
              <a:rPr sz="1600" i="1" dirty="0">
                <a:solidFill>
                  <a:srgbClr val="F46D9B"/>
                </a:solidFill>
              </a:rPr>
              <a:t>B2B2C</a:t>
            </a:r>
          </a:p>
          <a:p>
            <a:r>
              <a:rPr sz="1600">
                <a:solidFill>
                  <a:srgbClr val="9AA6B8"/>
                </a:solidFill>
              </a:rPr>
              <a:t>Product Builder</a:t>
            </a:r>
          </a:p>
          <a:p>
            <a:r>
              <a:rPr sz="1600">
                <a:solidFill>
                  <a:srgbClr val="9AA6B8"/>
                </a:solidFill>
              </a:rPr>
              <a:t>Skill 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4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MAKERS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Engine Contributor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The developer who changes jiuwenswarm itself.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Rails &amp; Context API</a:t>
            </a:r>
          </a:p>
          <a:p>
            <a:r>
              <a:rPr sz="1350">
                <a:solidFill>
                  <a:srgbClr val="9AA6B8"/>
                </a:solidFill>
              </a:rPr>
              <a:t>rail hooks, context &amp; errors are undocumented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Tools &amp; Agent Factory</a:t>
            </a:r>
          </a:p>
          <a:p>
            <a:r>
              <a:rPr sz="1350">
                <a:solidFill>
                  <a:srgbClr val="9AA6B8"/>
                </a:solidFill>
              </a:rPr>
              <a:t>registering tools &amp; factory params undocumented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Testing &amp; Tooling</a:t>
            </a:r>
          </a:p>
          <a:p>
            <a:r>
              <a:rPr sz="1350">
                <a:solidFill>
                  <a:srgbClr val="9AA6B8"/>
                </a:solidFill>
              </a:rPr>
              <a:t>no scaffold CLI; rails are hard to test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Docs &amp; Stability</a:t>
            </a:r>
          </a:p>
          <a:p>
            <a:r>
              <a:rPr sz="1350">
                <a:solidFill>
                  <a:srgbClr val="9AA6B8"/>
                </a:solidFill>
              </a:rPr>
              <a:t>undiscoverable examples, no stable public 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Channels</a:t>
            </a:r>
          </a:p>
          <a:p>
            <a:r>
              <a:rPr sz="1350">
                <a:solidFill>
                  <a:srgbClr val="9AA6B8"/>
                </a:solidFill>
              </a:rPr>
              <a:t>no guide for writing a custom channel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Self-hoster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their own instance - and is also a user of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also a Consumer (of their own instance)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Setup &amp; Config</a:t>
            </a:r>
          </a:p>
          <a:p>
            <a:r>
              <a:rPr sz="1350">
                <a:solidFill>
                  <a:srgbClr val="9AA6B8"/>
                </a:solidFill>
              </a:rPr>
              <a:t>no validation; credentials fail late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Running the instance</a:t>
            </a:r>
          </a:p>
          <a:p>
            <a:r>
              <a:rPr sz="1350">
                <a:solidFill>
                  <a:srgbClr val="9AA6B8"/>
                </a:solidFill>
              </a:rPr>
              <a:t>ports/logs/upgrades/permissions are opaque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Cost &amp; Tokens</a:t>
            </a:r>
          </a:p>
          <a:p>
            <a:r>
              <a:rPr sz="1350">
                <a:solidFill>
                  <a:srgbClr val="9AA6B8"/>
                </a:solidFill>
              </a:rPr>
              <a:t>no token or cost visibility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Data Retention</a:t>
            </a:r>
          </a:p>
          <a:p>
            <a:r>
              <a:rPr sz="1350">
                <a:solidFill>
                  <a:srgbClr val="9AA6B8"/>
                </a:solidFill>
              </a:rPr>
              <a:t>data is kept forever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Health</a:t>
            </a:r>
          </a:p>
          <a:p>
            <a:r>
              <a:rPr sz="1350">
                <a:solidFill>
                  <a:srgbClr val="9AA6B8"/>
                </a:solidFill>
              </a:rPr>
              <a:t>subsystem failures go unnoticed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First Run</a:t>
            </a:r>
          </a:p>
          <a:p>
            <a:r>
              <a:rPr sz="1350">
                <a:solidFill>
                  <a:srgbClr val="9AA6B8"/>
                </a:solidFill>
              </a:rPr>
              <a:t>wizard exits before the model is confirmed working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RUNNERS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Bot-hoster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Runs one instance as a shared bot a group talks 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Identity &amp; Isolation</a:t>
            </a:r>
          </a:p>
          <a:p>
            <a:r>
              <a:rPr sz="1350">
                <a:solidFill>
                  <a:srgbClr val="9AA6B8"/>
                </a:solidFill>
              </a:rPr>
              <a:t>no login, no per-user isolation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Shared Skills</a:t>
            </a:r>
          </a:p>
          <a:p>
            <a:r>
              <a:rPr sz="1350">
                <a:solidFill>
                  <a:srgbClr val="9AA6B8"/>
                </a:solidFill>
              </a:rPr>
              <a:t>no shared skill library across instances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Consumer — 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These findings apply to every consumer regardless of surface. Web, Text, and Channel personas all inherit from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base persona (no parent)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Errors &amp; Feedback</a:t>
            </a:r>
          </a:p>
          <a:p>
            <a:r>
              <a:rPr sz="1350">
                <a:solidFill>
                  <a:srgbClr val="9AA6B8"/>
                </a:solidFill>
              </a:rPr>
              <a:t>unactionable errors; can't correct the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Conversation</a:t>
            </a:r>
          </a:p>
          <a:p>
            <a:r>
              <a:rPr sz="1350">
                <a:solidFill>
                  <a:srgbClr val="9AA6B8"/>
                </a:solidFill>
              </a:rPr>
              <a:t>unclear context in replies and clarification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History &amp; Notifications</a:t>
            </a:r>
          </a:p>
          <a:p>
            <a:r>
              <a:rPr sz="1350">
                <a:solidFill>
                  <a:srgbClr val="9AA6B8"/>
                </a:solidFill>
              </a:rPr>
              <a:t>no search or task-finished notice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Control &amp; Continuity</a:t>
            </a:r>
          </a:p>
          <a:p>
            <a:r>
              <a:rPr sz="1350">
                <a:solidFill>
                  <a:srgbClr val="9AA6B8"/>
                </a:solidFill>
              </a:rPr>
              <a:t>crashes and disconnects lose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Memory &amp; Privacy</a:t>
            </a:r>
          </a:p>
          <a:p>
            <a:r>
              <a:rPr sz="1350">
                <a:solidFill>
                  <a:srgbClr val="9AA6B8"/>
                </a:solidFill>
              </a:rPr>
              <a:t>can't see what's remembered or sent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Help &amp; Diagnostics</a:t>
            </a:r>
          </a:p>
          <a:p>
            <a:r>
              <a:rPr sz="1350">
                <a:solidFill>
                  <a:srgbClr val="9AA6B8"/>
                </a:solidFill>
              </a:rPr>
              <a:t>no guidance or easy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agent in the rich Web UI (chat + code).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Discovery &amp; Onboarding</a:t>
            </a:r>
          </a:p>
          <a:p>
            <a:r>
              <a:rPr sz="1350">
                <a:solidFill>
                  <a:srgbClr val="9AA6B8"/>
                </a:solidFill>
              </a:rPr>
              <a:t>empty start; powerful features hidden; mode names are unclear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Language</a:t>
            </a:r>
          </a:p>
          <a:p>
            <a:r>
              <a:rPr sz="1350">
                <a:solidFill>
                  <a:srgbClr val="9AA6B8"/>
                </a:solidFill>
              </a:rPr>
              <a:t>GUI isn't fully translated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Navigation &amp; Settings</a:t>
            </a:r>
          </a:p>
          <a:p>
            <a:r>
              <a:rPr sz="1350">
                <a:solidFill>
                  <a:srgbClr val="9AA6B8"/>
                </a:solidFill>
              </a:rPr>
              <a:t>settings by module; skills/connectors split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960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Accessibility</a:t>
            </a:r>
          </a:p>
          <a:p>
            <a:r>
              <a:rPr sz="1350">
                <a:solidFill>
                  <a:srgbClr val="9AA6B8"/>
                </a:solidFill>
              </a:rPr>
              <a:t>contrast &amp; screen-reader gaps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Mobile</a:t>
            </a:r>
          </a:p>
          <a:p>
            <a:r>
              <a:rPr sz="1350">
                <a:solidFill>
                  <a:srgbClr val="9AA6B8"/>
                </a:solidFill>
              </a:rPr>
              <a:t>not mobile-friendly, no offline 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mostly to ask questions and get answers.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Reply &amp; Formatting</a:t>
            </a:r>
          </a:p>
          <a:p>
            <a:r>
              <a:rPr sz="1350">
                <a:solidFill>
                  <a:srgbClr val="9AA6B8"/>
                </a:solidFill>
              </a:rPr>
              <a:t>no control over length or writing style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Sharing &amp; Export</a:t>
            </a:r>
          </a:p>
          <a:p>
            <a:r>
              <a:rPr sz="1350">
                <a:solidFill>
                  <a:srgbClr val="9AA6B8"/>
                </a:solidFill>
              </a:rPr>
              <a:t>conversations can only be shared as a flat image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WEB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Web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Uses the Web UI to get real code work done.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Web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Explanation</a:t>
            </a:r>
          </a:p>
          <a:p>
            <a:r>
              <a:rPr sz="1350">
                <a:solidFill>
                  <a:srgbClr val="9AA6B8"/>
                </a:solidFill>
              </a:rPr>
              <a:t>can't see reasoning or why a tool ran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Safety &amp; Undo</a:t>
            </a:r>
          </a:p>
          <a:p>
            <a:r>
              <a:rPr sz="1350">
                <a:solidFill>
                  <a:srgbClr val="9AA6B8"/>
                </a:solidFill>
              </a:rPr>
              <a:t>changes apply without preview; hard to undo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Progress</a:t>
            </a:r>
          </a:p>
          <a:p>
            <a:r>
              <a:rPr sz="1350">
                <a:solidFill>
                  <a:srgbClr val="9AA6B8"/>
                </a:solidFill>
              </a:rPr>
              <a:t>long builds show no progress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46320"/>
            <a:ext cx="3322320" cy="173736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Keyboard</a:t>
            </a:r>
          </a:p>
          <a:p>
            <a:r>
              <a:rPr sz="1350">
                <a:solidFill>
                  <a:srgbClr val="9AA6B8"/>
                </a:solidFill>
              </a:rPr>
              <a:t>not fully keyboard-driven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TEXT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Text Users (CLI · TUI · IM)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text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Text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CLI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TUI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IM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FB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CONSUMERS -&gt; CHANNEL USER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Channel Users (Browser · IDE)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Reach the agent through a code/editor channel.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37744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B74D"/>
                </a:solidFill>
              </a:rPr>
              <a:t>Built on: a Consumer -&gt; Channel User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IDE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E07B7B"/>
                </a:solidFill>
              </a:rPr>
              <a:t>Browser  (TBD)</a:t>
            </a:r>
          </a:p>
          <a:p>
            <a:r>
              <a:rPr sz="1350">
                <a:solidFill>
                  <a:srgbClr val="9AA6B8"/>
                </a:solidFill>
              </a:rPr>
              <a:t>TBD - not built yet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Product Builder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Builds their own product using jiuwenswarm as its backend.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Connection &amp; Security</a:t>
            </a:r>
          </a:p>
          <a:p>
            <a:r>
              <a:rPr sz="1350">
                <a:solidFill>
                  <a:srgbClr val="9AA6B8"/>
                </a:solidFill>
              </a:rPr>
              <a:t>no API auth; weak origin checks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Transport &amp; Protocol</a:t>
            </a:r>
          </a:p>
          <a:p>
            <a:r>
              <a:rPr sz="1350">
                <a:solidFill>
                  <a:srgbClr val="9AA6B8"/>
                </a:solidFill>
              </a:rPr>
              <a:t>WebSocket-only; prose spec, no SDK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Integration &amp; Tooling</a:t>
            </a:r>
          </a:p>
          <a:p>
            <a:r>
              <a:rPr sz="1350">
                <a:solidFill>
                  <a:srgbClr val="9AA6B8"/>
                </a:solidFill>
              </a:rPr>
              <a:t>no dev stubs; only shell hooks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4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0F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457200"/>
            <a:ext cx="3291840" cy="384048"/>
          </a:xfrm>
          <a:prstGeom prst="roundRect">
            <a:avLst/>
          </a:prstGeom>
          <a:solidFill>
            <a:srgbClr val="F46D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7432" lIns="109728"/>
          <a:lstStyle/>
          <a:p>
            <a:pPr algn="ctr"/>
            <a:r>
              <a:rPr sz="1300" b="1">
                <a:solidFill>
                  <a:srgbClr val="0F1420"/>
                </a:solidFill>
              </a:rPr>
              <a:t>BUILDERS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E8EDF4"/>
                </a:solidFill>
              </a:rPr>
              <a:t>Skill 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9AA6B8"/>
                </a:solidFill>
              </a:rPr>
              <a:t>Writes, packages, and distributes skills.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Authoring &amp; Testing</a:t>
            </a:r>
          </a:p>
          <a:p>
            <a:r>
              <a:rPr sz="1350">
                <a:solidFill>
                  <a:srgbClr val="9AA6B8"/>
                </a:solidFill>
              </a:rPr>
              <a:t>no clear entry point; only live-chat testing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19600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Marketplace</a:t>
            </a:r>
          </a:p>
          <a:p>
            <a:r>
              <a:rPr sz="1350">
                <a:solidFill>
                  <a:srgbClr val="9AA6B8"/>
                </a:solidFill>
              </a:rPr>
              <a:t>no ratings, usage or freshness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6239" y="2880360"/>
            <a:ext cx="3322320" cy="3474720"/>
          </a:xfrm>
          <a:prstGeom prst="roundRect">
            <a:avLst/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09728" wrap="square"/>
          <a:lstStyle/>
          <a:p>
            <a:pPr algn="ctr"/>
            <a:r>
              <a:rPr sz="1700" b="1">
                <a:solidFill>
                  <a:srgbClr val="4E9EFF"/>
                </a:solidFill>
              </a:rPr>
              <a:t>Packaging &amp; Distribution</a:t>
            </a:r>
          </a:p>
          <a:p>
            <a:r>
              <a:rPr sz="1350">
                <a:solidFill>
                  <a:srgbClr val="9AA6B8"/>
                </a:solidFill>
              </a:rPr>
              <a:t>updates can't be reviewed or rolled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