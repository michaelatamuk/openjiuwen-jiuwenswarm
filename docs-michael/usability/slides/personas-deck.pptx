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6"/>
  </p:normalViewPr>
  <p:slideViewPr>
    <p:cSldViewPr snapToGrid="0" snapToObjects="1">
      <p:cViewPr varScale="1">
        <p:scale>
          <a:sx n="93" d="100"/>
          <a:sy n="93" d="100"/>
        </p:scale>
        <p:origin x="7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97859-CBE5-A345-A4D0-6AECFDEC885F}" type="datetimeFigureOut">
              <a:rPr lang="en-IL" smtClean="0"/>
              <a:t>09/09/2026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EC4B32-A2B8-6C42-B9A5-F75DF8C2B84F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1875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developer who changes jiuwenswarm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Runs their own instance - and is also a user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Runs one instance as a shared bot a group talks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agent directly - the base everyone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agent in the rich Web UI (chat +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Web UI mostly to ask questions and get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Uses the Web UI to get real code work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Writes, packages, and distributes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Builds their own product using jiuwenswarm as its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09-Sep-26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316523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4E9EFF"/>
                </a:solidFill>
              </a:rPr>
              <a:t>Makers</a:t>
            </a:r>
            <a:endParaRPr lang="ru-RU" sz="2400" b="1" dirty="0">
              <a:solidFill>
                <a:srgbClr val="4E9EFF"/>
              </a:solidFill>
            </a:endParaRPr>
          </a:p>
          <a:p>
            <a:pPr algn="ctr"/>
            <a:endParaRPr sz="2400" b="1" dirty="0">
              <a:solidFill>
                <a:srgbClr val="4E9EFF"/>
              </a:solidFill>
            </a:endParaRPr>
          </a:p>
          <a:p>
            <a:endParaRPr lang="ru-RU"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66BB6A"/>
                </a:solidFill>
              </a:rPr>
              <a:t>Runners</a:t>
            </a:r>
            <a:endParaRPr lang="ru-RU" sz="2400" b="1" dirty="0">
              <a:solidFill>
                <a:srgbClr val="66BB6A"/>
              </a:solidFill>
            </a:endParaRPr>
          </a:p>
          <a:p>
            <a:pPr algn="ctr"/>
            <a:endParaRPr sz="2400" b="1" dirty="0">
              <a:solidFill>
                <a:srgbClr val="66BB6A"/>
              </a:solidFill>
            </a:endParaRPr>
          </a:p>
          <a:p>
            <a:endParaRPr lang="ru-RU"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Self-</a:t>
            </a:r>
            <a:r>
              <a:rPr sz="1600" dirty="0" err="1">
                <a:solidFill>
                  <a:srgbClr val="9AA6B8"/>
                </a:solidFill>
              </a:rPr>
              <a:t>hoster</a:t>
            </a:r>
            <a:endParaRPr lang="en-US" sz="1600" dirty="0">
              <a:solidFill>
                <a:srgbClr val="9AA6B8"/>
              </a:solidFill>
            </a:endParaRPr>
          </a:p>
          <a:p>
            <a:endParaRPr sz="1600" dirty="0">
              <a:solidFill>
                <a:srgbClr val="9AA6B8"/>
              </a:solidFill>
            </a:endParaRPr>
          </a:p>
          <a:p>
            <a:r>
              <a:rPr sz="1600" dirty="0">
                <a:solidFill>
                  <a:srgbClr val="9AA6B8"/>
                </a:solidFill>
              </a:rPr>
              <a:t>Bot-</a:t>
            </a:r>
            <a:r>
              <a:rPr sz="1600" dirty="0" err="1">
                <a:solidFill>
                  <a:srgbClr val="9AA6B8"/>
                </a:solidFill>
              </a:rPr>
              <a:t>hoster</a:t>
            </a:r>
            <a:endParaRPr sz="1600" dirty="0">
              <a:solidFill>
                <a:srgbClr val="9AA6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FFB74D"/>
                </a:solidFill>
              </a:rPr>
              <a:t>Consumers</a:t>
            </a:r>
            <a:r>
              <a:rPr lang="en-US" sz="2400" b="1" dirty="0">
                <a:solidFill>
                  <a:srgbClr val="FFB74D"/>
                </a:solidFill>
              </a:rPr>
              <a:t> (B2C)</a:t>
            </a:r>
            <a:endParaRPr lang="ru-RU" sz="1600" i="1" dirty="0">
              <a:solidFill>
                <a:srgbClr val="FFB74D"/>
              </a:solidFill>
            </a:endParaRPr>
          </a:p>
          <a:p>
            <a:pPr algn="ctr"/>
            <a:endParaRPr sz="1600" i="1" dirty="0">
              <a:solidFill>
                <a:srgbClr val="FFB74D"/>
              </a:solidFill>
            </a:endParaRPr>
          </a:p>
          <a:p>
            <a:r>
              <a:rPr lang="en-US" sz="1200" i="1" dirty="0">
                <a:solidFill>
                  <a:srgbClr val="F46D9B"/>
                </a:solidFill>
              </a:rPr>
              <a:t>Web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</a:t>
            </a:r>
            <a:r>
              <a:rPr lang="en-US" sz="1600" dirty="0">
                <a:solidFill>
                  <a:srgbClr val="9AA6B8"/>
                </a:solidFill>
              </a:rPr>
              <a:t>C</a:t>
            </a:r>
            <a:r>
              <a:rPr sz="1600" dirty="0">
                <a:solidFill>
                  <a:srgbClr val="9AA6B8"/>
                </a:solidFill>
              </a:rPr>
              <a:t>hatter</a:t>
            </a:r>
          </a:p>
          <a:p>
            <a:r>
              <a:rPr lang="en-US" sz="1600" dirty="0">
                <a:solidFill>
                  <a:srgbClr val="9AA6B8"/>
                </a:solidFill>
              </a:rPr>
              <a:t>	C</a:t>
            </a:r>
            <a:r>
              <a:rPr sz="1600" dirty="0">
                <a:solidFill>
                  <a:srgbClr val="9AA6B8"/>
                </a:solidFill>
              </a:rPr>
              <a:t>oder</a:t>
            </a:r>
            <a:endParaRPr lang="en-US" sz="1600" dirty="0">
              <a:solidFill>
                <a:srgbClr val="9AA6B8"/>
              </a:solidFill>
            </a:endParaRPr>
          </a:p>
          <a:p>
            <a:r>
              <a:rPr lang="en-US" sz="1200" i="1" dirty="0">
                <a:solidFill>
                  <a:srgbClr val="F46D9B"/>
                </a:solidFill>
              </a:rPr>
              <a:t>Text</a:t>
            </a:r>
          </a:p>
          <a:p>
            <a:r>
              <a:rPr lang="en-US" sz="1600" dirty="0">
                <a:solidFill>
                  <a:srgbClr val="9AA6B8"/>
                </a:solidFill>
              </a:rPr>
              <a:t>	</a:t>
            </a:r>
            <a:r>
              <a:rPr lang="en-US" sz="1600" dirty="0" err="1">
                <a:solidFill>
                  <a:srgbClr val="9AA6B8"/>
                </a:solidFill>
              </a:rPr>
              <a:t>Terminalist</a:t>
            </a:r>
            <a:r>
              <a:rPr lang="en-US" sz="1600" dirty="0">
                <a:solidFill>
                  <a:srgbClr val="9AA6B8"/>
                </a:solidFill>
              </a:rPr>
              <a:t> </a:t>
            </a:r>
            <a:r>
              <a:rPr lang="en-US" sz="1000" dirty="0">
                <a:solidFill>
                  <a:srgbClr val="9AA6B8"/>
                </a:solidFill>
              </a:rPr>
              <a:t>(CLI)</a:t>
            </a:r>
            <a:endParaRPr sz="1000" dirty="0">
              <a:solidFill>
                <a:srgbClr val="9AA6B8"/>
              </a:solidFill>
            </a:endParaRPr>
          </a:p>
          <a:p>
            <a:r>
              <a:rPr lang="en-US" sz="1600" dirty="0">
                <a:solidFill>
                  <a:srgbClr val="9AA6B8"/>
                </a:solidFill>
              </a:rPr>
              <a:t>	Console User </a:t>
            </a:r>
            <a:r>
              <a:rPr lang="en-US" sz="1000" dirty="0">
                <a:solidFill>
                  <a:srgbClr val="9AA6B8"/>
                </a:solidFill>
              </a:rPr>
              <a:t>(TUI)</a:t>
            </a:r>
            <a:endParaRPr sz="1000" dirty="0">
              <a:solidFill>
                <a:srgbClr val="9AA6B8"/>
              </a:solidFill>
            </a:endParaRPr>
          </a:p>
          <a:p>
            <a:r>
              <a:rPr lang="en-US" sz="1600" dirty="0">
                <a:solidFill>
                  <a:srgbClr val="9AA6B8"/>
                </a:solidFill>
              </a:rPr>
              <a:t>	Texter </a:t>
            </a:r>
            <a:r>
              <a:rPr lang="en-US" sz="1000" dirty="0">
                <a:solidFill>
                  <a:srgbClr val="9AA6B8"/>
                </a:solidFill>
              </a:rPr>
              <a:t>(IM)</a:t>
            </a:r>
          </a:p>
          <a:p>
            <a:r>
              <a:rPr lang="en-US" sz="1200" i="1" dirty="0">
                <a:solidFill>
                  <a:srgbClr val="F46D9B"/>
                </a:solidFill>
              </a:rPr>
              <a:t>Channel</a:t>
            </a:r>
          </a:p>
          <a:p>
            <a:r>
              <a:rPr lang="en-US" sz="2000" dirty="0">
                <a:solidFill>
                  <a:srgbClr val="9AA6B8"/>
                </a:solidFill>
              </a:rPr>
              <a:t>	</a:t>
            </a:r>
            <a:r>
              <a:rPr lang="en-US" sz="1600" dirty="0">
                <a:solidFill>
                  <a:srgbClr val="9AA6B8"/>
                </a:solidFill>
              </a:rPr>
              <a:t>Web Surfer </a:t>
            </a:r>
            <a:r>
              <a:rPr lang="en-US" sz="1000" dirty="0">
                <a:solidFill>
                  <a:srgbClr val="9AA6B8"/>
                </a:solidFill>
              </a:rPr>
              <a:t>(Brower)</a:t>
            </a:r>
          </a:p>
          <a:p>
            <a:r>
              <a:rPr lang="en-US" sz="1600" dirty="0">
                <a:solidFill>
                  <a:srgbClr val="9AA6B8"/>
                </a:solidFill>
              </a:rPr>
              <a:t>	Developer </a:t>
            </a:r>
            <a:r>
              <a:rPr lang="en-US" sz="1000" dirty="0">
                <a:solidFill>
                  <a:srgbClr val="9AA6B8"/>
                </a:solidFill>
              </a:rPr>
              <a:t>(IDE)</a:t>
            </a:r>
            <a:endParaRPr sz="1000" dirty="0">
              <a:solidFill>
                <a:srgbClr val="9AA6B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64592" rtlCol="0" anchor="t"/>
          <a:lstStyle/>
          <a:p>
            <a:pPr algn="ctr"/>
            <a:r>
              <a:rPr sz="2400" b="1" dirty="0">
                <a:solidFill>
                  <a:srgbClr val="F46D9B"/>
                </a:solidFill>
              </a:rPr>
              <a:t>Builders</a:t>
            </a:r>
          </a:p>
          <a:p>
            <a:pPr algn="ctr"/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pPr algn="ctr"/>
            <a:endParaRPr lang="en-US" sz="1600" i="1" dirty="0">
              <a:solidFill>
                <a:srgbClr val="F46D9B"/>
              </a:solidFill>
            </a:endParaRPr>
          </a:p>
          <a:p>
            <a:r>
              <a:rPr lang="en-US" sz="1200" i="1" dirty="0">
                <a:solidFill>
                  <a:srgbClr val="F46D9B"/>
                </a:solidFill>
              </a:rPr>
              <a:t>Ecosystem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</a:t>
            </a:r>
            <a:r>
              <a:rPr sz="1600" dirty="0">
                <a:solidFill>
                  <a:srgbClr val="9AA6B8"/>
                </a:solidFill>
              </a:rPr>
              <a:t>Skill Author</a:t>
            </a:r>
          </a:p>
          <a:p>
            <a:r>
              <a:rPr lang="en-US" sz="1200" i="1" dirty="0">
                <a:solidFill>
                  <a:srgbClr val="F46D9B"/>
                </a:solidFill>
              </a:rPr>
              <a:t>M2M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</a:t>
            </a:r>
            <a:r>
              <a:rPr sz="1600" dirty="0">
                <a:solidFill>
                  <a:srgbClr val="9AA6B8"/>
                </a:solidFill>
              </a:rPr>
              <a:t>Agent Integrator</a:t>
            </a:r>
          </a:p>
          <a:p>
            <a:r>
              <a:rPr lang="en-US" sz="1200" i="1" dirty="0">
                <a:solidFill>
                  <a:srgbClr val="F46D9B"/>
                </a:solidFill>
              </a:rPr>
              <a:t>B2B2C</a:t>
            </a:r>
            <a:r>
              <a:rPr lang="en-US" sz="1600" i="1" dirty="0">
                <a:solidFill>
                  <a:srgbClr val="F46D9B"/>
                </a:solidFill>
              </a:rPr>
              <a:t> </a:t>
            </a:r>
          </a:p>
          <a:p>
            <a:r>
              <a:rPr lang="en-US" sz="1600" i="1" dirty="0">
                <a:solidFill>
                  <a:srgbClr val="F46D9B"/>
                </a:solidFill>
              </a:rPr>
              <a:t>	 </a:t>
            </a:r>
            <a:r>
              <a:rPr sz="1600" dirty="0">
                <a:solidFill>
                  <a:srgbClr val="9AA6B8"/>
                </a:solidFill>
              </a:rPr>
              <a:t>Product Builder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35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35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35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35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Channels</a:t>
            </a:r>
          </a:p>
          <a:p>
            <a:r>
              <a:rPr sz="135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also a Consumer (of their own instance)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Setup &amp; Config</a:t>
            </a:r>
          </a:p>
          <a:p>
            <a:r>
              <a:rPr sz="135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35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Cost &amp; Tokens</a:t>
            </a:r>
          </a:p>
          <a:p>
            <a:r>
              <a:rPr sz="135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Data Retention</a:t>
            </a:r>
          </a:p>
          <a:p>
            <a:r>
              <a:rPr sz="135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Health</a:t>
            </a:r>
          </a:p>
          <a:p>
            <a:r>
              <a:rPr sz="1350">
                <a:solidFill>
                  <a:srgbClr val="9AA6B8"/>
                </a:solidFill>
              </a:rPr>
              <a:t>subsystem failures go unnoticed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First Run</a:t>
            </a:r>
          </a:p>
          <a:p>
            <a:r>
              <a:rPr sz="1350">
                <a:solidFill>
                  <a:srgbClr val="9AA6B8"/>
                </a:solidFill>
              </a:rPr>
              <a:t>wizard exits before the model is confirmed working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35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Shared Skills</a:t>
            </a:r>
          </a:p>
          <a:p>
            <a:r>
              <a:rPr sz="135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Consumer —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These findings apply to every consumer regardless of surface. Web, Text, and Channel personas all inherit from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base persona (no parent)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35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Conversation</a:t>
            </a:r>
          </a:p>
          <a:p>
            <a:r>
              <a:rPr sz="135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35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35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35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35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Discovery &amp; Onboarding</a:t>
            </a:r>
          </a:p>
          <a:p>
            <a:r>
              <a:rPr sz="1350">
                <a:solidFill>
                  <a:srgbClr val="9AA6B8"/>
                </a:solidFill>
              </a:rPr>
              <a:t>empty start; powerful features hidden; mode names are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Language</a:t>
            </a:r>
          </a:p>
          <a:p>
            <a:r>
              <a:rPr sz="135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35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Accessibility</a:t>
            </a:r>
          </a:p>
          <a:p>
            <a:r>
              <a:rPr sz="135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Mobile</a:t>
            </a:r>
          </a:p>
          <a:p>
            <a:r>
              <a:rPr sz="135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Reply &amp; Formatting</a:t>
            </a:r>
          </a:p>
          <a:p>
            <a:r>
              <a:rPr sz="135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Sharing &amp; Export</a:t>
            </a:r>
          </a:p>
          <a:p>
            <a:r>
              <a:rPr sz="135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Explanation</a:t>
            </a:r>
          </a:p>
          <a:p>
            <a:r>
              <a:rPr sz="135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Safety &amp; Undo</a:t>
            </a:r>
          </a:p>
          <a:p>
            <a:r>
              <a:rPr sz="135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Progress</a:t>
            </a:r>
          </a:p>
          <a:p>
            <a:r>
              <a:rPr sz="135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Keyboard</a:t>
            </a:r>
          </a:p>
          <a:p>
            <a:r>
              <a:rPr sz="135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TEXT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Text Users (CLI · TUI · 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text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Text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CLI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TUI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IM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CHANNEL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Channel Users (Browser · 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code/editor 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Channel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IDE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E07B7B"/>
                </a:solidFill>
              </a:rPr>
              <a:t>Browser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35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Marketplace</a:t>
            </a:r>
          </a:p>
          <a:p>
            <a:r>
              <a:rPr sz="135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Packaging &amp; Distribution</a:t>
            </a:r>
          </a:p>
          <a:p>
            <a:r>
              <a:rPr sz="135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Agent Integrator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Wires jiuwenswarm into a multi-agent system via the A2A protocol.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42A2D31-BF03-DAC4-08A1-8F6BADA696A2}"/>
              </a:ext>
            </a:extLst>
          </p:cNvPr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 dirty="0">
                <a:solidFill>
                  <a:srgbClr val="E07B7B"/>
                </a:solidFill>
              </a:rPr>
              <a:t> (TBD)</a:t>
            </a:r>
          </a:p>
          <a:p>
            <a:r>
              <a:rPr sz="1350" dirty="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27432" rtlCol="0" anchor="ctr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35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35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35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819</Words>
  <Application>Microsoft Office PowerPoint</Application>
  <PresentationFormat>Widescreen</PresentationFormat>
  <Paragraphs>172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Michael Atamuk (A)</cp:lastModifiedBy>
  <cp:revision>13</cp:revision>
  <dcterms:created xsi:type="dcterms:W3CDTF">2013-01-27T09:14:16Z</dcterms:created>
  <dcterms:modified xsi:type="dcterms:W3CDTF">2026-09-09T07:29:15Z</dcterms:modified>
  <cp:category/>
</cp:coreProperties>
</file>