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67"/>
  </p:notesMasterIdLst>
  <p:sldIdLst>
    <p:sldId id="256" r:id="rId3"/>
    <p:sldId id="320" r:id="rId4"/>
    <p:sldId id="257" r:id="rId5"/>
    <p:sldId id="259" r:id="rId6"/>
    <p:sldId id="318" r:id="rId7"/>
    <p:sldId id="261" r:id="rId8"/>
    <p:sldId id="260" r:id="rId9"/>
    <p:sldId id="321" r:id="rId10"/>
    <p:sldId id="322" r:id="rId11"/>
    <p:sldId id="258"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323"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11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034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681190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26824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40586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killer application is not one robot program. It is the layer that lets the whole agent application world act physically. Today an agent can call software tools through protocols such as MCP; we make robots callable the same way, with the three things software tools never needed: a live world state, a safety gate before execution, and a replayable record. Agent developers do not learn robotics; robot makers do not build an app ecosystem.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as one request: an agent app calls a robot skill exactly as it calls any tool. The skill registry resolves which robots can do it; the orchestrator plans and allocates across robots using the live world state; the intent goes down to the edge runtime, where the safety gate checks constraints before an adapter translates it into ROS 2 actions, industrial control commands or a vision-language-action model call. Perception streams come back up as events. Everything is recorded for replay. The interface layer is the part we build and open; the agent runtime is openJiuwen.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86081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67" y="708546"/>
            <a:ext cx="10972853" cy="419103"/>
          </a:xfrm>
          <a:prstGeom prst="rect">
            <a:avLst/>
          </a:prstGeom>
          <a:noFill/>
          <a:ln/>
        </p:spPr>
        <p:txBody>
          <a:bodyPr wrap="square" lIns="0" tIns="0" rIns="0" bIns="0" rtlCol="0" anchor="t"/>
          <a:lstStyle>
            <a:lvl1pPr marL="0" indent="0" algn="l">
              <a:lnSpc>
                <a:spcPct val="115000"/>
              </a:lnSpc>
              <a:buNone/>
              <a:defRPr lang="en-US" sz="3000" dirty="0">
                <a:solidFill>
                  <a:srgbClr val="16202E"/>
                </a:solidFill>
                <a:latin typeface="Rubik" pitchFamily="34" charset="0"/>
                <a:ea typeface="Rubik" pitchFamily="34" charset="-122"/>
                <a:cs typeface="Rubi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609567" y="1432448"/>
            <a:ext cx="10769633" cy="4612752"/>
          </a:xfrm>
          <a:prstGeom prst="rect">
            <a:avLst/>
          </a:prstGeom>
          <a:noFill/>
          <a:ln/>
        </p:spPr>
        <p:txBody>
          <a:bodyPr wrap="square" lIns="0" tIns="0" rIns="0" bIns="0" rtlCol="0" anchor="t"/>
          <a:lstStyle>
            <a:lvl1pPr marL="0" indent="0" algn="l">
              <a:lnSpc>
                <a:spcPct val="140000"/>
              </a:lnSpc>
              <a:buNone/>
              <a:defRPr lang="en-US" sz="1600" dirty="0">
                <a:solidFill>
                  <a:srgbClr val="16202E"/>
                </a:solidFill>
                <a:latin typeface="Rubik" pitchFamily="34" charset="0"/>
                <a:ea typeface="Rubik" pitchFamily="34" charset="-122"/>
                <a:cs typeface="Rubik"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0996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41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56" y="1102196"/>
            <a:ext cx="10566474" cy="419103"/>
          </a:xfrm>
          <a:prstGeom prst="rect">
            <a:avLst/>
          </a:prstGeom>
          <a:noFill/>
          <a:ln/>
        </p:spPr>
        <p:txBody>
          <a:bodyPr wrap="square" lIns="0" tIns="0" rIns="0" bIns="0" rtlCol="0" anchor="t"/>
          <a:lstStyle>
            <a:lvl1pPr marL="0" indent="0" algn="l">
              <a:lnSpc>
                <a:spcPct val="115000"/>
              </a:lnSpc>
              <a:buNone/>
              <a:defRPr lang="en-US" sz="3000" dirty="0">
                <a:solidFill>
                  <a:srgbClr val="EEF1EC"/>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56" y="1826099"/>
            <a:ext cx="10566444" cy="4219101"/>
          </a:xfrm>
          <a:prstGeom prst="rect">
            <a:avLst/>
          </a:prstGeom>
          <a:noFill/>
          <a:ln/>
        </p:spPr>
        <p:txBody>
          <a:bodyPr wrap="square" lIns="0" tIns="0" rIns="0" bIns="0" rtlCol="0" anchor="t"/>
          <a:lstStyle>
            <a:lvl1pPr marL="0" indent="0" algn="l">
              <a:lnSpc>
                <a:spcPct val="140000"/>
              </a:lnSpc>
              <a:buNone/>
              <a:defRPr lang="en-US" sz="1600" dirty="0">
                <a:solidFill>
                  <a:srgbClr val="EEF1E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6852247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67" y="708546"/>
            <a:ext cx="10972853" cy="419103"/>
          </a:xfrm>
          <a:prstGeom prst="rect">
            <a:avLst/>
          </a:prstGeom>
          <a:noFill/>
          <a:ln/>
        </p:spPr>
        <p:txBody>
          <a:bodyPr wrap="square" lIns="0" tIns="0" rIns="0" bIns="0" rtlCol="0" anchor="t"/>
          <a:lstStyle>
            <a:lvl1pPr marL="0" indent="0" algn="l">
              <a:lnSpc>
                <a:spcPct val="115000"/>
              </a:lnSpc>
              <a:buNone/>
              <a:defRPr lang="en-US" sz="3000" dirty="0">
                <a:solidFill>
                  <a:srgbClr val="16202E"/>
                </a:solidFill>
                <a:latin typeface="Rubik" pitchFamily="34" charset="0"/>
                <a:ea typeface="Rubik" pitchFamily="34" charset="-122"/>
                <a:cs typeface="Rubi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609567" y="1432448"/>
            <a:ext cx="10769633" cy="4612752"/>
          </a:xfrm>
          <a:prstGeom prst="rect">
            <a:avLst/>
          </a:prstGeom>
          <a:noFill/>
          <a:ln/>
        </p:spPr>
        <p:txBody>
          <a:bodyPr wrap="square" lIns="0" tIns="0" rIns="0" bIns="0" rtlCol="0" anchor="t"/>
          <a:lstStyle>
            <a:lvl1pPr marL="0" indent="0" algn="l">
              <a:lnSpc>
                <a:spcPct val="140000"/>
              </a:lnSpc>
              <a:buNone/>
              <a:defRPr lang="en-US" sz="1600" dirty="0">
                <a:solidFill>
                  <a:srgbClr val="16202E"/>
                </a:solidFill>
                <a:latin typeface="Rubik" pitchFamily="34" charset="0"/>
                <a:ea typeface="Rubik" pitchFamily="34" charset="-122"/>
                <a:cs typeface="Rubik"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141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56" y="1102196"/>
            <a:ext cx="10566474" cy="419103"/>
          </a:xfrm>
          <a:prstGeom prst="rect">
            <a:avLst/>
          </a:prstGeom>
          <a:noFill/>
          <a:ln/>
        </p:spPr>
        <p:txBody>
          <a:bodyPr wrap="square" lIns="0" tIns="0" rIns="0" bIns="0" rtlCol="0" anchor="t"/>
          <a:lstStyle>
            <a:lvl1pPr marL="0" indent="0" algn="l">
              <a:lnSpc>
                <a:spcPct val="115000"/>
              </a:lnSpc>
              <a:buNone/>
              <a:defRPr lang="en-US" sz="3000" dirty="0">
                <a:solidFill>
                  <a:srgbClr val="EEF1EC"/>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56" y="1826099"/>
            <a:ext cx="10566444" cy="4219101"/>
          </a:xfrm>
          <a:prstGeom prst="rect">
            <a:avLst/>
          </a:prstGeom>
          <a:noFill/>
          <a:ln/>
        </p:spPr>
        <p:txBody>
          <a:bodyPr wrap="square" lIns="0" tIns="0" rIns="0" bIns="0" rtlCol="0" anchor="t"/>
          <a:lstStyle>
            <a:lvl1pPr marL="0" indent="0" algn="l">
              <a:lnSpc>
                <a:spcPct val="140000"/>
              </a:lnSpc>
              <a:buNone/>
              <a:defRPr lang="en-US" sz="1600" dirty="0">
                <a:solidFill>
                  <a:srgbClr val="EEF1E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128069479"/>
      </p:ext>
    </p:extLst>
  </p:cSld>
  <p:clrMap bg1="dk1" tx1="lt1" bg2="dk2" tx2="lt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caisconf.org/program/2026/demos/sherlock-bug-to-pr/" TargetMode="External"/><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metabase.com/blog/reprobot-github-issue-triage-agent" TargetMode="External"/><Relationship Id="rId11" Type="http://schemas.openxmlformats.org/officeDocument/2006/relationships/hyperlink" Target="https://www.marketsandmarkets.com/Market-Reports/ai-code-assistant-market-166208330.html" TargetMode="External"/><Relationship Id="rId5" Type="http://schemas.openxmlformats.org/officeDocument/2006/relationships/hyperlink" Target="https://jam.dev/docs/jam-ai" TargetMode="External"/><Relationship Id="rId10" Type="http://schemas.openxmlformats.org/officeDocument/2006/relationships/image" Target="../media/image6.png"/><Relationship Id="rId4" Type="http://schemas.openxmlformats.org/officeDocument/2006/relationships/hyperlink" Target="https://www.builder.io/blog/build-an-agentic-software-factory-starting-with-one-bug" TargetMode="External"/><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browser-use.com" TargetMode="External"/><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docs.warp.dev/agent-platform/capabilities/computer-use-testing-and-recordings/" TargetMode="External"/><Relationship Id="rId10" Type="http://schemas.openxmlformats.org/officeDocument/2006/relationships/hyperlink" Target="https://www.marketsandmarkets.com/Market-Reports/ai-test-automation-market-3693343.html" TargetMode="External"/><Relationship Id="rId4" Type="http://schemas.openxmlformats.org/officeDocument/2006/relationships/hyperlink" Target="https://applitools.com/platform/test-automation/" TargetMode="External"/><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yesnoerror.com" TargetMode="External"/><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s://wecount.inclusivedesign.ca/resources/ai-tools-are-spotting-errors-in-research-papers-inside-a-growing-movement" TargetMode="External"/><Relationship Id="rId10" Type="http://schemas.openxmlformats.org/officeDocument/2006/relationships/hyperlink" Target="https://www.giiresearch.com/report/smrc1925150-academic-research-tool-market-forecasts-global.html" TargetMode="External"/><Relationship Id="rId4" Type="http://schemas.openxmlformats.org/officeDocument/2006/relationships/hyperlink" Target="https://statcheck.io" TargetMode="External"/><Relationship Id="rId9"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arxiv.org/abs/2504.17192" TargetMode="External"/><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hyperlink" Target="https://openai.com/index/paperbench" TargetMode="External"/><Relationship Id="rId9" Type="http://schemas.openxmlformats.org/officeDocument/2006/relationships/hyperlink" Target="https://www.giiresearch.com/report/smrc1925150-academic-research-tool-market-forecasts-global.html"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hyperlink" Target="https://cluely.com" TargetMode="External"/><Relationship Id="rId7"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hyperlink" Target="https://granola.ai" TargetMode="External"/><Relationship Id="rId9" Type="http://schemas.openxmlformats.org/officeDocument/2006/relationships/hyperlink" Target="https://market.us/report/ai-powered-meeting-assistants-market/"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granola.ai" TargetMode="External"/><Relationship Id="rId7"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9.png"/><Relationship Id="rId4" Type="http://schemas.openxmlformats.org/officeDocument/2006/relationships/hyperlink" Target="https://lovable.dev" TargetMode="External"/><Relationship Id="rId9" Type="http://schemas.openxmlformats.org/officeDocument/2006/relationships/hyperlink" Target="https://www.grandviewresearch.com/industry-analysis/low-code-application-development-platform-market"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s://aaru.com/simulation" TargetMode="External"/><Relationship Id="rId7"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hyperlink" Target="https://applitools.com/platform/test-automation/" TargetMode="External"/><Relationship Id="rId10" Type="http://schemas.openxmlformats.org/officeDocument/2006/relationships/hyperlink" Target="https://www.giikorea.co.kr/report/grvi1575126-digital-accessibility-software-market-size-share.html" TargetMode="External"/><Relationship Id="rId4" Type="http://schemas.openxmlformats.org/officeDocument/2006/relationships/hyperlink" Target="https://syntheticusers.com" TargetMode="External"/><Relationship Id="rId9" Type="http://schemas.openxmlformats.org/officeDocument/2006/relationships/image" Target="../media/image12.png"/></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marketplace.atlassian.com/apps/994450088/sketch2diagram-ai-whiteboard-to-diagram" TargetMode="External"/><Relationship Id="rId7"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4.png"/><Relationship Id="rId4" Type="http://schemas.openxmlformats.org/officeDocument/2006/relationships/hyperlink" Target="https://www.jeda.ai/ai-whiteboard" TargetMode="External"/><Relationship Id="rId9" Type="http://schemas.openxmlformats.org/officeDocument/2006/relationships/hyperlink" Target="https://technavio.com/report/collaborative-whiteboard-software-market-industry-analysis"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labs.google.com/pomelli/about/" TargetMode="External"/><Relationship Id="rId7"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claid.ai/" TargetMode="External"/><Relationship Id="rId11" Type="http://schemas.openxmlformats.org/officeDocument/2006/relationships/hyperlink" Target="https://www.technavio.com/report/ai-in-e-commerce-market-industry-analysis" TargetMode="External"/><Relationship Id="rId5" Type="http://schemas.openxmlformats.org/officeDocument/2006/relationships/hyperlink" Target="https://pebblely.com/" TargetMode="External"/><Relationship Id="rId10" Type="http://schemas.openxmlformats.org/officeDocument/2006/relationships/image" Target="../media/image7.png"/><Relationship Id="rId4" Type="http://schemas.openxmlformats.org/officeDocument/2006/relationships/hyperlink" Target="https://www.photoroom.com/ai-product-photography/e-commerce" TargetMode="External"/><Relationship Id="rId9" Type="http://schemas.openxmlformats.org/officeDocument/2006/relationships/image" Target="../media/image23.png"/></Relationships>
</file>

<file path=ppt/slides/_rels/slide2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www.uxcritique.app/" TargetMode="External"/><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6.png"/><Relationship Id="rId4" Type="http://schemas.openxmlformats.org/officeDocument/2006/relationships/hyperlink" Target="https://chromewebstore.google.com/detail/jnogafplogonnkiohcmlhepcenleppph" TargetMode="External"/><Relationship Id="rId9" Type="http://schemas.openxmlformats.org/officeDocument/2006/relationships/hyperlink" Target="https://www.globenewswire.com/news-release/2025/11/06/3182220/0/en/Advanced-Mobile-UX-Design-Services-Market-Projected-at-USD-2-11-Billion-by-2032-Fueled-by-Growing-Demand-for-Seamless-Mobile-Experiences-Research-by-SNS-Insider.html"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hyperlink" Target="https://scribe.com/scribe-ai" TargetMode="External"/><Relationship Id="rId7"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hyperlink" Target="https://www.guidde.com" TargetMode="External"/><Relationship Id="rId10" Type="http://schemas.openxmlformats.org/officeDocument/2006/relationships/hyperlink" Target="https://www.imarcgroup.com/digital-adoption-platform-market" TargetMode="External"/><Relationship Id="rId4" Type="http://schemas.openxmlformats.org/officeDocument/2006/relationships/hyperlink" Target="https://www.tango.ai" TargetMode="External"/><Relationship Id="rId9"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s://dext.com/us/business/product/receipts-scanner-tracker-app" TargetMode="External"/><Relationship Id="rId7"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1.png"/><Relationship Id="rId4" Type="http://schemas.openxmlformats.org/officeDocument/2006/relationships/hyperlink" Target="https://www.expensify.com/" TargetMode="External"/><Relationship Id="rId9" Type="http://schemas.openxmlformats.org/officeDocument/2006/relationships/hyperlink" Target="https://www.gminsights.com/industry-analysis/accounting-and-budgeting-software-market"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www.salesforce.com/analytics/tableau/pulse" TargetMode="External"/><Relationship Id="rId7"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3.png"/><Relationship Id="rId4" Type="http://schemas.openxmlformats.org/officeDocument/2006/relationships/hyperlink" Target="https://learn.microsoft.com/en-us/power-bi/create-reports/copilot-reports-overview" TargetMode="External"/><Relationship Id="rId9" Type="http://schemas.openxmlformats.org/officeDocument/2006/relationships/hyperlink" Target="https://www.globenewswire.com/fr/news-release/2024/11/25/2986708/0/en/Business-Intelligence-Market-Size-to-Reach-USD-75-7-Billion-by-2033-with-9-3-CAGR-Growth-Dimension-Market-Research.html"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smith.ai/" TargetMode="External"/><Relationship Id="rId7"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www.goodcall.com/voice-ai/best-ai-virtual-receptionist-voice-technology" TargetMode="External"/><Relationship Id="rId11" Type="http://schemas.openxmlformats.org/officeDocument/2006/relationships/hyperlink" Target="https://market.us/report/ai-receptionist-market/" TargetMode="External"/><Relationship Id="rId5" Type="http://schemas.openxmlformats.org/officeDocument/2006/relationships/hyperlink" Target="https://dialzara.com/" TargetMode="External"/><Relationship Id="rId10" Type="http://schemas.openxmlformats.org/officeDocument/2006/relationships/image" Target="../media/image38.png"/><Relationship Id="rId4" Type="http://schemas.openxmlformats.org/officeDocument/2006/relationships/hyperlink" Target="https://heyrosie.com/solutions/ai-receptionist" TargetMode="External"/><Relationship Id="rId9" Type="http://schemas.openxmlformats.org/officeDocument/2006/relationships/image" Target="../media/image37.png"/></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hyperlink" Target="https://www.gong.io/conversation-intelligence" TargetMode="External"/><Relationship Id="rId7"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hyperlink" Target="https://www.clari.com/products/copilot/" TargetMode="External"/><Relationship Id="rId10" Type="http://schemas.openxmlformats.org/officeDocument/2006/relationships/hyperlink" Target="https://scoop.market.us/conversation-intelligence-software-market-news/" TargetMode="External"/><Relationship Id="rId4" Type="http://schemas.openxmlformats.org/officeDocument/2006/relationships/hyperlink" Target="https://www.avoma.com/conversation-intelligence/ai-sales-coaching-software" TargetMode="External"/><Relationship Id="rId9" Type="http://schemas.openxmlformats.org/officeDocument/2006/relationships/image" Target="../media/image9.png"/></Relationships>
</file>

<file path=ppt/slides/_rels/slide2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www.willo.video/" TargetMode="External"/><Relationship Id="rId7"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hyperlink" Target="https://www.sparkhire.com/video-interviews/software/" TargetMode="External"/><Relationship Id="rId9" Type="http://schemas.openxmlformats.org/officeDocument/2006/relationships/hyperlink" Target="https://www.giiresearch.com/report/omr1838628-global-video-interview-software-market.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hyperlink" Target="https://petlibro.com/products/scout-smart-camera-for-pet" TargetMode="External"/><Relationship Id="rId7"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hyperlink" Target="https://petcube.com/" TargetMode="External"/><Relationship Id="rId10" Type="http://schemas.openxmlformats.org/officeDocument/2006/relationships/hyperlink" Target="https://www.gminsights.com/industry-analysis/pet-monitoring-camera-market" TargetMode="External"/><Relationship Id="rId4" Type="http://schemas.openxmlformats.org/officeDocument/2006/relationships/hyperlink" Target="https://furbo.com/" TargetMode="External"/><Relationship Id="rId9"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getbuzzr.online/" TargetMode="External"/><Relationship Id="rId7"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4.png"/><Relationship Id="rId4" Type="http://schemas.openxmlformats.org/officeDocument/2006/relationships/hyperlink" Target="https://www.camb.ai/solutions/sports" TargetMode="External"/><Relationship Id="rId9" Type="http://schemas.openxmlformats.org/officeDocument/2006/relationships/hyperlink" Target="https://www.marketsandmarkets.com/PressReleases/ai-in-sports.asp"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apps.apple.com/us/app/swingvision-tennis-pickleball/id989461317" TargetMode="External"/><Relationship Id="rId7"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5.png"/><Relationship Id="rId4" Type="http://schemas.openxmlformats.org/officeDocument/2006/relationships/hyperlink" Target="https://apps.apple.com/app/id1578921026" TargetMode="External"/><Relationship Id="rId9" Type="http://schemas.openxmlformats.org/officeDocument/2006/relationships/hyperlink" Target="https://giikorea.co.kr/report/qyr1872187-sports-coaching-platforms-global-market-share.html"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market.us/report/ai-comic-generator-market/" TargetMode="External"/><Relationship Id="rId3" Type="http://schemas.openxmlformats.org/officeDocument/2006/relationships/hyperlink" Target="https://dev.to/chatcomics/how-we-turn-whatsapp-chats-into-illustrated-comics-and-why-its-harder-than-it-sounds-bdh" TargetMode="External"/><Relationship Id="rId7"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2.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hyperlink" Target="https://www.veo.com/" TargetMode="External"/><Relationship Id="rId7"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hyperlink" Target="https://traceup.com/soccer-camera" TargetMode="External"/><Relationship Id="rId10" Type="http://schemas.openxmlformats.org/officeDocument/2006/relationships/hyperlink" Target="https://meticulousresearch.com/pressrelease/1221/sports-analytics-market-2031" TargetMode="External"/><Relationship Id="rId4" Type="http://schemas.openxmlformats.org/officeDocument/2006/relationships/hyperlink" Target="https://xbotgo.com/" TargetMode="External"/><Relationship Id="rId9" Type="http://schemas.openxmlformats.org/officeDocument/2006/relationships/image" Target="../media/image33.png"/></Relationships>
</file>

<file path=ppt/slides/_rels/slide3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hyperlink" Target="https://apps.apple.com/app/id6756504196" TargetMode="External"/><Relationship Id="rId7"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hyperlink" Target="https://apps.apple.com/app/id6770110788" TargetMode="External"/><Relationship Id="rId10" Type="http://schemas.openxmlformats.org/officeDocument/2006/relationships/hyperlink" Target="https://www.gminsights.com/industry-analysis/fitness-app-market" TargetMode="External"/><Relationship Id="rId4" Type="http://schemas.openxmlformats.org/officeDocument/2006/relationships/hyperlink" Target="https://apps.apple.com/us/app/id6757660469" TargetMode="External"/><Relationship Id="rId9" Type="http://schemas.openxmlformats.org/officeDocument/2006/relationships/image" Target="../media/image51.png"/></Relationships>
</file>

<file path=ppt/slides/_rels/slide3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repoclip.io" TargetMode="External"/><Relationship Id="rId7"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52.png"/><Relationship Id="rId4" Type="http://schemas.openxmlformats.org/officeDocument/2006/relationships/hyperlink" Target="https://ai.g2.com/marketplace/tools/demogenie" TargetMode="External"/><Relationship Id="rId9" Type="http://schemas.openxmlformats.org/officeDocument/2006/relationships/hyperlink" Target="https://prnewswire.co.uk/news-releases/ai-video-generatoreditor-market-to-reach-9-3-billion-globally-by-2033-at-30-7-cagr-allied-market-research-302235857.html" TargetMode="External"/></Relationships>
</file>

<file path=ppt/slides/_rels/slide3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hyperlink" Target="https://www.opus.pro/" TargetMode="External"/><Relationship Id="rId7"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png"/><Relationship Id="rId4" Type="http://schemas.openxmlformats.org/officeDocument/2006/relationships/hyperlink" Target="https://vizard.ai/" TargetMode="External"/><Relationship Id="rId9" Type="http://schemas.openxmlformats.org/officeDocument/2006/relationships/hyperlink" Target="https://prnewswire.co.uk/news-releases/ai-video-generatoreditor-market-to-reach-9-3-billion-globally-by-2033-at-30-7-cagr-allied-market-research-302235857.html" TargetMode="External"/></Relationships>
</file>

<file path=ppt/slides/_rels/slide3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hyperlink" Target="https://www.garmin.com/en-US/garmin-technology/garmin-coach/garmin-run-coach/" TargetMode="External"/><Relationship Id="rId7"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hyperlink" Target="https://trainasone.com/features/best-running-coach-app" TargetMode="External"/><Relationship Id="rId10" Type="http://schemas.openxmlformats.org/officeDocument/2006/relationships/hyperlink" Target="https://www.gminsights.com/industry-analysis/fitness-app-market" TargetMode="External"/><Relationship Id="rId4" Type="http://schemas.openxmlformats.org/officeDocument/2006/relationships/hyperlink" Target="https://www.runna.com/" TargetMode="External"/><Relationship Id="rId9" Type="http://schemas.openxmlformats.org/officeDocument/2006/relationships/image" Target="../media/image38.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hyperlink" Target="https://www.descript.com/" TargetMode="External"/><Relationship Id="rId7"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hyperlink" Target="https://www.kapwing.com/ai/autocut" TargetMode="External"/><Relationship Id="rId10" Type="http://schemas.openxmlformats.org/officeDocument/2006/relationships/hyperlink" Target="https://alliedmarketresearch.com/press-release/ai-video-generator-market.html" TargetMode="External"/><Relationship Id="rId4" Type="http://schemas.openxmlformats.org/officeDocument/2006/relationships/hyperlink" Target="https://help.descript.com/hc/en-us/articles/36803785502221-Underlord-beta-Your-AI-co-editor-in-Descript" TargetMode="External"/><Relationship Id="rId9"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hyperlink" Target="https://apps.apple.com/ph/app/dalea/id6748032632" TargetMode="External"/><Relationship Id="rId7"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png"/><Relationship Id="rId4" Type="http://schemas.openxmlformats.org/officeDocument/2006/relationships/hyperlink" Target="https://steezy.co/posts/start-here" TargetMode="External"/><Relationship Id="rId9" Type="http://schemas.openxmlformats.org/officeDocument/2006/relationships/hyperlink" Target="https://www.verifiedmarketresearch.com/product/online-dance-training-market/"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hyperlink" Target="https://morphic.com/es/resources/guides/media/local-newsrooms-explainer-recap-ai" TargetMode="External"/><Relationship Id="rId7"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invideo.io/make/ai-blog-to-video/" TargetMode="External"/><Relationship Id="rId10" Type="http://schemas.openxmlformats.org/officeDocument/2006/relationships/hyperlink" Target="https://www.marketsandmarkets.com/Market-Reports/text-to-video-ai-market-10841751.html" TargetMode="External"/><Relationship Id="rId4" Type="http://schemas.openxmlformats.org/officeDocument/2006/relationships/hyperlink" Target="https://pictory.ai/blog-to-video" TargetMode="External"/><Relationship Id="rId9" Type="http://schemas.openxmlformats.org/officeDocument/2006/relationships/image" Target="../media/image60.png"/></Relationships>
</file>

<file path=ppt/slides/_rels/slide4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hyperlink" Target="https://www.heygen.com/" TargetMode="External"/><Relationship Id="rId7"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hyperlink" Target="https://www.d-id.com/personal-avatars/" TargetMode="External"/><Relationship Id="rId10" Type="http://schemas.openxmlformats.org/officeDocument/2006/relationships/hyperlink" Target="https://www.gminsights.com/industry-analysis/ai-avatars-market" TargetMode="External"/><Relationship Id="rId4" Type="http://schemas.openxmlformats.org/officeDocument/2006/relationships/hyperlink" Target="https://www.synthesia.io/" TargetMode="External"/><Relationship Id="rId9" Type="http://schemas.openxmlformats.org/officeDocument/2006/relationships/image" Target="../media/image61.png"/></Relationships>
</file>

<file path=ppt/slides/_rels/slide4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hyperlink" Target="https://support.apple.com/en-us/123185" TargetMode="External"/><Relationship Id="rId7"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hyperlink" Target="https://www.rask.ai/tools/video-translator" TargetMode="External"/><Relationship Id="rId10" Type="http://schemas.openxmlformats.org/officeDocument/2006/relationships/hyperlink" Target="https://prnewswire.co.uk/news-releases/ai-dubbing-tools-market-size-to-grow-usd-1883-2-million-by-2030-at-a-cagr-of-14-2--valuates-reports-302218073.html" TargetMode="External"/><Relationship Id="rId4" Type="http://schemas.openxmlformats.org/officeDocument/2006/relationships/hyperlink" Target="https://elevenlabs.io/dubbing-studio" TargetMode="External"/><Relationship Id="rId9" Type="http://schemas.openxmlformats.org/officeDocument/2006/relationships/image" Target="../media/image35.png"/></Relationships>
</file>

<file path=ppt/slides/_rels/slide43.xml.rels><?xml version="1.0" encoding="UTF-8" standalone="yes"?>
<Relationships xmlns="http://schemas.openxmlformats.org/package/2006/relationships"><Relationship Id="rId8" Type="http://schemas.openxmlformats.org/officeDocument/2006/relationships/hyperlink" Target="https://alliedmarketresearch.com/press-release/ai-video-generator-market.html" TargetMode="External"/><Relationship Id="rId3" Type="http://schemas.openxmlformats.org/officeDocument/2006/relationships/hyperlink" Target="https://blog.google/products/photos/photo-to-video-remix-create-tab/" TargetMode="External"/><Relationship Id="rId7"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2.png"/><Relationship Id="rId4" Type="http://schemas.openxmlformats.org/officeDocument/2006/relationships/image" Target="../media/image63.png"/></Relationships>
</file>

<file path=ppt/slides/_rels/slide4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blog.google/innovation-and-ai/products/notebooklm-audio-overviews/" TargetMode="External"/><Relationship Id="rId7"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13.png"/><Relationship Id="rId4" Type="http://schemas.openxmlformats.org/officeDocument/2006/relationships/hyperlink" Target="https://github.com/souzatharsis/podcastfy" TargetMode="External"/><Relationship Id="rId9" Type="http://schemas.openxmlformats.org/officeDocument/2006/relationships/hyperlink" Target="https://marketsandmarkets.com/PressReleases/text-to-speech.asp"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hyperlink" Target="https://storybee.app/book-creation-printing" TargetMode="External"/><Relationship Id="rId7" Type="http://schemas.openxmlformats.org/officeDocument/2006/relationships/image" Target="../media/image64.png"/><Relationship Id="rId12" Type="http://schemas.openxmlformats.org/officeDocument/2006/relationships/hyperlink" Target="https://www.databridgemarketresearch.com/reports/us-personalized-childrens-books-market" TargetMode="External"/><Relationship Id="rId2" Type="http://schemas.openxmlformats.org/officeDocument/2006/relationships/hyperlink" Target="https://blog.google/products/gemini/storybooks/" TargetMode="External"/><Relationship Id="rId1" Type="http://schemas.openxmlformats.org/officeDocument/2006/relationships/slideLayout" Target="../slideLayouts/slideLayout2.xml"/><Relationship Id="rId6" Type="http://schemas.openxmlformats.org/officeDocument/2006/relationships/hyperlink" Target="https://omri-dahan.com/projects/anisipur" TargetMode="External"/><Relationship Id="rId11" Type="http://schemas.openxmlformats.org/officeDocument/2006/relationships/hyperlink" Target="https://datahorizzonresearch.com/childrens-books-market-49403" TargetMode="External"/><Relationship Id="rId5" Type="http://schemas.openxmlformats.org/officeDocument/2006/relationships/hyperlink" Target="https://inkwell.modular.com/home/" TargetMode="External"/><Relationship Id="rId10" Type="http://schemas.openxmlformats.org/officeDocument/2006/relationships/image" Target="../media/image66.png"/><Relationship Id="rId4" Type="http://schemas.openxmlformats.org/officeDocument/2006/relationships/hyperlink" Target="https://www.childbook.ai" TargetMode="External"/><Relationship Id="rId9" Type="http://schemas.openxmlformats.org/officeDocument/2006/relationships/image" Target="../media/image46.png"/></Relationships>
</file>

<file path=ppt/slides/_rels/slide4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www.bemyeyes.com/products" TargetMode="External"/><Relationship Id="rId7" Type="http://schemas.openxmlformats.org/officeDocument/2006/relationships/image" Target="../media/image65.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hyperlink" Target="https://letsenvision.com/blog/envision-glasses-meta-raybans" TargetMode="External"/><Relationship Id="rId10" Type="http://schemas.openxmlformats.org/officeDocument/2006/relationships/hyperlink" Target="https://www.credenceresearch.com/report/assistive-technologies-for-visually-impaired-market" TargetMode="External"/><Relationship Id="rId4" Type="http://schemas.openxmlformats.org/officeDocument/2006/relationships/hyperlink" Target="https://www.microsoft.com/en-us/seeing-ai/" TargetMode="External"/><Relationship Id="rId9" Type="http://schemas.openxmlformats.org/officeDocument/2006/relationships/image" Target="../media/image35.png"/></Relationships>
</file>

<file path=ppt/slides/_rels/slide4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developers.facebook.com/blog/post/2023/04/13/meta-os-animated-drawings/" TargetMode="External"/><Relationship Id="rId7" Type="http://schemas.openxmlformats.org/officeDocument/2006/relationships/image" Target="../media/image65.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hyperlink" Target="https://apps.apple.com/us/app/-/id6754922951" TargetMode="External"/><Relationship Id="rId10" Type="http://schemas.openxmlformats.org/officeDocument/2006/relationships/hyperlink" Target="https://dataintelo.com/report/kids-educational-apps-market" TargetMode="External"/><Relationship Id="rId4" Type="http://schemas.openxmlformats.org/officeDocument/2006/relationships/hyperlink" Target="https://apps.apple.com/app/id6744998698" TargetMode="External"/><Relationship Id="rId9" Type="http://schemas.openxmlformats.org/officeDocument/2006/relationships/image" Target="../media/image69.png"/></Relationships>
</file>

<file path=ppt/slides/_rels/slide4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www.ifixit.com/News/114700/introducing-fixbot" TargetMode="External"/><Relationship Id="rId7"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70.png"/><Relationship Id="rId4" Type="http://schemas.openxmlformats.org/officeDocument/2006/relationships/hyperlink" Target="https://www.ifixit.com/Info/FixBot_Pro" TargetMode="External"/><Relationship Id="rId9" Type="http://schemas.openxmlformats.org/officeDocument/2006/relationships/hyperlink" Target="https://www.taiwannews.com.tw/news/6079364" TargetMode="External"/></Relationships>
</file>

<file path=ppt/slides/_rels/slide5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hyperlink" Target="https://apps.apple.com/app/id6755790933" TargetMode="External"/><Relationship Id="rId7" Type="http://schemas.openxmlformats.org/officeDocument/2006/relationships/image" Target="../media/image65.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hyperlink" Target="https://apps.apple.com/us/app/smart-fridge-recipe-picmeal/id6748040722" TargetMode="External"/><Relationship Id="rId10" Type="http://schemas.openxmlformats.org/officeDocument/2006/relationships/hyperlink" Target="https://scoop.market.us/ai-driven-meal-planning-apps-market-news/" TargetMode="External"/><Relationship Id="rId4" Type="http://schemas.openxmlformats.org/officeDocument/2006/relationships/hyperlink" Target="https://apps.apple.com/us/app/-/id6745277023" TargetMode="External"/><Relationship Id="rId9" Type="http://schemas.openxmlformats.org/officeDocument/2006/relationships/image" Target="../media/image73.png"/></Relationships>
</file>

<file path=ppt/slides/_rels/slide5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apps.apple.com/us/app/-/id6502794561" TargetMode="External"/><Relationship Id="rId7"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74.png"/><Relationship Id="rId4" Type="http://schemas.openxmlformats.org/officeDocument/2006/relationships/hyperlink" Target="https://apps.apple.com/us/app/scripty-ai-note-taker/id6479320349" TargetMode="External"/><Relationship Id="rId9" Type="http://schemas.openxmlformats.org/officeDocument/2006/relationships/hyperlink" Target="https://market.us/report/ai-note-taking-market/" TargetMode="External"/></Relationships>
</file>

<file path=ppt/slides/_rels/slide52.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hyperlink" Target="https://www.magicschool.ai/" TargetMode="External"/><Relationship Id="rId7" Type="http://schemas.openxmlformats.org/officeDocument/2006/relationships/image" Target="../media/image76.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75.png"/><Relationship Id="rId4" Type="http://schemas.openxmlformats.org/officeDocument/2006/relationships/hyperlink" Target="https://www.g2.com/products/gradingpal/discuss" TargetMode="External"/><Relationship Id="rId9" Type="http://schemas.openxmlformats.org/officeDocument/2006/relationships/hyperlink" Target="https://www.marketsandmarkets.com/PressReleases/ai-in-education.asp" TargetMode="External"/></Relationships>
</file>

<file path=ppt/slides/_rels/slide53.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hyperlink" Target="https://khanmigo.ai/learners" TargetMode="External"/><Relationship Id="rId7"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6.png"/><Relationship Id="rId4" Type="http://schemas.openxmlformats.org/officeDocument/2006/relationships/hyperlink" Target="https://apps.apple.com/MX/app/id919087726" TargetMode="External"/><Relationship Id="rId9" Type="http://schemas.openxmlformats.org/officeDocument/2006/relationships/hyperlink" Target="https://www.mordorintelligence.com/industry-reports/ai-tutors-market" TargetMode="External"/></Relationships>
</file>

<file path=ppt/slides/_rels/slide5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hyperlink" Target="https://www.altadaily.com/blog/alta-main-features" TargetMode="External"/><Relationship Id="rId7" Type="http://schemas.openxmlformats.org/officeDocument/2006/relationships/image" Target="../media/image80.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79.png"/><Relationship Id="rId4" Type="http://schemas.openxmlformats.org/officeDocument/2006/relationships/hyperlink" Target="https://myindyx.com/versus/whering-vs-indyx" TargetMode="External"/><Relationship Id="rId9" Type="http://schemas.openxmlformats.org/officeDocument/2006/relationships/hyperlink" Target="https://www.imarcgroup.com/global-virtual-fitting-room-market" TargetMode="External"/></Relationships>
</file>

<file path=ppt/slides/_rels/slide5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s://yoodli.ai/blog/yodli-yoodlie-yoodle-yudley-however-you-spell-it-heres-what-we-do" TargetMode="External"/><Relationship Id="rId7" Type="http://schemas.openxmlformats.org/officeDocument/2006/relationships/image" Target="../media/image65.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www.finalroundai.com/glossary/google-interview-warmup" TargetMode="External"/><Relationship Id="rId10" Type="http://schemas.openxmlformats.org/officeDocument/2006/relationships/hyperlink" Target="https://www.verifiedmarketresearch.com/product/interview-preparation-tool-market/" TargetMode="External"/><Relationship Id="rId4" Type="http://schemas.openxmlformats.org/officeDocument/2006/relationships/hyperlink" Target="https://grow.google/interview-warmup" TargetMode="External"/><Relationship Id="rId9" Type="http://schemas.openxmlformats.org/officeDocument/2006/relationships/image" Target="../media/image15.png"/></Relationships>
</file>

<file path=ppt/slides/_rels/slide5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hyperlink" Target="https://www.remento.co/" TargetMode="External"/><Relationship Id="rId7" Type="http://schemas.openxmlformats.org/officeDocument/2006/relationships/image" Target="../media/image65.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storii.com/" TargetMode="External"/><Relationship Id="rId10" Type="http://schemas.openxmlformats.org/officeDocument/2006/relationships/hyperlink" Target="https://www.kingsresearch.com/de/genealogy-products-and-services-market-29" TargetMode="External"/><Relationship Id="rId4" Type="http://schemas.openxmlformats.org/officeDocument/2006/relationships/hyperlink" Target="https://welcome.storyworth.com/storyworth-vs-remento/" TargetMode="External"/><Relationship Id="rId9" Type="http://schemas.openxmlformats.org/officeDocument/2006/relationships/image" Target="../media/image82.png"/></Relationships>
</file>

<file path=ppt/slides/_rels/slide57.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hyperlink" Target="https://planner5d.com/blog/scan-room-the-latest-feature-from-planner-5d/" TargetMode="External"/><Relationship Id="rId7" Type="http://schemas.openxmlformats.org/officeDocument/2006/relationships/image" Target="../media/image72.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83.png"/><Relationship Id="rId4" Type="http://schemas.openxmlformats.org/officeDocument/2006/relationships/hyperlink" Target="https://apps.apple.com/us/app/-/id1644692405" TargetMode="External"/><Relationship Id="rId9" Type="http://schemas.openxmlformats.org/officeDocument/2006/relationships/hyperlink" Target="https://www.einpresswire.com/article/766103641/global-artificial-intelligence-ai-in-interior-design-market-set-for-6-2-growth-reaching-7-53-billion-by-2028" TargetMode="External"/></Relationships>
</file>

<file path=ppt/slides/_rels/slide5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hyperlink" Target="https://appshunter.io/ios/app/autoscan-ai-car-inspector/id6768056398" TargetMode="External"/><Relationship Id="rId7" Type="http://schemas.openxmlformats.org/officeDocument/2006/relationships/image" Target="../media/image85.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hyperlink" Target="https://apps.apple.com/app/id6760018980" TargetMode="External"/><Relationship Id="rId11" Type="http://schemas.openxmlformats.org/officeDocument/2006/relationships/hyperlink" Target="https://www.grandviewresearch.com/press-release/global-used-car-market" TargetMode="External"/><Relationship Id="rId5" Type="http://schemas.openxmlformats.org/officeDocument/2006/relationships/hyperlink" Target="https://degould.com/remarketing" TargetMode="External"/><Relationship Id="rId10" Type="http://schemas.openxmlformats.org/officeDocument/2006/relationships/image" Target="../media/image30.png"/><Relationship Id="rId4" Type="http://schemas.openxmlformats.org/officeDocument/2006/relationships/hyperlink" Target="https://www.acvauctions.com/story/acv-auctions-to-launch-acv-amp/" TargetMode="External"/><Relationship Id="rId9" Type="http://schemas.openxmlformats.org/officeDocument/2006/relationships/image" Target="../media/image11.png"/></Relationships>
</file>

<file path=ppt/slides/_rels/slide5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hyperlink" Target="https://blog.duolingo.com/video-call" TargetMode="External"/><Relationship Id="rId7" Type="http://schemas.openxmlformats.org/officeDocument/2006/relationships/image" Target="../media/image62.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7.png"/><Relationship Id="rId4" Type="http://schemas.openxmlformats.org/officeDocument/2006/relationships/hyperlink" Target="https://developers.googleblog.com/how-its-made-little-language-lessons-to-personalize-learning/" TargetMode="External"/><Relationship Id="rId9" Type="http://schemas.openxmlformats.org/officeDocument/2006/relationships/hyperlink" Target="https://meticulousresearch.com/pressrelease/286/online-language-learning-market-2031" TargetMode="External"/></Relationships>
</file>

<file path=ppt/slides/_rels/slide60.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hyperlink" Target="https://research.adobe.com/articles/playground/playground.html" TargetMode="External"/><Relationship Id="rId7"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25.png"/><Relationship Id="rId4" Type="http://schemas.openxmlformats.org/officeDocument/2006/relationships/hyperlink" Target="https://ai.g2.com/marketplace/tools/photomentor" TargetMode="External"/><Relationship Id="rId9" Type="http://schemas.openxmlformats.org/officeDocument/2006/relationships/hyperlink" Target="https://www.technavio.com/report/online-photography-education-market-in-higher-education-market-industry-analysis" TargetMode="External"/></Relationships>
</file>

<file path=ppt/slides/_rels/slide6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tractable.ai/products/ai-estimating" TargetMode="External"/><Relationship Id="rId7" Type="http://schemas.openxmlformats.org/officeDocument/2006/relationships/image" Target="../media/image65.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hyperlink" Target="https://degould.com/remarketing" TargetMode="External"/><Relationship Id="rId10" Type="http://schemas.openxmlformats.org/officeDocument/2006/relationships/hyperlink" Target="https://www.gminsights.com/industry-analysis/ai-vehicle-inspection-system-market" TargetMode="External"/><Relationship Id="rId4" Type="http://schemas.openxmlformats.org/officeDocument/2006/relationships/hyperlink" Target="https://apps.apple.com/app/id6760018980" TargetMode="External"/><Relationship Id="rId9" Type="http://schemas.openxmlformats.org/officeDocument/2006/relationships/image" Target="../media/image13.png"/></Relationships>
</file>

<file path=ppt/slides/_rels/slide62.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hyperlink" Target="https://apps.apple.com/us/app/maple-family-organizer/id1551070188" TargetMode="External"/><Relationship Id="rId7" Type="http://schemas.openxmlformats.org/officeDocument/2006/relationships/image" Target="../media/image65.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heynori.com/photo-to-calendar" TargetMode="External"/><Relationship Id="rId10" Type="http://schemas.openxmlformats.org/officeDocument/2006/relationships/hyperlink" Target="https://marketintelo.com/report/family-calendar-apps-for-kids-market" TargetMode="External"/><Relationship Id="rId4" Type="http://schemas.openxmlformats.org/officeDocument/2006/relationships/hyperlink" Target="https://www.ohai.ai/features/" TargetMode="External"/><Relationship Id="rId9" Type="http://schemas.openxmlformats.org/officeDocument/2006/relationships/image" Target="../media/image38.png"/></Relationships>
</file>

<file path=ppt/slides/_rels/slide6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instafill.ai/compare/instafill-vs-chatgpt" TargetMode="External"/><Relationship Id="rId7" Type="http://schemas.openxmlformats.org/officeDocument/2006/relationships/image" Target="../media/image32.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89.png"/><Relationship Id="rId4" Type="http://schemas.openxmlformats.org/officeDocument/2006/relationships/hyperlink" Target="https://www.adobe.com/mobile/fill-sign-pdfs.html" TargetMode="External"/><Relationship Id="rId9" Type="http://schemas.openxmlformats.org/officeDocument/2006/relationships/hyperlink" Target="https://www.gminsights.com/industry-analysis/intelligent-document-processing-market" TargetMode="External"/></Relationships>
</file>

<file path=ppt/slides/_rels/slide6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hyperlink" Target="https://apps.apple.com/us/app/fabler-rhymes-voiced-by-parent/id6456942177" TargetMode="External"/><Relationship Id="rId7" Type="http://schemas.openxmlformats.org/officeDocument/2006/relationships/image" Target="../media/image65.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hyperlink" Target="https://apps.apple.com/us/app/gramms-ai-bedtime-stories/id6758451330" TargetMode="External"/><Relationship Id="rId10" Type="http://schemas.openxmlformats.org/officeDocument/2006/relationships/hyperlink" Target="https://datahorizzonresearch.com/childrens-audiobook-app-market-42108" TargetMode="External"/><Relationship Id="rId4" Type="http://schemas.openxmlformats.org/officeDocument/2006/relationships/hyperlink" Target="https://apps.apple.com/app/id1663618939" TargetMode="External"/><Relationship Id="rId9"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a:effectLst/>
      </p:bgPr>
    </p:bg>
    <p:spTree>
      <p:nvGrpSpPr>
        <p:cNvPr id="1" name=""/>
        <p:cNvGrpSpPr/>
        <p:nvPr/>
      </p:nvGrpSpPr>
      <p:grpSpPr>
        <a:xfrm>
          <a:off x="0" y="0"/>
          <a:ext cx="0" cy="0"/>
          <a:chOff x="0" y="0"/>
          <a:chExt cx="0" cy="0"/>
        </a:xfrm>
      </p:grpSpPr>
      <p:sp>
        <p:nvSpPr>
          <p:cNvPr id="2" name="Text 0"/>
          <p:cNvSpPr/>
          <p:nvPr/>
        </p:nvSpPr>
        <p:spPr>
          <a:xfrm>
            <a:off x="812756" y="812756"/>
            <a:ext cx="10883469" cy="238656"/>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880"/>
                </a:solidFill>
                <a:latin typeface="Rubik" pitchFamily="34" charset="0"/>
                <a:ea typeface="Rubik" pitchFamily="34" charset="-122"/>
                <a:cs typeface="Rubik" pitchFamily="34" charset="-120"/>
              </a:rPr>
              <a:t>MULTIMODAL AGENTIC APPLICATIONS</a:t>
            </a:r>
            <a:endParaRPr lang="en-US" sz="1200" dirty="0"/>
          </a:p>
        </p:txBody>
      </p:sp>
      <p:sp>
        <p:nvSpPr>
          <p:cNvPr id="3" name="Text 1"/>
          <p:cNvSpPr>
            <a:spLocks noGrp="1"/>
          </p:cNvSpPr>
          <p:nvPr>
            <p:ph type="title"/>
          </p:nvPr>
        </p:nvSpPr>
        <p:spPr>
          <a:xfrm>
            <a:off x="812756" y="2395344"/>
            <a:ext cx="10883469" cy="825512"/>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5F0"/>
                </a:solidFill>
                <a:latin typeface="Rubik" pitchFamily="34" charset="0"/>
                <a:ea typeface="Rubik" pitchFamily="34" charset="-122"/>
                <a:cs typeface="Rubik" pitchFamily="34" charset="-120"/>
              </a:rPr>
              <a:t>50 ideas for agent apps</a:t>
            </a:r>
            <a:endParaRPr lang="en-US" sz="6000" dirty="0"/>
          </a:p>
        </p:txBody>
      </p:sp>
      <p:sp>
        <p:nvSpPr>
          <p:cNvPr id="5" name="Text 3"/>
          <p:cNvSpPr/>
          <p:nvPr/>
        </p:nvSpPr>
        <p:spPr>
          <a:xfrm>
            <a:off x="812756" y="5466293"/>
            <a:ext cx="2551500" cy="578883"/>
          </a:xfrm>
          <a:custGeom>
            <a:avLst/>
            <a:gdLst/>
            <a:ahLst/>
            <a:cxnLst/>
            <a:rect l="l" t="t" r="r" b="b"/>
            <a:pathLst>
              <a:path w="2551500" h="578883">
                <a:moveTo>
                  <a:pt x="289442" y="0"/>
                </a:moveTo>
                <a:lnTo>
                  <a:pt x="2262059" y="0"/>
                </a:lnTo>
                <a:arcTo wR="289442" hR="289442" stAng="16200000" swAng="5400000"/>
                <a:lnTo>
                  <a:pt x="2551500" y="289442"/>
                </a:lnTo>
                <a:arcTo wR="289442" hR="289442" stAng="0" swAng="5400000"/>
                <a:lnTo>
                  <a:pt x="289442" y="578883"/>
                </a:lnTo>
                <a:arcTo wR="289442" hR="289442" stAng="5400000" swAng="5400000"/>
                <a:lnTo>
                  <a:pt x="0" y="289442"/>
                </a:lnTo>
                <a:arcTo wR="289442" hR="289442" stAng="10800000" swAng="5400000"/>
                <a:close/>
              </a:path>
            </a:pathLst>
          </a:custGeom>
          <a:solidFill>
            <a:srgbClr val="0F766E"/>
          </a:solidFill>
          <a:ln/>
        </p:spPr>
        <p:txBody>
          <a:bodyPr wrap="square" lIns="152400" tIns="76200" rIns="84999" bIns="50800" rtlCol="0" anchor="t">
            <a:normAutofit/>
          </a:bodyPr>
          <a:lstStyle/>
          <a:p>
            <a:pPr marL="0" indent="0" algn="l">
              <a:lnSpc>
                <a:spcPts val="1680"/>
              </a:lnSpc>
              <a:buNone/>
            </a:pPr>
            <a:r>
              <a:rPr lang="en-US" sz="1200" b="1" dirty="0">
                <a:solidFill>
                  <a:srgbClr val="F7F5F0"/>
                </a:solidFill>
                <a:latin typeface="Rubik" pitchFamily="34" charset="0"/>
                <a:ea typeface="Rubik" pitchFamily="34" charset="-122"/>
                <a:cs typeface="Rubik" pitchFamily="34" charset="-120"/>
              </a:rPr>
              <a:t>Business &amp; Research · Michael</a:t>
            </a:r>
            <a:endParaRPr lang="en-US" sz="1200" dirty="0"/>
          </a:p>
        </p:txBody>
      </p:sp>
      <p:sp>
        <p:nvSpPr>
          <p:cNvPr id="6" name="Text 4"/>
          <p:cNvSpPr/>
          <p:nvPr/>
        </p:nvSpPr>
        <p:spPr>
          <a:xfrm>
            <a:off x="3465811" y="5466293"/>
            <a:ext cx="1808004" cy="578883"/>
          </a:xfrm>
          <a:custGeom>
            <a:avLst/>
            <a:gdLst/>
            <a:ahLst/>
            <a:cxnLst/>
            <a:rect l="l" t="t" r="r" b="b"/>
            <a:pathLst>
              <a:path w="1808004" h="578883">
                <a:moveTo>
                  <a:pt x="289442" y="0"/>
                </a:moveTo>
                <a:lnTo>
                  <a:pt x="1518562" y="0"/>
                </a:lnTo>
                <a:arcTo wR="289442" hR="289442" stAng="16200000" swAng="5400000"/>
                <a:lnTo>
                  <a:pt x="1808004" y="289442"/>
                </a:lnTo>
                <a:arcTo wR="289442" hR="289442" stAng="0" swAng="5400000"/>
                <a:lnTo>
                  <a:pt x="289442" y="578883"/>
                </a:lnTo>
                <a:arcTo wR="289442" hR="289442" stAng="5400000" swAng="5400000"/>
                <a:lnTo>
                  <a:pt x="0" y="289442"/>
                </a:lnTo>
                <a:arcTo wR="289442" hR="289442" stAng="10800000" swAng="5400000"/>
                <a:close/>
              </a:path>
            </a:pathLst>
          </a:custGeom>
          <a:solidFill>
            <a:srgbClr val="1D4ED8"/>
          </a:solidFill>
          <a:ln/>
        </p:spPr>
        <p:txBody>
          <a:bodyPr wrap="square" lIns="152400" tIns="76200" rIns="101600" bIns="50800" rtlCol="0" anchor="t">
            <a:normAutofit/>
          </a:bodyPr>
          <a:lstStyle/>
          <a:p>
            <a:pPr marL="0" indent="0" algn="l">
              <a:lnSpc>
                <a:spcPts val="1680"/>
              </a:lnSpc>
              <a:buNone/>
            </a:pPr>
            <a:r>
              <a:rPr lang="en-US" sz="1200" b="1" dirty="0">
                <a:solidFill>
                  <a:srgbClr val="F7F5F0"/>
                </a:solidFill>
                <a:latin typeface="Rubik" pitchFamily="34" charset="0"/>
                <a:ea typeface="Rubik" pitchFamily="34" charset="-122"/>
                <a:cs typeface="Rubik" pitchFamily="34" charset="-120"/>
              </a:rPr>
              <a:t>Media &amp; Sport · Amir</a:t>
            </a:r>
            <a:endParaRPr lang="en-US" sz="1200" dirty="0"/>
          </a:p>
        </p:txBody>
      </p:sp>
      <p:sp>
        <p:nvSpPr>
          <p:cNvPr id="7" name="Text 5"/>
          <p:cNvSpPr/>
          <p:nvPr/>
        </p:nvSpPr>
        <p:spPr>
          <a:xfrm>
            <a:off x="5375369" y="5466293"/>
            <a:ext cx="2246274" cy="578883"/>
          </a:xfrm>
          <a:custGeom>
            <a:avLst/>
            <a:gdLst/>
            <a:ahLst/>
            <a:cxnLst/>
            <a:rect l="l" t="t" r="r" b="b"/>
            <a:pathLst>
              <a:path w="2246274" h="578883">
                <a:moveTo>
                  <a:pt x="289442" y="0"/>
                </a:moveTo>
                <a:lnTo>
                  <a:pt x="1956832" y="0"/>
                </a:lnTo>
                <a:arcTo wR="289442" hR="289442" stAng="16200000" swAng="5400000"/>
                <a:lnTo>
                  <a:pt x="2246274" y="289442"/>
                </a:lnTo>
                <a:arcTo wR="289442" hR="289442" stAng="0" swAng="5400000"/>
                <a:lnTo>
                  <a:pt x="289442" y="578883"/>
                </a:lnTo>
                <a:arcTo wR="289442" hR="289442" stAng="5400000" swAng="5400000"/>
                <a:lnTo>
                  <a:pt x="0" y="289442"/>
                </a:lnTo>
                <a:arcTo wR="289442" hR="289442" stAng="10800000" swAng="5400000"/>
                <a:close/>
              </a:path>
            </a:pathLst>
          </a:custGeom>
          <a:solidFill>
            <a:srgbClr val="C2410C"/>
          </a:solidFill>
          <a:ln/>
        </p:spPr>
        <p:txBody>
          <a:bodyPr wrap="square" lIns="152400" tIns="76200" rIns="94156" bIns="50800" rtlCol="0" anchor="t">
            <a:normAutofit/>
          </a:bodyPr>
          <a:lstStyle/>
          <a:p>
            <a:pPr marL="0" indent="0" algn="l">
              <a:lnSpc>
                <a:spcPts val="1680"/>
              </a:lnSpc>
              <a:buNone/>
            </a:pPr>
            <a:r>
              <a:rPr lang="en-US" sz="1200" b="1" dirty="0">
                <a:solidFill>
                  <a:srgbClr val="F7F5F0"/>
                </a:solidFill>
                <a:latin typeface="Rubik" pitchFamily="34" charset="0"/>
                <a:ea typeface="Rubik" pitchFamily="34" charset="-122"/>
                <a:cs typeface="Rubik" pitchFamily="34" charset="-120"/>
              </a:rPr>
              <a:t>Family &amp; Learning · Nizzan</a:t>
            </a:r>
            <a:endParaRPr lang="en-US" sz="1200" dirty="0"/>
          </a:p>
        </p:txBody>
      </p:sp>
      <p:sp>
        <p:nvSpPr>
          <p:cNvPr id="8" name="Text 6"/>
          <p:cNvSpPr/>
          <p:nvPr/>
        </p:nvSpPr>
        <p:spPr>
          <a:xfrm>
            <a:off x="7824751" y="5542493"/>
            <a:ext cx="3661114" cy="45188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2CF"/>
                </a:solidFill>
                <a:latin typeface="Rubik" pitchFamily="34" charset="0"/>
                <a:ea typeface="Rubik" pitchFamily="34" charset="-122"/>
                <a:cs typeface="Rubik" pitchFamily="34" charset="-120"/>
              </a:rPr>
              <a:t>8 October 2026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9" name="Rectangle 5">
            <a:extLst>
              <a:ext uri="{FF2B5EF4-FFF2-40B4-BE49-F238E27FC236}">
                <a16:creationId xmlns:a16="http://schemas.microsoft.com/office/drawing/2014/main" id="{0323D67C-3E3D-CFD7-61FE-C39DA4973A10}"/>
              </a:ext>
            </a:extLst>
          </p:cNvPr>
          <p:cNvSpPr>
            <a:spLocks noGrp="1" noChangeArrowheads="1"/>
          </p:cNvSpPr>
          <p:nvPr>
            <p:ph type="title"/>
          </p:nvPr>
        </p:nvSpPr>
        <p:spPr bwMode="auto">
          <a:xfrm>
            <a:off x="166687" y="-11452"/>
            <a:ext cx="11858625" cy="667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rPr>
              <a:t>AI App &amp; Software Innovation Lab    </a:t>
            </a:r>
            <a:r>
              <a:rPr kumimoji="0" lang="en-US" altLang="en-US" sz="3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Director: Dr. Liu </a:t>
            </a:r>
            <a:r>
              <a:rPr kumimoji="0" lang="en-US" altLang="en-US" sz="32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Hongsheng</a:t>
            </a:r>
            <a:r>
              <a:rPr kumimoji="0" lang="en-US" altLang="en-US" sz="3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60+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Calibri" panose="020F0502020204030204" pitchFamily="34" charset="0"/>
              </a:rPr>
              <a:t>Vision &amp; Objectives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Build an innovative </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AI App Marketplace</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featuring high-impact applications that address real customer needs and significant market opportunities.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Business Model:</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Accelerate Huawei Ascend adoption by attracting users and developers through innovative, high-value AI applications.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800" b="1" i="0"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Calibri" panose="020F0502020204030204" pitchFamily="34" charset="0"/>
              </a:rPr>
              <a:t>Idea Evaluation Criteria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Problem &amp; Customer Pain Points: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What problem does the application solve, and what are the key customer bottlenecks?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Market Potential:</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What is the size of the addressable market and its potential impact?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AI Relevance:</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How can AI deliver meaningful value? Agent-based solutions are encouraged but not mandatory.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Open-Source Potential:</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Evaluate opportunities for open-source contributions, community engagement, and ecosystem growth.</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800" b="1" i="0"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Calibri" panose="020F0502020204030204" pitchFamily="34" charset="0"/>
              </a:rPr>
              <a:t>Organization &amp; Execution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Three Development Teams: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Led by Amir, Michael, and Nizzan.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Agile Development:</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Assign a dedicated owner to each idea, responsible for end-to-end development and delivery.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Private Repositories First:</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Begin development in private repositories, with progress monitored by Dr. Liu </a:t>
            </a:r>
            <a:r>
              <a:rPr kumimoji="0" lang="en-US" altLang="en-US" sz="18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Hongsheng</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Weekly Deliverables: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Deliver working demos every week through a coordinated development pipeline across all three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Continuous Innovation: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Maintain a prioritized pipeline of ideas at different stages of development to ensure consistent progress, rapid experimentation, and continuous delivery.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399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121" y="609567"/>
            <a:ext cx="11092837"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How the 50 ideas are ranked</a:t>
            </a:r>
            <a:endParaRPr lang="en-US" sz="3000" dirty="0"/>
          </a:p>
        </p:txBody>
      </p:sp>
      <p:sp>
        <p:nvSpPr>
          <p:cNvPr id="3" name="Shape 1"/>
          <p:cNvSpPr/>
          <p:nvPr/>
        </p:nvSpPr>
        <p:spPr>
          <a:xfrm>
            <a:off x="711121" y="1257227"/>
            <a:ext cx="2052346" cy="2419987"/>
          </a:xfrm>
          <a:prstGeom prst="roundRect">
            <a:avLst>
              <a:gd name="adj" fmla="val 6188"/>
            </a:avLst>
          </a:prstGeom>
          <a:solidFill>
            <a:srgbClr val="ECE8DF"/>
          </a:solidFill>
          <a:ln/>
        </p:spPr>
        <p:txBody>
          <a:bodyPr/>
          <a:lstStyle/>
          <a:p>
            <a:endParaRPr/>
          </a:p>
        </p:txBody>
      </p:sp>
      <p:sp>
        <p:nvSpPr>
          <p:cNvPr id="4" name="Text 2"/>
          <p:cNvSpPr/>
          <p:nvPr/>
        </p:nvSpPr>
        <p:spPr>
          <a:xfrm>
            <a:off x="888861" y="1434967"/>
            <a:ext cx="1747772"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C2410C"/>
                </a:solidFill>
                <a:latin typeface="Rubik" pitchFamily="34" charset="0"/>
                <a:ea typeface="Rubik" pitchFamily="34" charset="-122"/>
                <a:cs typeface="Rubik" pitchFamily="34" charset="-120"/>
              </a:rPr>
              <a:t>Buzz ×2</a:t>
            </a:r>
            <a:endParaRPr lang="en-US" sz="2000" dirty="0"/>
          </a:p>
        </p:txBody>
      </p:sp>
      <p:sp>
        <p:nvSpPr>
          <p:cNvPr id="5" name="Text 3"/>
          <p:cNvSpPr/>
          <p:nvPr/>
        </p:nvSpPr>
        <p:spPr>
          <a:xfrm>
            <a:off x="888861" y="1853989"/>
            <a:ext cx="1747772" cy="1465199"/>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6202E"/>
                </a:solidFill>
                <a:latin typeface="Rubik" pitchFamily="34" charset="0"/>
                <a:ea typeface="Rubik" pitchFamily="34" charset="-122"/>
                <a:cs typeface="Rubik" pitchFamily="34" charset="-120"/>
              </a:rPr>
              <a:t>Public and community attention. For the 39 existing ideas: the 7 October research. For the 11 new ones: my estimate after a headline-level search.</a:t>
            </a:r>
            <a:endParaRPr lang="en-US" sz="1200" dirty="0"/>
          </a:p>
        </p:txBody>
      </p:sp>
      <p:sp>
        <p:nvSpPr>
          <p:cNvPr id="6" name="Shape 4"/>
          <p:cNvSpPr/>
          <p:nvPr/>
        </p:nvSpPr>
        <p:spPr>
          <a:xfrm>
            <a:off x="2890390" y="1257227"/>
            <a:ext cx="2052427" cy="2419987"/>
          </a:xfrm>
          <a:prstGeom prst="roundRect">
            <a:avLst>
              <a:gd name="adj" fmla="val 6188"/>
            </a:avLst>
          </a:prstGeom>
          <a:solidFill>
            <a:srgbClr val="ECE8DF"/>
          </a:solidFill>
          <a:ln/>
        </p:spPr>
        <p:txBody>
          <a:bodyPr/>
          <a:lstStyle/>
          <a:p>
            <a:endParaRPr/>
          </a:p>
        </p:txBody>
      </p:sp>
      <p:sp>
        <p:nvSpPr>
          <p:cNvPr id="7" name="Text 5"/>
          <p:cNvSpPr/>
          <p:nvPr/>
        </p:nvSpPr>
        <p:spPr>
          <a:xfrm>
            <a:off x="3068130" y="1434967"/>
            <a:ext cx="1747855"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D4ED8"/>
                </a:solidFill>
                <a:latin typeface="Rubik" pitchFamily="34" charset="0"/>
                <a:ea typeface="Rubik" pitchFamily="34" charset="-122"/>
                <a:cs typeface="Rubik" pitchFamily="34" charset="-120"/>
              </a:rPr>
              <a:t>Impact</a:t>
            </a:r>
            <a:endParaRPr lang="en-US" sz="2000" dirty="0"/>
          </a:p>
        </p:txBody>
      </p:sp>
      <p:sp>
        <p:nvSpPr>
          <p:cNvPr id="8" name="Text 6"/>
          <p:cNvSpPr/>
          <p:nvPr/>
        </p:nvSpPr>
        <p:spPr>
          <a:xfrm>
            <a:off x="3068130" y="1853989"/>
            <a:ext cx="1747855" cy="12595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6202E"/>
                </a:solidFill>
                <a:latin typeface="Rubik" pitchFamily="34" charset="0"/>
                <a:ea typeface="Rubik" pitchFamily="34" charset="-122"/>
                <a:cs typeface="Rubik" pitchFamily="34" charset="-120"/>
              </a:rPr>
              <a:t>Size of the audience times the value of one use. My judgment from the idea descriptions, not a market measurement.</a:t>
            </a:r>
            <a:endParaRPr lang="en-US" sz="1200" dirty="0"/>
          </a:p>
        </p:txBody>
      </p:sp>
      <p:sp>
        <p:nvSpPr>
          <p:cNvPr id="9" name="Shape 7"/>
          <p:cNvSpPr/>
          <p:nvPr/>
        </p:nvSpPr>
        <p:spPr>
          <a:xfrm>
            <a:off x="5069740" y="1257227"/>
            <a:ext cx="2052427" cy="2419987"/>
          </a:xfrm>
          <a:prstGeom prst="roundRect">
            <a:avLst>
              <a:gd name="adj" fmla="val 6188"/>
            </a:avLst>
          </a:prstGeom>
          <a:solidFill>
            <a:srgbClr val="ECE8DF"/>
          </a:solidFill>
          <a:ln/>
        </p:spPr>
        <p:txBody>
          <a:bodyPr/>
          <a:lstStyle/>
          <a:p>
            <a:endParaRPr/>
          </a:p>
        </p:txBody>
      </p:sp>
      <p:sp>
        <p:nvSpPr>
          <p:cNvPr id="10" name="Text 8"/>
          <p:cNvSpPr/>
          <p:nvPr/>
        </p:nvSpPr>
        <p:spPr>
          <a:xfrm>
            <a:off x="5247480" y="1434967"/>
            <a:ext cx="1747855"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02E"/>
                </a:solidFill>
                <a:latin typeface="Rubik" pitchFamily="34" charset="0"/>
                <a:ea typeface="Rubik" pitchFamily="34" charset="-122"/>
                <a:cs typeface="Rubik" pitchFamily="34" charset="-120"/>
              </a:rPr>
              <a:t>Demo</a:t>
            </a:r>
            <a:endParaRPr lang="en-US" sz="2000" dirty="0"/>
          </a:p>
        </p:txBody>
      </p:sp>
      <p:sp>
        <p:nvSpPr>
          <p:cNvPr id="11" name="Text 9"/>
          <p:cNvSpPr/>
          <p:nvPr/>
        </p:nvSpPr>
        <p:spPr>
          <a:xfrm>
            <a:off x="5247480" y="1853989"/>
            <a:ext cx="1747855" cy="1465199"/>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6202E"/>
                </a:solidFill>
                <a:latin typeface="Rubik" pitchFamily="34" charset="0"/>
                <a:ea typeface="Rubik" pitchFamily="34" charset="-122"/>
                <a:cs typeface="Rubik" pitchFamily="34" charset="-120"/>
              </a:rPr>
              <a:t>Demo-readiness: can one team show a convincing end-to-end example within a week. My judgment; it sets the order in the pipeline.</a:t>
            </a:r>
            <a:endParaRPr lang="en-US" sz="1200" dirty="0"/>
          </a:p>
        </p:txBody>
      </p:sp>
      <p:sp>
        <p:nvSpPr>
          <p:cNvPr id="12" name="Shape 10"/>
          <p:cNvSpPr/>
          <p:nvPr/>
        </p:nvSpPr>
        <p:spPr>
          <a:xfrm>
            <a:off x="7249089" y="1257227"/>
            <a:ext cx="2052427" cy="2419987"/>
          </a:xfrm>
          <a:prstGeom prst="roundRect">
            <a:avLst>
              <a:gd name="adj" fmla="val 6188"/>
            </a:avLst>
          </a:prstGeom>
          <a:solidFill>
            <a:srgbClr val="ECE8DF"/>
          </a:solidFill>
          <a:ln/>
        </p:spPr>
        <p:txBody>
          <a:bodyPr/>
          <a:lstStyle/>
          <a:p>
            <a:endParaRPr/>
          </a:p>
        </p:txBody>
      </p:sp>
      <p:sp>
        <p:nvSpPr>
          <p:cNvPr id="13" name="Text 11"/>
          <p:cNvSpPr/>
          <p:nvPr/>
        </p:nvSpPr>
        <p:spPr>
          <a:xfrm>
            <a:off x="7426830" y="1434967"/>
            <a:ext cx="1747855"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66E"/>
                </a:solidFill>
                <a:latin typeface="Rubik" pitchFamily="34" charset="0"/>
                <a:ea typeface="Rubik" pitchFamily="34" charset="-122"/>
                <a:cs typeface="Rubik" pitchFamily="34" charset="-120"/>
              </a:rPr>
              <a:t>Open source</a:t>
            </a:r>
            <a:endParaRPr lang="en-US" sz="2000" dirty="0"/>
          </a:p>
        </p:txBody>
      </p:sp>
      <p:sp>
        <p:nvSpPr>
          <p:cNvPr id="14" name="Text 12"/>
          <p:cNvSpPr/>
          <p:nvPr/>
        </p:nvSpPr>
        <p:spPr>
          <a:xfrm>
            <a:off x="7426830" y="1853989"/>
            <a:ext cx="1747855" cy="1465199"/>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6202E"/>
                </a:solidFill>
                <a:latin typeface="Rubik" pitchFamily="34" charset="0"/>
                <a:ea typeface="Rubik" pitchFamily="34" charset="-122"/>
                <a:cs typeface="Rubik" pitchFamily="34" charset="-120"/>
              </a:rPr>
              <a:t>Are the users also contributors, is there a part a community can extend, and is openness an edge over competitors. My judgment.</a:t>
            </a:r>
            <a:endParaRPr lang="en-US" sz="1200" dirty="0"/>
          </a:p>
        </p:txBody>
      </p:sp>
      <p:sp>
        <p:nvSpPr>
          <p:cNvPr id="15" name="Shape 13"/>
          <p:cNvSpPr/>
          <p:nvPr/>
        </p:nvSpPr>
        <p:spPr>
          <a:xfrm>
            <a:off x="9428438" y="1257227"/>
            <a:ext cx="2052427" cy="2419987"/>
          </a:xfrm>
          <a:prstGeom prst="roundRect">
            <a:avLst>
              <a:gd name="adj" fmla="val 6188"/>
            </a:avLst>
          </a:prstGeom>
          <a:solidFill>
            <a:srgbClr val="ECE8DF"/>
          </a:solidFill>
          <a:ln/>
        </p:spPr>
        <p:txBody>
          <a:bodyPr/>
          <a:lstStyle/>
          <a:p>
            <a:endParaRPr/>
          </a:p>
        </p:txBody>
      </p:sp>
      <p:sp>
        <p:nvSpPr>
          <p:cNvPr id="16" name="Text 14"/>
          <p:cNvSpPr/>
          <p:nvPr/>
        </p:nvSpPr>
        <p:spPr>
          <a:xfrm>
            <a:off x="9606179" y="1434967"/>
            <a:ext cx="1747855"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7C3AED"/>
                </a:solidFill>
                <a:latin typeface="Rubik" pitchFamily="34" charset="0"/>
                <a:ea typeface="Rubik" pitchFamily="34" charset="-122"/>
                <a:cs typeface="Rubik" pitchFamily="34" charset="-120"/>
              </a:rPr>
              <a:t>ATARI</a:t>
            </a:r>
            <a:endParaRPr lang="en-US" sz="2000" dirty="0"/>
          </a:p>
        </p:txBody>
      </p:sp>
      <p:sp>
        <p:nvSpPr>
          <p:cNvPr id="17" name="Text 15"/>
          <p:cNvSpPr/>
          <p:nvPr/>
        </p:nvSpPr>
        <p:spPr>
          <a:xfrm>
            <a:off x="9606179" y="1853989"/>
            <a:ext cx="1747855" cy="1670885"/>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6202E"/>
                </a:solidFill>
                <a:latin typeface="Rubik" pitchFamily="34" charset="0"/>
                <a:ea typeface="Rubik" pitchFamily="34" charset="-122"/>
                <a:cs typeface="Rubik" pitchFamily="34" charset="-120"/>
              </a:rPr>
              <a:t>How far the demo builds ATARI's eyes, ears and spatial memory: live video and audio, what is where, execution monitoring. My judgment against the attached deck.</a:t>
            </a:r>
            <a:endParaRPr lang="en-US" sz="1200" dirty="0"/>
          </a:p>
        </p:txBody>
      </p:sp>
      <p:sp>
        <p:nvSpPr>
          <p:cNvPr id="18" name="Shape 16"/>
          <p:cNvSpPr/>
          <p:nvPr/>
        </p:nvSpPr>
        <p:spPr>
          <a:xfrm>
            <a:off x="711121" y="3905772"/>
            <a:ext cx="10769744" cy="1178223"/>
          </a:xfrm>
          <a:prstGeom prst="roundRect">
            <a:avLst>
              <a:gd name="adj" fmla="val 10779"/>
            </a:avLst>
          </a:prstGeom>
          <a:solidFill>
            <a:srgbClr val="16202E"/>
          </a:solidFill>
          <a:ln/>
        </p:spPr>
        <p:txBody>
          <a:bodyPr/>
          <a:lstStyle/>
          <a:p>
            <a:endParaRPr/>
          </a:p>
        </p:txBody>
      </p:sp>
      <p:sp>
        <p:nvSpPr>
          <p:cNvPr id="19" name="Text 17"/>
          <p:cNvSpPr/>
          <p:nvPr/>
        </p:nvSpPr>
        <p:spPr>
          <a:xfrm>
            <a:off x="939679" y="4317062"/>
            <a:ext cx="7121736" cy="380961"/>
          </a:xfrm>
          <a:prstGeom prst="rect">
            <a:avLst/>
          </a:prstGeom>
          <a:noFill/>
          <a:ln/>
        </p:spPr>
        <p:txBody>
          <a:bodyPr wrap="none" lIns="0" tIns="0" rIns="0" bIns="0" rtlCol="0" anchor="t">
            <a:normAutofit/>
          </a:bodyPr>
          <a:lstStyle/>
          <a:p>
            <a:pPr marL="0" indent="0" algn="l">
              <a:lnSpc>
                <a:spcPts val="2800"/>
              </a:lnSpc>
              <a:buNone/>
            </a:pPr>
            <a:r>
              <a:rPr lang="en-US" sz="2000" b="1" dirty="0">
                <a:solidFill>
                  <a:srgbClr val="F7F5F0"/>
                </a:solidFill>
                <a:latin typeface="Rubik" pitchFamily="34" charset="0"/>
                <a:ea typeface="Rubik" pitchFamily="34" charset="-122"/>
                <a:cs typeface="Rubik" pitchFamily="34" charset="-120"/>
              </a:rPr>
              <a:t>Score = 2×Buzz + Impact + Demo + Open source + ATARI</a:t>
            </a:r>
            <a:endParaRPr lang="en-US" sz="2000" dirty="0"/>
          </a:p>
        </p:txBody>
      </p:sp>
      <p:sp>
        <p:nvSpPr>
          <p:cNvPr id="20" name="Text 18"/>
          <p:cNvSpPr/>
          <p:nvPr/>
        </p:nvSpPr>
        <p:spPr>
          <a:xfrm>
            <a:off x="8057175" y="4083512"/>
            <a:ext cx="3290988" cy="848143"/>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7F5F0"/>
                </a:solidFill>
                <a:latin typeface="Rubik" pitchFamily="34" charset="0"/>
                <a:ea typeface="Rubik" pitchFamily="34" charset="-122"/>
                <a:cs typeface="Rubik" pitchFamily="34" charset="-120"/>
              </a:rPr>
              <a:t>Each measure runs 1 to 5; maximum 30. Buzz counts double because the brief asks for rank by buzz and impact. Ties: higher buzz, then ATARI, then impact.</a:t>
            </a:r>
            <a:endParaRPr lang="en-US" sz="1200" dirty="0"/>
          </a:p>
        </p:txBody>
      </p:sp>
      <p:sp>
        <p:nvSpPr>
          <p:cNvPr id="21" name="Text 19"/>
          <p:cNvSpPr/>
          <p:nvPr/>
        </p:nvSpPr>
        <p:spPr>
          <a:xfrm>
            <a:off x="711121" y="6025042"/>
            <a:ext cx="11092670" cy="45191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Rubik" pitchFamily="34" charset="0"/>
                <a:ea typeface="Rubik" pitchFamily="34" charset="-122"/>
                <a:cs typeface="Rubik" pitchFamily="34" charset="-120"/>
              </a:rPr>
              <a:t>Every idea slide also shows target audience, market size and AI relevance. Market size is a qualitative estimate with a reference figure from the research where one exists; no market sizing was done.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121" y="609567"/>
            <a:ext cx="11092837"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Three teams, three leads</a:t>
            </a:r>
            <a:endParaRPr lang="en-US" sz="3000" dirty="0"/>
          </a:p>
        </p:txBody>
      </p:sp>
      <p:sp>
        <p:nvSpPr>
          <p:cNvPr id="3" name="Shape 1"/>
          <p:cNvSpPr/>
          <p:nvPr/>
        </p:nvSpPr>
        <p:spPr>
          <a:xfrm>
            <a:off x="711121" y="1257227"/>
            <a:ext cx="3471368" cy="2488764"/>
          </a:xfrm>
          <a:prstGeom prst="roundRect">
            <a:avLst>
              <a:gd name="adj" fmla="val 5103"/>
            </a:avLst>
          </a:prstGeom>
          <a:solidFill>
            <a:srgbClr val="0F766E"/>
          </a:solidFill>
          <a:ln/>
        </p:spPr>
        <p:txBody>
          <a:bodyPr/>
          <a:lstStyle/>
          <a:p>
            <a:endParaRPr/>
          </a:p>
        </p:txBody>
      </p:sp>
      <p:sp>
        <p:nvSpPr>
          <p:cNvPr id="4" name="Text 2"/>
          <p:cNvSpPr/>
          <p:nvPr/>
        </p:nvSpPr>
        <p:spPr>
          <a:xfrm>
            <a:off x="939679" y="1485785"/>
            <a:ext cx="3104680"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5F0"/>
                </a:solidFill>
                <a:latin typeface="Rubik" pitchFamily="34" charset="0"/>
                <a:ea typeface="Rubik" pitchFamily="34" charset="-122"/>
                <a:cs typeface="Rubik" pitchFamily="34" charset="-120"/>
              </a:rPr>
              <a:t>Business &amp; Research · 16 ideas</a:t>
            </a:r>
            <a:endParaRPr lang="en-US" sz="1200" dirty="0"/>
          </a:p>
        </p:txBody>
      </p:sp>
      <p:sp>
        <p:nvSpPr>
          <p:cNvPr id="5" name="Text 3"/>
          <p:cNvSpPr/>
          <p:nvPr/>
        </p:nvSpPr>
        <p:spPr>
          <a:xfrm>
            <a:off x="939679" y="1762502"/>
            <a:ext cx="3104680" cy="825512"/>
          </a:xfrm>
          <a:prstGeom prst="rect">
            <a:avLst/>
          </a:prstGeom>
          <a:noFill/>
          <a:ln/>
        </p:spPr>
        <p:txBody>
          <a:bodyPr wrap="square" lIns="0" tIns="0" rIns="0" bIns="0" rtlCol="0" anchor="t">
            <a:normAutofit fontScale="25000" lnSpcReduction="20000"/>
          </a:bodyPr>
          <a:lstStyle/>
          <a:p>
            <a:pPr marL="0" indent="0" algn="l">
              <a:lnSpc>
                <a:spcPts val="6300"/>
              </a:lnSpc>
              <a:buNone/>
            </a:pPr>
            <a:r>
              <a:rPr lang="en-US" sz="9600" b="1" dirty="0">
                <a:solidFill>
                  <a:srgbClr val="F7F5F0"/>
                </a:solidFill>
                <a:latin typeface="Rubik" pitchFamily="34" charset="0"/>
                <a:ea typeface="Rubik" pitchFamily="34" charset="-122"/>
                <a:cs typeface="Rubik" pitchFamily="34" charset="-120"/>
              </a:rPr>
              <a:t>Michael</a:t>
            </a:r>
            <a:r>
              <a:rPr lang="en-US" sz="6000" b="1" dirty="0">
                <a:solidFill>
                  <a:srgbClr val="F7F5F0"/>
                </a:solidFill>
                <a:latin typeface="Rubik" pitchFamily="34" charset="0"/>
                <a:ea typeface="Rubik" pitchFamily="34" charset="-122"/>
                <a:cs typeface="Rubik" pitchFamily="34" charset="-120"/>
              </a:rPr>
              <a:t> with Haim and Shira</a:t>
            </a:r>
            <a:endParaRPr lang="en-US" sz="6000" dirty="0"/>
          </a:p>
        </p:txBody>
      </p:sp>
      <p:sp>
        <p:nvSpPr>
          <p:cNvPr id="6" name="Text 4"/>
          <p:cNvSpPr/>
          <p:nvPr/>
        </p:nvSpPr>
        <p:spPr>
          <a:xfrm>
            <a:off x="939679" y="2626075"/>
            <a:ext cx="3104680" cy="693919"/>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5F0"/>
                </a:solidFill>
                <a:latin typeface="Rubik" pitchFamily="34" charset="0"/>
                <a:ea typeface="Rubik" pitchFamily="34" charset="-122"/>
                <a:cs typeface="Rubik" pitchFamily="34" charset="-120"/>
              </a:rPr>
              <a:t>One-person companies, office work, developer tooling and scientific evidence. Users here contribute code.</a:t>
            </a:r>
            <a:endParaRPr lang="en-US" sz="1300" dirty="0"/>
          </a:p>
        </p:txBody>
      </p:sp>
      <p:sp>
        <p:nvSpPr>
          <p:cNvPr id="7" name="Shape 5"/>
          <p:cNvSpPr/>
          <p:nvPr/>
        </p:nvSpPr>
        <p:spPr>
          <a:xfrm>
            <a:off x="4360229" y="1257227"/>
            <a:ext cx="3471448" cy="2488764"/>
          </a:xfrm>
          <a:prstGeom prst="roundRect">
            <a:avLst>
              <a:gd name="adj" fmla="val 5103"/>
            </a:avLst>
          </a:prstGeom>
          <a:solidFill>
            <a:srgbClr val="1D4ED8"/>
          </a:solidFill>
          <a:ln/>
        </p:spPr>
        <p:txBody>
          <a:bodyPr/>
          <a:lstStyle/>
          <a:p>
            <a:endParaRPr/>
          </a:p>
        </p:txBody>
      </p:sp>
      <p:sp>
        <p:nvSpPr>
          <p:cNvPr id="8" name="Text 6"/>
          <p:cNvSpPr/>
          <p:nvPr/>
        </p:nvSpPr>
        <p:spPr>
          <a:xfrm>
            <a:off x="4588787" y="1485785"/>
            <a:ext cx="3104763"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5F0"/>
                </a:solidFill>
                <a:latin typeface="Rubik" pitchFamily="34" charset="0"/>
                <a:ea typeface="Rubik" pitchFamily="34" charset="-122"/>
                <a:cs typeface="Rubik" pitchFamily="34" charset="-120"/>
              </a:rPr>
              <a:t>Media &amp; Sport · 16 ideas</a:t>
            </a:r>
            <a:endParaRPr lang="en-US" sz="1200" dirty="0"/>
          </a:p>
        </p:txBody>
      </p:sp>
      <p:sp>
        <p:nvSpPr>
          <p:cNvPr id="9" name="Text 7"/>
          <p:cNvSpPr/>
          <p:nvPr/>
        </p:nvSpPr>
        <p:spPr>
          <a:xfrm>
            <a:off x="4588787" y="1762502"/>
            <a:ext cx="3104763" cy="825512"/>
          </a:xfrm>
          <a:prstGeom prst="rect">
            <a:avLst/>
          </a:prstGeom>
          <a:noFill/>
          <a:ln/>
        </p:spPr>
        <p:txBody>
          <a:bodyPr wrap="square" lIns="0" tIns="0" rIns="0" bIns="0" rtlCol="0" anchor="t">
            <a:normAutofit fontScale="32500" lnSpcReduction="20000"/>
          </a:bodyPr>
          <a:lstStyle/>
          <a:p>
            <a:pPr marL="0" indent="0" algn="l">
              <a:lnSpc>
                <a:spcPts val="6300"/>
              </a:lnSpc>
              <a:buNone/>
            </a:pPr>
            <a:r>
              <a:rPr lang="en-US" sz="8600" b="1" dirty="0">
                <a:solidFill>
                  <a:srgbClr val="F7F5F0"/>
                </a:solidFill>
                <a:latin typeface="Rubik" pitchFamily="34" charset="0"/>
                <a:ea typeface="Rubik" pitchFamily="34" charset="-122"/>
                <a:cs typeface="Rubik" pitchFamily="34" charset="-120"/>
              </a:rPr>
              <a:t>Amir</a:t>
            </a:r>
            <a:r>
              <a:rPr lang="en-US" sz="6000" b="1" dirty="0">
                <a:solidFill>
                  <a:srgbClr val="F7F5F0"/>
                </a:solidFill>
                <a:latin typeface="Rubik" pitchFamily="34" charset="0"/>
                <a:ea typeface="Rubik" pitchFamily="34" charset="-122"/>
                <a:cs typeface="Rubik" pitchFamily="34" charset="-120"/>
              </a:rPr>
              <a:t> with Sagiv and Batya</a:t>
            </a:r>
            <a:endParaRPr lang="en-US" sz="6000" dirty="0"/>
          </a:p>
        </p:txBody>
      </p:sp>
      <p:sp>
        <p:nvSpPr>
          <p:cNvPr id="10" name="Text 8"/>
          <p:cNvSpPr/>
          <p:nvPr/>
        </p:nvSpPr>
        <p:spPr>
          <a:xfrm>
            <a:off x="4588787" y="2626075"/>
            <a:ext cx="3104763" cy="91675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5F0"/>
                </a:solidFill>
                <a:latin typeface="Rubik" pitchFamily="34" charset="0"/>
                <a:ea typeface="Rubik" pitchFamily="34" charset="-122"/>
                <a:cs typeface="Rubik" pitchFamily="34" charset="-120"/>
              </a:rPr>
              <a:t>Video, audio and group content that people forward, and sport, where understanding the video is the product.</a:t>
            </a:r>
            <a:endParaRPr lang="en-US" sz="1300" dirty="0"/>
          </a:p>
        </p:txBody>
      </p:sp>
      <p:sp>
        <p:nvSpPr>
          <p:cNvPr id="11" name="Shape 9"/>
          <p:cNvSpPr/>
          <p:nvPr/>
        </p:nvSpPr>
        <p:spPr>
          <a:xfrm>
            <a:off x="8009417" y="1257227"/>
            <a:ext cx="3471448" cy="2488764"/>
          </a:xfrm>
          <a:prstGeom prst="roundRect">
            <a:avLst>
              <a:gd name="adj" fmla="val 5103"/>
            </a:avLst>
          </a:prstGeom>
          <a:solidFill>
            <a:srgbClr val="C2410C"/>
          </a:solidFill>
          <a:ln/>
        </p:spPr>
        <p:txBody>
          <a:bodyPr/>
          <a:lstStyle/>
          <a:p>
            <a:endParaRPr/>
          </a:p>
        </p:txBody>
      </p:sp>
      <p:sp>
        <p:nvSpPr>
          <p:cNvPr id="12" name="Text 10"/>
          <p:cNvSpPr/>
          <p:nvPr/>
        </p:nvSpPr>
        <p:spPr>
          <a:xfrm>
            <a:off x="8237975" y="1485785"/>
            <a:ext cx="3104763"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5F0"/>
                </a:solidFill>
                <a:latin typeface="Rubik" pitchFamily="34" charset="0"/>
                <a:ea typeface="Rubik" pitchFamily="34" charset="-122"/>
                <a:cs typeface="Rubik" pitchFamily="34" charset="-120"/>
              </a:rPr>
              <a:t>Family &amp; Learning · 19 ideas</a:t>
            </a:r>
            <a:endParaRPr lang="en-US" sz="1200" dirty="0"/>
          </a:p>
        </p:txBody>
      </p:sp>
      <p:sp>
        <p:nvSpPr>
          <p:cNvPr id="13" name="Text 11"/>
          <p:cNvSpPr/>
          <p:nvPr/>
        </p:nvSpPr>
        <p:spPr>
          <a:xfrm>
            <a:off x="8237975" y="1762502"/>
            <a:ext cx="3104763" cy="825512"/>
          </a:xfrm>
          <a:prstGeom prst="rect">
            <a:avLst/>
          </a:prstGeom>
          <a:noFill/>
          <a:ln/>
        </p:spPr>
        <p:txBody>
          <a:bodyPr wrap="square" lIns="0" tIns="0" rIns="0" bIns="0" rtlCol="0" anchor="t">
            <a:normAutofit fontScale="25000" lnSpcReduction="20000"/>
          </a:bodyPr>
          <a:lstStyle/>
          <a:p>
            <a:pPr marL="0" indent="0" algn="l">
              <a:lnSpc>
                <a:spcPts val="6300"/>
              </a:lnSpc>
              <a:buNone/>
            </a:pPr>
            <a:r>
              <a:rPr lang="en-US" sz="9600" b="1" dirty="0">
                <a:solidFill>
                  <a:srgbClr val="F7F5F0"/>
                </a:solidFill>
                <a:latin typeface="Rubik" pitchFamily="34" charset="0"/>
                <a:ea typeface="Rubik" pitchFamily="34" charset="-122"/>
                <a:cs typeface="Rubik" pitchFamily="34" charset="-120"/>
              </a:rPr>
              <a:t>Nizzan</a:t>
            </a:r>
            <a:r>
              <a:rPr lang="en-US" sz="6000" b="1" dirty="0">
                <a:solidFill>
                  <a:srgbClr val="F7F5F0"/>
                </a:solidFill>
                <a:latin typeface="Rubik" pitchFamily="34" charset="0"/>
                <a:ea typeface="Rubik" pitchFamily="34" charset="-122"/>
                <a:cs typeface="Rubik" pitchFamily="34" charset="-120"/>
              </a:rPr>
              <a:t> with Yoni and Chaya</a:t>
            </a:r>
            <a:endParaRPr lang="en-US" sz="6000" dirty="0"/>
          </a:p>
        </p:txBody>
      </p:sp>
      <p:sp>
        <p:nvSpPr>
          <p:cNvPr id="14" name="Text 12"/>
          <p:cNvSpPr/>
          <p:nvPr/>
        </p:nvSpPr>
        <p:spPr>
          <a:xfrm>
            <a:off x="8237975" y="2626075"/>
            <a:ext cx="3104763" cy="91675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5F0"/>
                </a:solidFill>
                <a:latin typeface="Rubik" pitchFamily="34" charset="0"/>
                <a:ea typeface="Rubik" pitchFamily="34" charset="-122"/>
                <a:cs typeface="Rubik" pitchFamily="34" charset="-120"/>
              </a:rPr>
              <a:t>Children, parents, the home and the classroom. This team holds most ATARI core demos and the memory and consent work.</a:t>
            </a:r>
            <a:endParaRPr lang="en-US" sz="1300" dirty="0"/>
          </a:p>
        </p:txBody>
      </p:sp>
      <p:sp>
        <p:nvSpPr>
          <p:cNvPr id="15" name="Shape 13"/>
          <p:cNvSpPr/>
          <p:nvPr/>
        </p:nvSpPr>
        <p:spPr>
          <a:xfrm>
            <a:off x="711121" y="3974548"/>
            <a:ext cx="5295962" cy="1366835"/>
          </a:xfrm>
          <a:prstGeom prst="roundRect">
            <a:avLst>
              <a:gd name="adj" fmla="val 9292"/>
            </a:avLst>
          </a:prstGeom>
          <a:solidFill>
            <a:srgbClr val="16202E"/>
          </a:solidFill>
          <a:ln/>
        </p:spPr>
        <p:txBody>
          <a:bodyPr/>
          <a:lstStyle/>
          <a:p>
            <a:endParaRPr/>
          </a:p>
        </p:txBody>
      </p:sp>
      <p:sp>
        <p:nvSpPr>
          <p:cNvPr id="16" name="Text 14"/>
          <p:cNvSpPr/>
          <p:nvPr/>
        </p:nvSpPr>
        <p:spPr>
          <a:xfrm>
            <a:off x="914310" y="4152289"/>
            <a:ext cx="5036271" cy="317499"/>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7F5F0"/>
                </a:solidFill>
                <a:latin typeface="Rubik" pitchFamily="34" charset="0"/>
                <a:ea typeface="Rubik" pitchFamily="34" charset="-122"/>
                <a:cs typeface="Rubik" pitchFamily="34" charset="-120"/>
              </a:rPr>
              <a:t>A lead per team, an owner per demo</a:t>
            </a:r>
            <a:endParaRPr lang="en-US" sz="2000" dirty="0"/>
          </a:p>
        </p:txBody>
      </p:sp>
      <p:sp>
        <p:nvSpPr>
          <p:cNvPr id="17" name="Text 15"/>
          <p:cNvSpPr/>
          <p:nvPr/>
        </p:nvSpPr>
        <p:spPr>
          <a:xfrm>
            <a:off x="914310" y="4495124"/>
            <a:ext cx="5036271" cy="693919"/>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5F0"/>
                </a:solidFill>
                <a:latin typeface="Rubik" pitchFamily="34" charset="0"/>
                <a:ea typeface="Rubik" pitchFamily="34" charset="-122"/>
                <a:cs typeface="Rubik" pitchFamily="34" charset="-120"/>
              </a:rPr>
              <a:t>Michael, Amir and Nizzan lead the teams. Each demo has a different owner from within the team, responsible for it from Monday until it is presented.</a:t>
            </a:r>
            <a:endParaRPr lang="en-US" sz="1300" dirty="0"/>
          </a:p>
        </p:txBody>
      </p:sp>
      <p:sp>
        <p:nvSpPr>
          <p:cNvPr id="18" name="Shape 16"/>
          <p:cNvSpPr/>
          <p:nvPr/>
        </p:nvSpPr>
        <p:spPr>
          <a:xfrm>
            <a:off x="6184823" y="3974548"/>
            <a:ext cx="5296042" cy="1366835"/>
          </a:xfrm>
          <a:prstGeom prst="roundRect">
            <a:avLst>
              <a:gd name="adj" fmla="val 9292"/>
            </a:avLst>
          </a:prstGeom>
          <a:solidFill>
            <a:srgbClr val="16202E"/>
          </a:solidFill>
          <a:ln/>
        </p:spPr>
        <p:txBody>
          <a:bodyPr/>
          <a:lstStyle/>
          <a:p>
            <a:endParaRPr/>
          </a:p>
        </p:txBody>
      </p:sp>
      <p:sp>
        <p:nvSpPr>
          <p:cNvPr id="19" name="Text 17"/>
          <p:cNvSpPr/>
          <p:nvPr/>
        </p:nvSpPr>
        <p:spPr>
          <a:xfrm>
            <a:off x="6388012" y="4152289"/>
            <a:ext cx="5036354" cy="317499"/>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7F5F0"/>
                </a:solidFill>
                <a:latin typeface="Rubik" pitchFamily="34" charset="0"/>
                <a:ea typeface="Rubik" pitchFamily="34" charset="-122"/>
                <a:cs typeface="Rubik" pitchFamily="34" charset="-120"/>
              </a:rPr>
              <a:t>At least one demo every week</a:t>
            </a:r>
            <a:endParaRPr lang="en-US" sz="2000" dirty="0"/>
          </a:p>
        </p:txBody>
      </p:sp>
      <p:sp>
        <p:nvSpPr>
          <p:cNvPr id="20" name="Text 18"/>
          <p:cNvSpPr/>
          <p:nvPr/>
        </p:nvSpPr>
        <p:spPr>
          <a:xfrm>
            <a:off x="6388012" y="4495124"/>
            <a:ext cx="5036354" cy="471079"/>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5F0"/>
                </a:solidFill>
                <a:latin typeface="Rubik" pitchFamily="34" charset="0"/>
                <a:ea typeface="Rubik" pitchFamily="34" charset="-122"/>
                <a:cs typeface="Rubik" pitchFamily="34" charset="-120"/>
              </a:rPr>
              <a:t>That is the minimum commitment. The target in the plan is a demo from each team every Friday.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607750" y="152951"/>
            <a:ext cx="11092837"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One week inside a team</a:t>
            </a:r>
            <a:endParaRPr lang="en-US" sz="3000" dirty="0"/>
          </a:p>
        </p:txBody>
      </p:sp>
      <p:sp>
        <p:nvSpPr>
          <p:cNvPr id="3" name="Shape 1"/>
          <p:cNvSpPr/>
          <p:nvPr/>
        </p:nvSpPr>
        <p:spPr>
          <a:xfrm>
            <a:off x="607750" y="800601"/>
            <a:ext cx="6655065" cy="657807"/>
          </a:xfrm>
          <a:prstGeom prst="roundRect">
            <a:avLst>
              <a:gd name="adj" fmla="val 13515"/>
            </a:avLst>
          </a:prstGeom>
          <a:solidFill>
            <a:srgbClr val="ECE8DF"/>
          </a:solidFill>
          <a:ln/>
        </p:spPr>
        <p:txBody>
          <a:bodyPr/>
          <a:lstStyle/>
          <a:p>
            <a:endParaRPr/>
          </a:p>
        </p:txBody>
      </p:sp>
      <p:sp>
        <p:nvSpPr>
          <p:cNvPr id="4" name="Text 2"/>
          <p:cNvSpPr/>
          <p:nvPr/>
        </p:nvSpPr>
        <p:spPr>
          <a:xfrm>
            <a:off x="772847" y="951662"/>
            <a:ext cx="876281"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02E"/>
                </a:solidFill>
                <a:latin typeface="Rubik" pitchFamily="34" charset="0"/>
                <a:ea typeface="Rubik" pitchFamily="34" charset="-122"/>
                <a:cs typeface="Rubik" pitchFamily="34" charset="-120"/>
              </a:rPr>
              <a:t>Sun</a:t>
            </a:r>
            <a:endParaRPr lang="en-US" sz="2000" dirty="0"/>
          </a:p>
        </p:txBody>
      </p:sp>
      <p:sp>
        <p:nvSpPr>
          <p:cNvPr id="5" name="Text 3"/>
          <p:cNvSpPr/>
          <p:nvPr/>
        </p:nvSpPr>
        <p:spPr>
          <a:xfrm>
            <a:off x="1750699" y="914852"/>
            <a:ext cx="5507432" cy="4546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02E"/>
                </a:solidFill>
                <a:latin typeface="Rubik" pitchFamily="34" charset="0"/>
                <a:ea typeface="Rubik" pitchFamily="34" charset="-122"/>
                <a:cs typeface="Rubik" pitchFamily="34" charset="-120"/>
              </a:rPr>
              <a:t>The owner pulls the idea. Fix the single example, the real input and an acceptance checklist together with the user.</a:t>
            </a:r>
            <a:endParaRPr lang="en-US" sz="1300" dirty="0"/>
          </a:p>
        </p:txBody>
      </p:sp>
      <p:sp>
        <p:nvSpPr>
          <p:cNvPr id="6" name="Shape 4"/>
          <p:cNvSpPr/>
          <p:nvPr/>
        </p:nvSpPr>
        <p:spPr>
          <a:xfrm>
            <a:off x="607750" y="1534572"/>
            <a:ext cx="6655065" cy="657807"/>
          </a:xfrm>
          <a:prstGeom prst="roundRect">
            <a:avLst>
              <a:gd name="adj" fmla="val 13515"/>
            </a:avLst>
          </a:prstGeom>
          <a:solidFill>
            <a:srgbClr val="ECE8DF"/>
          </a:solidFill>
          <a:ln/>
        </p:spPr>
        <p:txBody>
          <a:bodyPr/>
          <a:lstStyle/>
          <a:p>
            <a:endParaRPr/>
          </a:p>
        </p:txBody>
      </p:sp>
      <p:sp>
        <p:nvSpPr>
          <p:cNvPr id="7" name="Text 5"/>
          <p:cNvSpPr/>
          <p:nvPr/>
        </p:nvSpPr>
        <p:spPr>
          <a:xfrm>
            <a:off x="772847" y="1685682"/>
            <a:ext cx="876281"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02E"/>
                </a:solidFill>
                <a:latin typeface="Rubik" pitchFamily="34" charset="0"/>
                <a:ea typeface="Rubik" pitchFamily="34" charset="-122"/>
                <a:cs typeface="Rubik" pitchFamily="34" charset="-120"/>
              </a:rPr>
              <a:t>Mon</a:t>
            </a:r>
            <a:endParaRPr lang="en-US" sz="2000" dirty="0"/>
          </a:p>
        </p:txBody>
      </p:sp>
      <p:sp>
        <p:nvSpPr>
          <p:cNvPr id="8" name="Text 6"/>
          <p:cNvSpPr/>
          <p:nvPr/>
        </p:nvSpPr>
        <p:spPr>
          <a:xfrm>
            <a:off x="1750699" y="1648872"/>
            <a:ext cx="5507432" cy="4546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02E"/>
                </a:solidFill>
                <a:latin typeface="Rubik" pitchFamily="34" charset="0"/>
                <a:ea typeface="Rubik" pitchFamily="34" charset="-122"/>
                <a:cs typeface="Rubik" pitchFamily="34" charset="-120"/>
              </a:rPr>
              <a:t>Input side: understand the image, audio or video. Reuse shared skills first.</a:t>
            </a:r>
            <a:endParaRPr lang="en-US" sz="1300" dirty="0"/>
          </a:p>
        </p:txBody>
      </p:sp>
      <p:sp>
        <p:nvSpPr>
          <p:cNvPr id="9" name="Shape 7"/>
          <p:cNvSpPr/>
          <p:nvPr/>
        </p:nvSpPr>
        <p:spPr>
          <a:xfrm>
            <a:off x="607750" y="2268592"/>
            <a:ext cx="6655065" cy="657807"/>
          </a:xfrm>
          <a:prstGeom prst="roundRect">
            <a:avLst>
              <a:gd name="adj" fmla="val 13515"/>
            </a:avLst>
          </a:prstGeom>
          <a:solidFill>
            <a:srgbClr val="ECE8DF"/>
          </a:solidFill>
          <a:ln/>
        </p:spPr>
        <p:txBody>
          <a:bodyPr/>
          <a:lstStyle/>
          <a:p>
            <a:endParaRPr/>
          </a:p>
        </p:txBody>
      </p:sp>
      <p:sp>
        <p:nvSpPr>
          <p:cNvPr id="10" name="Text 8"/>
          <p:cNvSpPr/>
          <p:nvPr/>
        </p:nvSpPr>
        <p:spPr>
          <a:xfrm>
            <a:off x="772847" y="2419653"/>
            <a:ext cx="876281"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02E"/>
                </a:solidFill>
                <a:latin typeface="Rubik" pitchFamily="34" charset="0"/>
                <a:ea typeface="Rubik" pitchFamily="34" charset="-122"/>
                <a:cs typeface="Rubik" pitchFamily="34" charset="-120"/>
              </a:rPr>
              <a:t>Tue</a:t>
            </a:r>
            <a:endParaRPr lang="en-US" sz="2000" dirty="0"/>
          </a:p>
        </p:txBody>
      </p:sp>
      <p:sp>
        <p:nvSpPr>
          <p:cNvPr id="11" name="Text 9"/>
          <p:cNvSpPr/>
          <p:nvPr/>
        </p:nvSpPr>
        <p:spPr>
          <a:xfrm>
            <a:off x="1750699" y="2382843"/>
            <a:ext cx="5507432" cy="4546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02E"/>
                </a:solidFill>
                <a:latin typeface="Rubik" pitchFamily="34" charset="0"/>
                <a:ea typeface="Rubik" pitchFamily="34" charset="-122"/>
                <a:cs typeface="Rubik" pitchFamily="34" charset="-120"/>
              </a:rPr>
              <a:t>Output side: produce the result as something that can be edited and checked.</a:t>
            </a:r>
            <a:endParaRPr lang="en-US" sz="1300" dirty="0"/>
          </a:p>
        </p:txBody>
      </p:sp>
      <p:sp>
        <p:nvSpPr>
          <p:cNvPr id="12" name="Shape 10"/>
          <p:cNvSpPr/>
          <p:nvPr/>
        </p:nvSpPr>
        <p:spPr>
          <a:xfrm>
            <a:off x="607750" y="3002563"/>
            <a:ext cx="6655065" cy="657807"/>
          </a:xfrm>
          <a:prstGeom prst="roundRect">
            <a:avLst>
              <a:gd name="adj" fmla="val 13515"/>
            </a:avLst>
          </a:prstGeom>
          <a:solidFill>
            <a:srgbClr val="ECE8DF"/>
          </a:solidFill>
          <a:ln/>
        </p:spPr>
        <p:txBody>
          <a:bodyPr/>
          <a:lstStyle/>
          <a:p>
            <a:endParaRPr/>
          </a:p>
        </p:txBody>
      </p:sp>
      <p:sp>
        <p:nvSpPr>
          <p:cNvPr id="13" name="Text 11"/>
          <p:cNvSpPr/>
          <p:nvPr/>
        </p:nvSpPr>
        <p:spPr>
          <a:xfrm>
            <a:off x="772847" y="3153673"/>
            <a:ext cx="876281"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02E"/>
                </a:solidFill>
                <a:latin typeface="Rubik" pitchFamily="34" charset="0"/>
                <a:ea typeface="Rubik" pitchFamily="34" charset="-122"/>
                <a:cs typeface="Rubik" pitchFamily="34" charset="-120"/>
              </a:rPr>
              <a:t>Wed</a:t>
            </a:r>
            <a:endParaRPr lang="en-US" sz="2000" dirty="0"/>
          </a:p>
        </p:txBody>
      </p:sp>
      <p:sp>
        <p:nvSpPr>
          <p:cNvPr id="14" name="Text 12"/>
          <p:cNvSpPr/>
          <p:nvPr/>
        </p:nvSpPr>
        <p:spPr>
          <a:xfrm>
            <a:off x="1750699" y="3116863"/>
            <a:ext cx="5507432" cy="4546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02E"/>
                </a:solidFill>
                <a:latin typeface="Rubik" pitchFamily="34" charset="0"/>
                <a:ea typeface="Rubik" pitchFamily="34" charset="-122"/>
                <a:cs typeface="Rubik" pitchFamily="34" charset="-120"/>
              </a:rPr>
              <a:t>The user runs it. Visual acceptance check against the checklist. Fix and record.</a:t>
            </a:r>
            <a:endParaRPr lang="en-US" sz="1300" dirty="0"/>
          </a:p>
        </p:txBody>
      </p:sp>
      <p:sp>
        <p:nvSpPr>
          <p:cNvPr id="15" name="Shape 13"/>
          <p:cNvSpPr/>
          <p:nvPr/>
        </p:nvSpPr>
        <p:spPr>
          <a:xfrm>
            <a:off x="607750" y="3736583"/>
            <a:ext cx="6655065" cy="657807"/>
          </a:xfrm>
          <a:prstGeom prst="roundRect">
            <a:avLst>
              <a:gd name="adj" fmla="val 13515"/>
            </a:avLst>
          </a:prstGeom>
          <a:solidFill>
            <a:srgbClr val="16202E"/>
          </a:solidFill>
          <a:ln/>
        </p:spPr>
        <p:txBody>
          <a:bodyPr/>
          <a:lstStyle/>
          <a:p>
            <a:endParaRPr/>
          </a:p>
        </p:txBody>
      </p:sp>
      <p:sp>
        <p:nvSpPr>
          <p:cNvPr id="16" name="Text 14"/>
          <p:cNvSpPr/>
          <p:nvPr/>
        </p:nvSpPr>
        <p:spPr>
          <a:xfrm>
            <a:off x="772847" y="3887644"/>
            <a:ext cx="876281" cy="38096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7F5F0"/>
                </a:solidFill>
                <a:latin typeface="Rubik" pitchFamily="34" charset="0"/>
                <a:ea typeface="Rubik" pitchFamily="34" charset="-122"/>
                <a:cs typeface="Rubik" pitchFamily="34" charset="-120"/>
              </a:rPr>
              <a:t>Thu</a:t>
            </a:r>
            <a:endParaRPr lang="en-US" sz="2000" dirty="0"/>
          </a:p>
        </p:txBody>
      </p:sp>
      <p:sp>
        <p:nvSpPr>
          <p:cNvPr id="17" name="Text 15"/>
          <p:cNvSpPr/>
          <p:nvPr/>
        </p:nvSpPr>
        <p:spPr>
          <a:xfrm>
            <a:off x="1750699" y="3850834"/>
            <a:ext cx="5507432" cy="4546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7F5F0"/>
                </a:solidFill>
                <a:latin typeface="Rubik" pitchFamily="34" charset="0"/>
                <a:ea typeface="Rubik" pitchFamily="34" charset="-122"/>
                <a:cs typeface="Rubik" pitchFamily="34" charset="-120"/>
              </a:rPr>
              <a:t>A ten-minute live demo, presented by the owner. Score it on the card and decide: candidate to deepen, keep, or drop.</a:t>
            </a:r>
            <a:endParaRPr lang="en-US" sz="1300" dirty="0"/>
          </a:p>
        </p:txBody>
      </p:sp>
      <p:sp>
        <p:nvSpPr>
          <p:cNvPr id="18" name="Shape 16"/>
          <p:cNvSpPr/>
          <p:nvPr/>
        </p:nvSpPr>
        <p:spPr>
          <a:xfrm>
            <a:off x="7570734" y="803776"/>
            <a:ext cx="3803586" cy="3587430"/>
          </a:xfrm>
          <a:prstGeom prst="roundRect">
            <a:avLst>
              <a:gd name="adj" fmla="val 3452"/>
            </a:avLst>
          </a:prstGeom>
          <a:solidFill>
            <a:srgbClr val="FFFDF8"/>
          </a:solidFill>
          <a:ln w="6350">
            <a:solidFill>
              <a:srgbClr val="D9D3C7"/>
            </a:solidFill>
            <a:prstDash val="solid"/>
          </a:ln>
        </p:spPr>
        <p:txBody>
          <a:bodyPr/>
          <a:lstStyle/>
          <a:p>
            <a:endParaRPr/>
          </a:p>
        </p:txBody>
      </p:sp>
      <p:sp>
        <p:nvSpPr>
          <p:cNvPr id="19" name="Text 17"/>
          <p:cNvSpPr/>
          <p:nvPr/>
        </p:nvSpPr>
        <p:spPr>
          <a:xfrm>
            <a:off x="7775902" y="1008961"/>
            <a:ext cx="3495047"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6202E"/>
                </a:solidFill>
                <a:latin typeface="Rubik" pitchFamily="34" charset="0"/>
                <a:ea typeface="Rubik" pitchFamily="34" charset="-122"/>
                <a:cs typeface="Rubik" pitchFamily="34" charset="-120"/>
              </a:rPr>
              <a:t>The Thursday scorecard</a:t>
            </a:r>
            <a:endParaRPr lang="en-US" sz="2000" dirty="0"/>
          </a:p>
        </p:txBody>
      </p:sp>
      <p:sp>
        <p:nvSpPr>
          <p:cNvPr id="20" name="Text 18"/>
          <p:cNvSpPr/>
          <p:nvPr/>
        </p:nvSpPr>
        <p:spPr>
          <a:xfrm>
            <a:off x="7823146" y="1377162"/>
            <a:ext cx="3441707" cy="1874477"/>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16202E"/>
                </a:solidFill>
                <a:latin typeface="Rubik" pitchFamily="34" charset="0"/>
                <a:ea typeface="Rubik" pitchFamily="34" charset="-122"/>
                <a:cs typeface="Rubik" pitchFamily="34" charset="-120"/>
              </a:rPr>
              <a:t>Did the example complete end to end, live?</a:t>
            </a:r>
            <a:endParaRPr lang="en-US" sz="1300" dirty="0"/>
          </a:p>
          <a:p>
            <a:pPr marL="155956" indent="-155956" algn="l">
              <a:lnSpc>
                <a:spcPts val="1820"/>
              </a:lnSpc>
              <a:buSzPct val="100000"/>
              <a:buChar char="•"/>
            </a:pPr>
            <a:r>
              <a:rPr lang="en-US" sz="1300" dirty="0">
                <a:solidFill>
                  <a:srgbClr val="16202E"/>
                </a:solidFill>
                <a:latin typeface="Rubik" pitchFamily="34" charset="0"/>
                <a:ea typeface="Rubik" pitchFamily="34" charset="-122"/>
                <a:cs typeface="Rubik" pitchFamily="34" charset="-120"/>
              </a:rPr>
              <a:t>Minutes from input to a usable result</a:t>
            </a:r>
            <a:endParaRPr lang="en-US" sz="1300" dirty="0"/>
          </a:p>
          <a:p>
            <a:pPr marL="155956" indent="-155956" algn="l">
              <a:lnSpc>
                <a:spcPts val="1820"/>
              </a:lnSpc>
              <a:buSzPct val="100000"/>
              <a:buChar char="•"/>
            </a:pPr>
            <a:r>
              <a:rPr lang="en-US" sz="1300" dirty="0">
                <a:solidFill>
                  <a:srgbClr val="16202E"/>
                </a:solidFill>
                <a:latin typeface="Rubik" pitchFamily="34" charset="0"/>
                <a:ea typeface="Rubik" pitchFamily="34" charset="-122"/>
                <a:cs typeface="Rubik" pitchFamily="34" charset="-120"/>
              </a:rPr>
              <a:t>How many times a person had to step in</a:t>
            </a:r>
            <a:endParaRPr lang="en-US" sz="1300" dirty="0"/>
          </a:p>
          <a:p>
            <a:pPr marL="155956" indent="-155956" algn="l">
              <a:lnSpc>
                <a:spcPts val="1820"/>
              </a:lnSpc>
              <a:buSzPct val="100000"/>
              <a:buChar char="•"/>
            </a:pPr>
            <a:r>
              <a:rPr lang="en-US" sz="1300" dirty="0">
                <a:solidFill>
                  <a:srgbClr val="16202E"/>
                </a:solidFill>
                <a:latin typeface="Rubik" pitchFamily="34" charset="0"/>
                <a:ea typeface="Rubik" pitchFamily="34" charset="-122"/>
                <a:cs typeface="Rubik" pitchFamily="34" charset="-120"/>
              </a:rPr>
              <a:t>Would the user delegate this again?</a:t>
            </a:r>
            <a:endParaRPr lang="en-US" sz="1300" dirty="0"/>
          </a:p>
          <a:p>
            <a:pPr marL="155956" indent="-155956" algn="l">
              <a:lnSpc>
                <a:spcPts val="1820"/>
              </a:lnSpc>
              <a:buSzPct val="100000"/>
              <a:buChar char="•"/>
            </a:pPr>
            <a:r>
              <a:rPr lang="en-US" sz="1300" dirty="0">
                <a:solidFill>
                  <a:srgbClr val="16202E"/>
                </a:solidFill>
                <a:latin typeface="Rubik" pitchFamily="34" charset="0"/>
                <a:ea typeface="Rubik" pitchFamily="34" charset="-122"/>
                <a:cs typeface="Rubik" pitchFamily="34" charset="-120"/>
              </a:rPr>
              <a:t>Did anyone ask to share the output?</a:t>
            </a:r>
            <a:endParaRPr lang="en-US" sz="1300" dirty="0"/>
          </a:p>
          <a:p>
            <a:pPr marL="155956" indent="-155956" algn="l">
              <a:lnSpc>
                <a:spcPts val="1820"/>
              </a:lnSpc>
              <a:buSzPct val="100000"/>
              <a:buChar char="•"/>
            </a:pPr>
            <a:r>
              <a:rPr lang="en-US" sz="1300" dirty="0">
                <a:solidFill>
                  <a:srgbClr val="16202E"/>
                </a:solidFill>
                <a:latin typeface="Rubik" pitchFamily="34" charset="0"/>
                <a:ea typeface="Rubik" pitchFamily="34" charset="-122"/>
                <a:cs typeface="Rubik" pitchFamily="34" charset="-120"/>
              </a:rPr>
              <a:t>Which parts are usable for ATARI and other teams?</a:t>
            </a:r>
            <a:endParaRPr lang="en-US" sz="1300" dirty="0"/>
          </a:p>
        </p:txBody>
      </p:sp>
      <p:sp>
        <p:nvSpPr>
          <p:cNvPr id="21" name="Text 19"/>
          <p:cNvSpPr/>
          <p:nvPr/>
        </p:nvSpPr>
        <p:spPr>
          <a:xfrm>
            <a:off x="7775902" y="3315053"/>
            <a:ext cx="3495047" cy="619504"/>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Rubik" pitchFamily="34" charset="0"/>
                <a:ea typeface="Rubik" pitchFamily="34" charset="-122"/>
                <a:cs typeface="Rubik" pitchFamily="34" charset="-120"/>
              </a:rPr>
              <a:t>The same six lines for every demo, to compare teams and correct the buzz, impact and ATARI scores from evidence.</a:t>
            </a:r>
            <a:endParaRPr lang="en-US" sz="1200" dirty="0"/>
          </a:p>
        </p:txBody>
      </p:sp>
      <p:sp>
        <p:nvSpPr>
          <p:cNvPr id="23" name="TextBox 22">
            <a:extLst>
              <a:ext uri="{FF2B5EF4-FFF2-40B4-BE49-F238E27FC236}">
                <a16:creationId xmlns:a16="http://schemas.microsoft.com/office/drawing/2014/main" id="{93411226-5092-5844-90FB-544538D149AC}"/>
              </a:ext>
            </a:extLst>
          </p:cNvPr>
          <p:cNvSpPr txBox="1"/>
          <p:nvPr/>
        </p:nvSpPr>
        <p:spPr>
          <a:xfrm>
            <a:off x="4574981" y="4618405"/>
            <a:ext cx="2282025" cy="369332"/>
          </a:xfrm>
          <a:prstGeom prst="rect">
            <a:avLst/>
          </a:prstGeom>
          <a:noFill/>
        </p:spPr>
        <p:txBody>
          <a:bodyPr wrap="square" rtlCol="0">
            <a:spAutoFit/>
          </a:bodyPr>
          <a:lstStyle/>
          <a:p>
            <a:r>
              <a:rPr lang="en-US" dirty="0"/>
              <a:t>WW1</a:t>
            </a:r>
          </a:p>
        </p:txBody>
      </p:sp>
      <p:sp>
        <p:nvSpPr>
          <p:cNvPr id="25" name="TextBox 24">
            <a:extLst>
              <a:ext uri="{FF2B5EF4-FFF2-40B4-BE49-F238E27FC236}">
                <a16:creationId xmlns:a16="http://schemas.microsoft.com/office/drawing/2014/main" id="{D7EC9049-0905-8654-BD86-8066C0358252}"/>
              </a:ext>
            </a:extLst>
          </p:cNvPr>
          <p:cNvSpPr txBox="1"/>
          <p:nvPr/>
        </p:nvSpPr>
        <p:spPr>
          <a:xfrm>
            <a:off x="5862429" y="4615778"/>
            <a:ext cx="2282025" cy="369332"/>
          </a:xfrm>
          <a:prstGeom prst="rect">
            <a:avLst/>
          </a:prstGeom>
          <a:noFill/>
        </p:spPr>
        <p:txBody>
          <a:bodyPr wrap="square" rtlCol="0">
            <a:spAutoFit/>
          </a:bodyPr>
          <a:lstStyle/>
          <a:p>
            <a:r>
              <a:rPr lang="en-US" dirty="0"/>
              <a:t>WW2</a:t>
            </a:r>
          </a:p>
        </p:txBody>
      </p:sp>
      <p:sp>
        <p:nvSpPr>
          <p:cNvPr id="26" name="TextBox 25">
            <a:extLst>
              <a:ext uri="{FF2B5EF4-FFF2-40B4-BE49-F238E27FC236}">
                <a16:creationId xmlns:a16="http://schemas.microsoft.com/office/drawing/2014/main" id="{C7CC9056-922B-2D59-080C-519F44A93AB5}"/>
              </a:ext>
            </a:extLst>
          </p:cNvPr>
          <p:cNvSpPr txBox="1"/>
          <p:nvPr/>
        </p:nvSpPr>
        <p:spPr>
          <a:xfrm>
            <a:off x="7408296" y="4619731"/>
            <a:ext cx="2282025" cy="369332"/>
          </a:xfrm>
          <a:prstGeom prst="rect">
            <a:avLst/>
          </a:prstGeom>
          <a:noFill/>
        </p:spPr>
        <p:txBody>
          <a:bodyPr wrap="square" rtlCol="0">
            <a:spAutoFit/>
          </a:bodyPr>
          <a:lstStyle/>
          <a:p>
            <a:r>
              <a:rPr lang="en-US" dirty="0"/>
              <a:t>WW3</a:t>
            </a:r>
          </a:p>
        </p:txBody>
      </p:sp>
      <p:sp>
        <p:nvSpPr>
          <p:cNvPr id="27" name="TextBox 26">
            <a:extLst>
              <a:ext uri="{FF2B5EF4-FFF2-40B4-BE49-F238E27FC236}">
                <a16:creationId xmlns:a16="http://schemas.microsoft.com/office/drawing/2014/main" id="{30C2D30D-FE6F-FAA4-FCAB-84A1441BAE78}"/>
              </a:ext>
            </a:extLst>
          </p:cNvPr>
          <p:cNvSpPr txBox="1"/>
          <p:nvPr/>
        </p:nvSpPr>
        <p:spPr>
          <a:xfrm>
            <a:off x="8885583" y="4654144"/>
            <a:ext cx="2282025" cy="369332"/>
          </a:xfrm>
          <a:prstGeom prst="rect">
            <a:avLst/>
          </a:prstGeom>
          <a:noFill/>
        </p:spPr>
        <p:txBody>
          <a:bodyPr wrap="square" rtlCol="0">
            <a:spAutoFit/>
          </a:bodyPr>
          <a:lstStyle/>
          <a:p>
            <a:r>
              <a:rPr lang="en-US" dirty="0"/>
              <a:t>WW4</a:t>
            </a:r>
          </a:p>
        </p:txBody>
      </p:sp>
      <p:sp>
        <p:nvSpPr>
          <p:cNvPr id="29" name="TextBox 28">
            <a:extLst>
              <a:ext uri="{FF2B5EF4-FFF2-40B4-BE49-F238E27FC236}">
                <a16:creationId xmlns:a16="http://schemas.microsoft.com/office/drawing/2014/main" id="{3F344FFF-F3D1-AF8E-927D-5817FB74BC95}"/>
              </a:ext>
            </a:extLst>
          </p:cNvPr>
          <p:cNvSpPr txBox="1"/>
          <p:nvPr/>
        </p:nvSpPr>
        <p:spPr>
          <a:xfrm>
            <a:off x="1512736" y="5151555"/>
            <a:ext cx="2399306" cy="369332"/>
          </a:xfrm>
          <a:prstGeom prst="rect">
            <a:avLst/>
          </a:prstGeom>
          <a:noFill/>
        </p:spPr>
        <p:txBody>
          <a:bodyPr wrap="square">
            <a:spAutoFit/>
          </a:bodyPr>
          <a:lstStyle/>
          <a:p>
            <a:r>
              <a:rPr lang="en-US" sz="1800" b="1" dirty="0">
                <a:solidFill>
                  <a:srgbClr val="FF0000"/>
                </a:solidFill>
                <a:latin typeface="Rubik" pitchFamily="34" charset="0"/>
                <a:ea typeface="Rubik" pitchFamily="34" charset="-122"/>
                <a:cs typeface="Rubik" pitchFamily="34" charset="-120"/>
              </a:rPr>
              <a:t>Business &amp; Research </a:t>
            </a:r>
            <a:endParaRPr lang="en-US" dirty="0">
              <a:solidFill>
                <a:srgbClr val="FF0000"/>
              </a:solidFill>
            </a:endParaRPr>
          </a:p>
        </p:txBody>
      </p:sp>
      <p:sp>
        <p:nvSpPr>
          <p:cNvPr id="31" name="TextBox 30">
            <a:extLst>
              <a:ext uri="{FF2B5EF4-FFF2-40B4-BE49-F238E27FC236}">
                <a16:creationId xmlns:a16="http://schemas.microsoft.com/office/drawing/2014/main" id="{9173619F-6CB3-6FA0-D3F4-CC3E87D450D0}"/>
              </a:ext>
            </a:extLst>
          </p:cNvPr>
          <p:cNvSpPr txBox="1"/>
          <p:nvPr/>
        </p:nvSpPr>
        <p:spPr>
          <a:xfrm>
            <a:off x="1512736" y="5773489"/>
            <a:ext cx="2701456" cy="369332"/>
          </a:xfrm>
          <a:prstGeom prst="rect">
            <a:avLst/>
          </a:prstGeom>
          <a:noFill/>
        </p:spPr>
        <p:txBody>
          <a:bodyPr wrap="square">
            <a:spAutoFit/>
          </a:bodyPr>
          <a:lstStyle/>
          <a:p>
            <a:r>
              <a:rPr lang="en-US" sz="1800" b="1" dirty="0">
                <a:solidFill>
                  <a:srgbClr val="FF0000"/>
                </a:solidFill>
                <a:latin typeface="Rubik" pitchFamily="34" charset="0"/>
                <a:ea typeface="Rubik" pitchFamily="34" charset="-122"/>
                <a:cs typeface="Rubik" pitchFamily="34" charset="-120"/>
              </a:rPr>
              <a:t>Media &amp; Sport </a:t>
            </a:r>
            <a:endParaRPr lang="en-US" dirty="0">
              <a:solidFill>
                <a:srgbClr val="FF0000"/>
              </a:solidFill>
            </a:endParaRPr>
          </a:p>
        </p:txBody>
      </p:sp>
      <p:sp>
        <p:nvSpPr>
          <p:cNvPr id="33" name="TextBox 32">
            <a:extLst>
              <a:ext uri="{FF2B5EF4-FFF2-40B4-BE49-F238E27FC236}">
                <a16:creationId xmlns:a16="http://schemas.microsoft.com/office/drawing/2014/main" id="{EBABDA2C-E616-69D1-32E6-C30F734E7C06}"/>
              </a:ext>
            </a:extLst>
          </p:cNvPr>
          <p:cNvSpPr txBox="1"/>
          <p:nvPr/>
        </p:nvSpPr>
        <p:spPr>
          <a:xfrm>
            <a:off x="1532614" y="6279321"/>
            <a:ext cx="2538454" cy="369332"/>
          </a:xfrm>
          <a:prstGeom prst="rect">
            <a:avLst/>
          </a:prstGeom>
          <a:noFill/>
        </p:spPr>
        <p:txBody>
          <a:bodyPr wrap="square">
            <a:spAutoFit/>
          </a:bodyPr>
          <a:lstStyle/>
          <a:p>
            <a:r>
              <a:rPr lang="en-US" sz="1800" b="1" dirty="0">
                <a:solidFill>
                  <a:srgbClr val="FF0000"/>
                </a:solidFill>
                <a:latin typeface="Rubik" pitchFamily="34" charset="0"/>
                <a:ea typeface="Rubik" pitchFamily="34" charset="-122"/>
                <a:cs typeface="Rubik" pitchFamily="34" charset="-120"/>
              </a:rPr>
              <a:t>Family &amp; Learning </a:t>
            </a:r>
            <a:endParaRPr lang="en-US" dirty="0">
              <a:solidFill>
                <a:srgbClr val="FF0000"/>
              </a:solidFill>
            </a:endParaRPr>
          </a:p>
        </p:txBody>
      </p:sp>
      <p:sp>
        <p:nvSpPr>
          <p:cNvPr id="34" name="Rectangle 33">
            <a:extLst>
              <a:ext uri="{FF2B5EF4-FFF2-40B4-BE49-F238E27FC236}">
                <a16:creationId xmlns:a16="http://schemas.microsoft.com/office/drawing/2014/main" id="{4CE0BAFC-D778-31C4-C088-455FBF34A3E8}"/>
              </a:ext>
            </a:extLst>
          </p:cNvPr>
          <p:cNvSpPr/>
          <p:nvPr/>
        </p:nvSpPr>
        <p:spPr>
          <a:xfrm>
            <a:off x="4711148" y="6386263"/>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78D7AE4-8580-DE4D-5688-A8CA00207C9B}"/>
              </a:ext>
            </a:extLst>
          </p:cNvPr>
          <p:cNvSpPr/>
          <p:nvPr/>
        </p:nvSpPr>
        <p:spPr>
          <a:xfrm>
            <a:off x="4711148" y="5187795"/>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54C4474-917B-8558-627E-AFB28041E705}"/>
              </a:ext>
            </a:extLst>
          </p:cNvPr>
          <p:cNvSpPr/>
          <p:nvPr/>
        </p:nvSpPr>
        <p:spPr>
          <a:xfrm>
            <a:off x="7607410" y="6304077"/>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738E096-A380-36C6-21D5-CD25E057270D}"/>
              </a:ext>
            </a:extLst>
          </p:cNvPr>
          <p:cNvSpPr/>
          <p:nvPr/>
        </p:nvSpPr>
        <p:spPr>
          <a:xfrm>
            <a:off x="6038021" y="5785906"/>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950CDC0-C965-847D-8653-F227E28318FD}"/>
              </a:ext>
            </a:extLst>
          </p:cNvPr>
          <p:cNvSpPr/>
          <p:nvPr/>
        </p:nvSpPr>
        <p:spPr>
          <a:xfrm>
            <a:off x="7607410" y="5785906"/>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32455B1-9C98-E31B-AF87-A2FB32E69E1D}"/>
              </a:ext>
            </a:extLst>
          </p:cNvPr>
          <p:cNvSpPr/>
          <p:nvPr/>
        </p:nvSpPr>
        <p:spPr>
          <a:xfrm>
            <a:off x="7607410" y="5169675"/>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FBFD77D-6287-D92A-512A-B668A1E1B36D}"/>
              </a:ext>
            </a:extLst>
          </p:cNvPr>
          <p:cNvSpPr/>
          <p:nvPr/>
        </p:nvSpPr>
        <p:spPr>
          <a:xfrm>
            <a:off x="9141352" y="6365467"/>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C2D0740-5C25-2836-A959-B115B3E729A5}"/>
              </a:ext>
            </a:extLst>
          </p:cNvPr>
          <p:cNvSpPr/>
          <p:nvPr/>
        </p:nvSpPr>
        <p:spPr>
          <a:xfrm>
            <a:off x="9141352" y="5182061"/>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24F0C0FA-58F2-BE7A-21DA-19AC585D512C}"/>
              </a:ext>
            </a:extLst>
          </p:cNvPr>
          <p:cNvSpPr/>
          <p:nvPr/>
        </p:nvSpPr>
        <p:spPr>
          <a:xfrm>
            <a:off x="9141352" y="5785906"/>
            <a:ext cx="262394" cy="262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3221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121" y="507932"/>
            <a:ext cx="11092837"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All 50 by team: rank, name and score out of 30</a:t>
            </a:r>
            <a:endParaRPr lang="en-US" sz="3000" dirty="0"/>
          </a:p>
        </p:txBody>
      </p:sp>
      <p:sp>
        <p:nvSpPr>
          <p:cNvPr id="3" name="Text 1"/>
          <p:cNvSpPr/>
          <p:nvPr/>
        </p:nvSpPr>
        <p:spPr>
          <a:xfrm>
            <a:off x="711121" y="1104773"/>
            <a:ext cx="3523250" cy="223515"/>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F766E"/>
                </a:solidFill>
                <a:latin typeface="Rubik" pitchFamily="34" charset="0"/>
                <a:ea typeface="Rubik" pitchFamily="34" charset="-122"/>
                <a:cs typeface="Rubik" pitchFamily="34" charset="-120"/>
              </a:rPr>
              <a:t>Business &amp; Research · Michael · 16</a:t>
            </a:r>
            <a:endParaRPr lang="en-US" sz="1300" dirty="0"/>
          </a:p>
        </p:txBody>
      </p:sp>
      <p:sp>
        <p:nvSpPr>
          <p:cNvPr id="4" name="Text 2"/>
          <p:cNvSpPr/>
          <p:nvPr/>
        </p:nvSpPr>
        <p:spPr>
          <a:xfrm>
            <a:off x="711121" y="1366351"/>
            <a:ext cx="3523250" cy="3193957"/>
          </a:xfrm>
          <a:prstGeom prst="rect">
            <a:avLst/>
          </a:prstGeom>
          <a:noFill/>
          <a:ln/>
        </p:spPr>
        <p:txBody>
          <a:bodyPr wrap="square" lIns="0" tIns="0" rIns="0" bIns="0" rtlCol="0" anchor="t">
            <a:noAutofit/>
          </a:bodyPr>
          <a:lstStyle/>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 · Bug Video-to-Fix (new) · 23</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 · Visual acceptance service · 23</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5 · Figure and evidence auditor · 22</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9 · Paper-to-Code (new) · 21</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12 · Live Meeting Copilot · 20</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13 · Call-to-demo · 20</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17 · PersonaQA · 20</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21 · Whiteboard-to-Spec (new) · 19</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24 · One-Person Studio · 18</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32 · Design Critic · 17</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42 · Screenshot-to-Guide · 16</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43 · Receipt-to-Books (new) · 15</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46 · Dashboard Narrator (new) · 15</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47 · Front desk agent · 14</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49 · Sales Call Coach · 14</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50 · Hiring Screener · 9</a:t>
            </a:r>
            <a:endParaRPr lang="en-US" sz="1400" dirty="0"/>
          </a:p>
        </p:txBody>
      </p:sp>
      <p:sp>
        <p:nvSpPr>
          <p:cNvPr id="5" name="Text 3"/>
          <p:cNvSpPr/>
          <p:nvPr/>
        </p:nvSpPr>
        <p:spPr>
          <a:xfrm>
            <a:off x="4385678" y="1104773"/>
            <a:ext cx="3523250" cy="223515"/>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D4ED8"/>
                </a:solidFill>
                <a:latin typeface="Rubik" pitchFamily="34" charset="0"/>
                <a:ea typeface="Rubik" pitchFamily="34" charset="-122"/>
                <a:cs typeface="Rubik" pitchFamily="34" charset="-120"/>
              </a:rPr>
              <a:t>Media &amp; Sport · Amir · 16</a:t>
            </a:r>
            <a:endParaRPr lang="en-US" sz="1300" dirty="0"/>
          </a:p>
        </p:txBody>
      </p:sp>
      <p:sp>
        <p:nvSpPr>
          <p:cNvPr id="6" name="Text 4"/>
          <p:cNvSpPr/>
          <p:nvPr/>
        </p:nvSpPr>
        <p:spPr>
          <a:xfrm>
            <a:off x="4385678" y="1366351"/>
            <a:ext cx="3523250" cy="3193957"/>
          </a:xfrm>
          <a:prstGeom prst="rect">
            <a:avLst/>
          </a:prstGeom>
          <a:noFill/>
          <a:ln/>
        </p:spPr>
        <p:txBody>
          <a:bodyPr wrap="square" lIns="0" tIns="0" rIns="0" bIns="0" rtlCol="0" anchor="t">
            <a:noAutofit/>
          </a:bodyPr>
          <a:lstStyle/>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7 · What I Did Today · 21</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8 · Watch-Along Commentator (new) · 21</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11 · Sport Form Coach · 21</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14 · The Gang Edition · 20</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15 · The Referee · 20</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16 · Rep Counter (new) · 20</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18 · Repo-to-Launch Video (new) · 20</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19 · Video Clipper · 19</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20 · Dynamic Training Coach · 19</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26 · Text-based Video Editor · 18</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28 · Choreographer · 17</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31 · News-to-Explainer (new) · 17</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35 · Talking Avatar Reply · 16</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39 · Real-time Voice Translator · 16</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40 · My Director · 16</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44 · Document-to-Podcast · 15</a:t>
            </a:r>
            <a:endParaRPr lang="en-US" sz="1400" dirty="0"/>
          </a:p>
        </p:txBody>
      </p:sp>
      <p:sp>
        <p:nvSpPr>
          <p:cNvPr id="7" name="Text 5"/>
          <p:cNvSpPr/>
          <p:nvPr/>
        </p:nvSpPr>
        <p:spPr>
          <a:xfrm>
            <a:off x="8060235" y="1104773"/>
            <a:ext cx="3523250" cy="223515"/>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C2410C"/>
                </a:solidFill>
                <a:latin typeface="Rubik" pitchFamily="34" charset="0"/>
                <a:ea typeface="Rubik" pitchFamily="34" charset="-122"/>
                <a:cs typeface="Rubik" pitchFamily="34" charset="-120"/>
              </a:rPr>
              <a:t>Family &amp; Learning · Nizzan · 19</a:t>
            </a:r>
            <a:endParaRPr lang="en-US" sz="1300" dirty="0"/>
          </a:p>
        </p:txBody>
      </p:sp>
      <p:sp>
        <p:nvSpPr>
          <p:cNvPr id="8" name="Text 6"/>
          <p:cNvSpPr/>
          <p:nvPr/>
        </p:nvSpPr>
        <p:spPr>
          <a:xfrm>
            <a:off x="8060235" y="1366351"/>
            <a:ext cx="3523250" cy="3789473"/>
          </a:xfrm>
          <a:prstGeom prst="rect">
            <a:avLst/>
          </a:prstGeom>
          <a:noFill/>
          <a:ln/>
        </p:spPr>
        <p:txBody>
          <a:bodyPr wrap="square" lIns="0" tIns="0" rIns="0" bIns="0" rtlCol="0" anchor="t">
            <a:noAutofit/>
          </a:bodyPr>
          <a:lstStyle/>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First · Inkwell (added) · 19</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 · Camera Companion · 23</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 · Living Drawing · 22</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6 · Listen to the Machine · 22</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10 · Fridge-to-Table (new) · 21</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22 · Lecture-to-Notes · 19</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23 · Classroom Assistant · 19</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25 · Homework Buddy (new) · 18</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27 · My Closet · 17</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29 · Dress Rehearsal · 17</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30 · Voices of Home · 17</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33 · New Room · 17</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34 · Second-Hand Inspector · 17</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36 · Street Language · 16</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37 · Practice coach · 16</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38 · Damage Assessor · 16</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41 · Paper-to-action · 16</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45 · Form Filler · 15</a:t>
            </a:r>
            <a:endParaRPr lang="en-US" sz="1400" dirty="0"/>
          </a:p>
          <a:p>
            <a:pPr marL="0" indent="0" algn="l">
              <a:lnSpc>
                <a:spcPts val="1560"/>
              </a:lnSpc>
              <a:buNone/>
            </a:pPr>
            <a:r>
              <a:rPr lang="en-US" sz="1400" dirty="0">
                <a:solidFill>
                  <a:srgbClr val="16202E"/>
                </a:solidFill>
                <a:latin typeface="Rubik" pitchFamily="34" charset="0"/>
                <a:ea typeface="Rubik" pitchFamily="34" charset="-122"/>
                <a:cs typeface="Rubik" pitchFamily="34" charset="-120"/>
              </a:rPr>
              <a:t>48 · Bedtime Story · 14</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711121" y="609566"/>
            <a:ext cx="11092837"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The ten biggest bets</a:t>
            </a:r>
            <a:endParaRPr lang="en-US" sz="3000" dirty="0"/>
          </a:p>
        </p:txBody>
      </p:sp>
      <p:graphicFrame>
        <p:nvGraphicFramePr>
          <p:cNvPr id="3" name="Table 0"/>
          <p:cNvGraphicFramePr>
            <a:graphicFrameLocks noGrp="1"/>
          </p:cNvGraphicFramePr>
          <p:nvPr/>
        </p:nvGraphicFramePr>
        <p:xfrm>
          <a:off x="721430" y="1242165"/>
          <a:ext cx="10759275" cy="3632112"/>
        </p:xfrm>
        <a:graphic>
          <a:graphicData uri="http://schemas.openxmlformats.org/drawingml/2006/table">
            <a:tbl>
              <a:tblPr/>
              <a:tblGrid>
                <a:gridCol w="753149">
                  <a:extLst>
                    <a:ext uri="{9D8B030D-6E8A-4147-A177-3AD203B41FA5}">
                      <a16:colId xmlns:a16="http://schemas.microsoft.com/office/drawing/2014/main" val="20000"/>
                    </a:ext>
                  </a:extLst>
                </a:gridCol>
                <a:gridCol w="2689819">
                  <a:extLst>
                    <a:ext uri="{9D8B030D-6E8A-4147-A177-3AD203B41FA5}">
                      <a16:colId xmlns:a16="http://schemas.microsoft.com/office/drawing/2014/main" val="20001"/>
                    </a:ext>
                  </a:extLst>
                </a:gridCol>
                <a:gridCol w="2044262">
                  <a:extLst>
                    <a:ext uri="{9D8B030D-6E8A-4147-A177-3AD203B41FA5}">
                      <a16:colId xmlns:a16="http://schemas.microsoft.com/office/drawing/2014/main" val="20002"/>
                    </a:ext>
                  </a:extLst>
                </a:gridCol>
                <a:gridCol w="860742">
                  <a:extLst>
                    <a:ext uri="{9D8B030D-6E8A-4147-A177-3AD203B41FA5}">
                      <a16:colId xmlns:a16="http://schemas.microsoft.com/office/drawing/2014/main" val="20003"/>
                    </a:ext>
                  </a:extLst>
                </a:gridCol>
                <a:gridCol w="860742">
                  <a:extLst>
                    <a:ext uri="{9D8B030D-6E8A-4147-A177-3AD203B41FA5}">
                      <a16:colId xmlns:a16="http://schemas.microsoft.com/office/drawing/2014/main" val="20004"/>
                    </a:ext>
                  </a:extLst>
                </a:gridCol>
                <a:gridCol w="860742">
                  <a:extLst>
                    <a:ext uri="{9D8B030D-6E8A-4147-A177-3AD203B41FA5}">
                      <a16:colId xmlns:a16="http://schemas.microsoft.com/office/drawing/2014/main" val="20005"/>
                    </a:ext>
                  </a:extLst>
                </a:gridCol>
                <a:gridCol w="968335">
                  <a:extLst>
                    <a:ext uri="{9D8B030D-6E8A-4147-A177-3AD203B41FA5}">
                      <a16:colId xmlns:a16="http://schemas.microsoft.com/office/drawing/2014/main" val="20006"/>
                    </a:ext>
                  </a:extLst>
                </a:gridCol>
                <a:gridCol w="860742">
                  <a:extLst>
                    <a:ext uri="{9D8B030D-6E8A-4147-A177-3AD203B41FA5}">
                      <a16:colId xmlns:a16="http://schemas.microsoft.com/office/drawing/2014/main" val="20007"/>
                    </a:ext>
                  </a:extLst>
                </a:gridCol>
                <a:gridCol w="860742">
                  <a:extLst>
                    <a:ext uri="{9D8B030D-6E8A-4147-A177-3AD203B41FA5}">
                      <a16:colId xmlns:a16="http://schemas.microsoft.com/office/drawing/2014/main" val="20008"/>
                    </a:ext>
                  </a:extLst>
                </a:gridCol>
              </a:tblGrid>
              <a:tr h="330192">
                <a:tc>
                  <a:txBody>
                    <a:bodyPr/>
                    <a:lstStyle/>
                    <a:p>
                      <a:pPr marL="0" indent="0" algn="ctr">
                        <a:lnSpc>
                          <a:spcPts val="1680"/>
                        </a:lnSpc>
                        <a:buNone/>
                      </a:pPr>
                      <a:r>
                        <a:rPr lang="en-US" sz="1200" b="1" dirty="0">
                          <a:solidFill>
                            <a:srgbClr val="F7F5F0"/>
                          </a:solidFill>
                          <a:latin typeface="Rubik" pitchFamily="34" charset="0"/>
                          <a:ea typeface="Rubik" pitchFamily="34" charset="-122"/>
                          <a:cs typeface="Rubik" pitchFamily="34" charset="-120"/>
                        </a:rPr>
                        <a:t>Rank</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nSpc>
                          <a:spcPts val="1680"/>
                        </a:lnSpc>
                        <a:buNone/>
                      </a:pPr>
                      <a:r>
                        <a:rPr lang="en-US" sz="1200" b="1" dirty="0">
                          <a:solidFill>
                            <a:srgbClr val="F7F5F0"/>
                          </a:solidFill>
                          <a:latin typeface="Rubik" pitchFamily="34" charset="0"/>
                          <a:ea typeface="Rubik" pitchFamily="34" charset="-122"/>
                          <a:cs typeface="Rubik" pitchFamily="34" charset="-120"/>
                        </a:rPr>
                        <a:t>Idea</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nSpc>
                          <a:spcPts val="1680"/>
                        </a:lnSpc>
                        <a:buNone/>
                      </a:pPr>
                      <a:r>
                        <a:rPr lang="en-US" sz="1200" b="1" dirty="0">
                          <a:solidFill>
                            <a:srgbClr val="F7F5F0"/>
                          </a:solidFill>
                          <a:latin typeface="Rubik" pitchFamily="34" charset="0"/>
                          <a:ea typeface="Rubik" pitchFamily="34" charset="-122"/>
                          <a:cs typeface="Rubik" pitchFamily="34" charset="-120"/>
                        </a:rPr>
                        <a:t>Team</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gn="ctr">
                        <a:lnSpc>
                          <a:spcPts val="1680"/>
                        </a:lnSpc>
                        <a:buNone/>
                      </a:pPr>
                      <a:r>
                        <a:rPr lang="en-US" sz="1200" b="1" dirty="0">
                          <a:solidFill>
                            <a:srgbClr val="F7F5F0"/>
                          </a:solidFill>
                          <a:latin typeface="Rubik" pitchFamily="34" charset="0"/>
                          <a:ea typeface="Rubik" pitchFamily="34" charset="-122"/>
                          <a:cs typeface="Rubik" pitchFamily="34" charset="-120"/>
                        </a:rPr>
                        <a:t>Buzz</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gn="ctr">
                        <a:lnSpc>
                          <a:spcPts val="1680"/>
                        </a:lnSpc>
                        <a:buNone/>
                      </a:pPr>
                      <a:r>
                        <a:rPr lang="en-US" sz="1200" b="1" dirty="0">
                          <a:solidFill>
                            <a:srgbClr val="F7F5F0"/>
                          </a:solidFill>
                          <a:latin typeface="Rubik" pitchFamily="34" charset="0"/>
                          <a:ea typeface="Rubik" pitchFamily="34" charset="-122"/>
                          <a:cs typeface="Rubik" pitchFamily="34" charset="-120"/>
                        </a:rPr>
                        <a:t>Impact</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gn="ctr">
                        <a:lnSpc>
                          <a:spcPts val="1680"/>
                        </a:lnSpc>
                        <a:buNone/>
                      </a:pPr>
                      <a:r>
                        <a:rPr lang="en-US" sz="1200" b="1" dirty="0">
                          <a:solidFill>
                            <a:srgbClr val="F7F5F0"/>
                          </a:solidFill>
                          <a:latin typeface="Rubik" pitchFamily="34" charset="0"/>
                          <a:ea typeface="Rubik" pitchFamily="34" charset="-122"/>
                          <a:cs typeface="Rubik" pitchFamily="34" charset="-120"/>
                        </a:rPr>
                        <a:t>Demo</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gn="ctr">
                        <a:lnSpc>
                          <a:spcPts val="1680"/>
                        </a:lnSpc>
                        <a:buNone/>
                      </a:pPr>
                      <a:r>
                        <a:rPr lang="en-US" sz="1200" b="1" dirty="0">
                          <a:solidFill>
                            <a:srgbClr val="F7F5F0"/>
                          </a:solidFill>
                          <a:latin typeface="Rubik" pitchFamily="34" charset="0"/>
                          <a:ea typeface="Rubik" pitchFamily="34" charset="-122"/>
                          <a:cs typeface="Rubik" pitchFamily="34" charset="-120"/>
                        </a:rPr>
                        <a:t>Open src</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gn="ctr">
                        <a:lnSpc>
                          <a:spcPts val="1680"/>
                        </a:lnSpc>
                        <a:buNone/>
                      </a:pPr>
                      <a:r>
                        <a:rPr lang="en-US" sz="1200" b="1" dirty="0">
                          <a:solidFill>
                            <a:srgbClr val="F7F5F0"/>
                          </a:solidFill>
                          <a:latin typeface="Rubik" pitchFamily="34" charset="0"/>
                          <a:ea typeface="Rubik" pitchFamily="34" charset="-122"/>
                          <a:cs typeface="Rubik" pitchFamily="34" charset="-120"/>
                        </a:rPr>
                        <a:t>ATARI</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gn="ctr">
                        <a:lnSpc>
                          <a:spcPts val="1680"/>
                        </a:lnSpc>
                        <a:buNone/>
                      </a:pPr>
                      <a:r>
                        <a:rPr lang="en-US" sz="1200" b="1" dirty="0">
                          <a:solidFill>
                            <a:srgbClr val="F7F5F0"/>
                          </a:solidFill>
                          <a:latin typeface="Rubik" pitchFamily="34" charset="0"/>
                          <a:ea typeface="Rubik" pitchFamily="34" charset="-122"/>
                          <a:cs typeface="Rubik" pitchFamily="34" charset="-120"/>
                        </a:rPr>
                        <a:t>Score</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Bug Video-to-Fix (new)</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0F766E"/>
                          </a:solidFill>
                          <a:latin typeface="Rubik" pitchFamily="34" charset="0"/>
                          <a:ea typeface="Rubik" pitchFamily="34" charset="-122"/>
                          <a:cs typeface="Rubik" pitchFamily="34" charset="-120"/>
                        </a:rPr>
                        <a:t>Business · Michael</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23</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Camera Companion</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C2410C"/>
                          </a:solidFill>
                          <a:latin typeface="Rubik" pitchFamily="34" charset="0"/>
                          <a:ea typeface="Rubik" pitchFamily="34" charset="-122"/>
                          <a:cs typeface="Rubik" pitchFamily="34" charset="-120"/>
                        </a:rPr>
                        <a:t>Family · Nizzan</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2"/>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Visual acceptance service</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0F766E"/>
                          </a:solidFill>
                          <a:latin typeface="Rubik" pitchFamily="34" charset="0"/>
                          <a:ea typeface="Rubik" pitchFamily="34" charset="-122"/>
                          <a:cs typeface="Rubik" pitchFamily="34" charset="-120"/>
                        </a:rPr>
                        <a:t>Business · Michael</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23</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Living Drawing</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C2410C"/>
                          </a:solidFill>
                          <a:latin typeface="Rubik" pitchFamily="34" charset="0"/>
                          <a:ea typeface="Rubik" pitchFamily="34" charset="-122"/>
                          <a:cs typeface="Rubik" pitchFamily="34" charset="-120"/>
                        </a:rPr>
                        <a:t>Family · Nizzan</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22</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Figure and evidence auditor</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0F766E"/>
                          </a:solidFill>
                          <a:latin typeface="Rubik" pitchFamily="34" charset="0"/>
                          <a:ea typeface="Rubik" pitchFamily="34" charset="-122"/>
                          <a:cs typeface="Rubik" pitchFamily="34" charset="-120"/>
                        </a:rPr>
                        <a:t>Business · Michael</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22</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6</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Listen to the Machine</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C2410C"/>
                          </a:solidFill>
                          <a:latin typeface="Rubik" pitchFamily="34" charset="0"/>
                          <a:ea typeface="Rubik" pitchFamily="34" charset="-122"/>
                          <a:cs typeface="Rubik" pitchFamily="34" charset="-120"/>
                        </a:rPr>
                        <a:t>Family · Nizzan</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22</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6"/>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7</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What I Did Today</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D4ED8"/>
                          </a:solidFill>
                          <a:latin typeface="Rubik" pitchFamily="34" charset="0"/>
                          <a:ea typeface="Rubik" pitchFamily="34" charset="-122"/>
                          <a:cs typeface="Rubik" pitchFamily="34" charset="-120"/>
                        </a:rPr>
                        <a:t>Media · Amir</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21</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8</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Watch-Along Commentator (new)</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D4ED8"/>
                          </a:solidFill>
                          <a:latin typeface="Rubik" pitchFamily="34" charset="0"/>
                          <a:ea typeface="Rubik" pitchFamily="34" charset="-122"/>
                          <a:cs typeface="Rubik" pitchFamily="34" charset="-120"/>
                        </a:rPr>
                        <a:t>Media · Amir</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21</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8"/>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9</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Paper-to-Code (new)</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0F766E"/>
                          </a:solidFill>
                          <a:latin typeface="Rubik" pitchFamily="34" charset="0"/>
                          <a:ea typeface="Rubik" pitchFamily="34" charset="-122"/>
                          <a:cs typeface="Rubik" pitchFamily="34" charset="-120"/>
                        </a:rPr>
                        <a:t>Business · Michael</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21</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9"/>
                  </a:ext>
                </a:extLst>
              </a:tr>
              <a:tr h="330192">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10</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Fridge-to-Table (new)</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C2410C"/>
                          </a:solidFill>
                          <a:latin typeface="Rubik" pitchFamily="34" charset="0"/>
                          <a:ea typeface="Rubik" pitchFamily="34" charset="-122"/>
                          <a:cs typeface="Rubik" pitchFamily="34" charset="-120"/>
                        </a:rPr>
                        <a:t>Family · Nizzan</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3</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21</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10"/>
                  </a:ext>
                </a:extLst>
              </a:tr>
            </a:tbl>
          </a:graphicData>
        </a:graphic>
      </p:graphicFrame>
      <p:sp>
        <p:nvSpPr>
          <p:cNvPr id="4" name="Text 1"/>
          <p:cNvSpPr/>
          <p:nvPr/>
        </p:nvSpPr>
        <p:spPr>
          <a:xfrm>
            <a:off x="711121" y="6025040"/>
            <a:ext cx="11092670" cy="45191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Rubik" pitchFamily="34" charset="0"/>
                <a:ea typeface="Rubik" pitchFamily="34" charset="-122"/>
                <a:cs typeface="Rubik" pitchFamily="34" charset="-120"/>
              </a:rPr>
              <a:t>Four of the ten are new ideas whose buzz is an estimate. ATARI fit lifted Camera Companion, Listen to the Machine and Visual acceptance into the top ten.</a:t>
            </a:r>
            <a:endParaRPr lang="en-US" sz="1200" dirty="0"/>
          </a:p>
        </p:txBody>
      </p:sp>
    </p:spTree>
    <p:extLst>
      <p:ext uri="{BB962C8B-B14F-4D97-AF65-F5344CB8AC3E}">
        <p14:creationId xmlns:p14="http://schemas.microsoft.com/office/powerpoint/2010/main" val="1383090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31C23"/>
        </a:solidFill>
        <a:effectLst/>
      </p:bgPr>
    </p:bg>
    <p:spTree>
      <p:nvGrpSpPr>
        <p:cNvPr id="1" name=""/>
        <p:cNvGrpSpPr/>
        <p:nvPr/>
      </p:nvGrpSpPr>
      <p:grpSpPr>
        <a:xfrm>
          <a:off x="0" y="0"/>
          <a:ext cx="0" cy="0"/>
          <a:chOff x="0" y="0"/>
          <a:chExt cx="0" cy="0"/>
        </a:xfrm>
      </p:grpSpPr>
      <p:sp>
        <p:nvSpPr>
          <p:cNvPr id="2" name="Text 0"/>
          <p:cNvSpPr/>
          <p:nvPr/>
        </p:nvSpPr>
        <p:spPr>
          <a:xfrm>
            <a:off x="812756" y="812757"/>
            <a:ext cx="10883469"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F8A3D"/>
                </a:solidFill>
                <a:effectLst/>
                <a:uLnTx/>
                <a:uFillTx/>
                <a:latin typeface="IBM Plex Sans" pitchFamily="34" charset="0"/>
                <a:ea typeface="IBM Plex Sans" pitchFamily="34" charset="-122"/>
                <a:cs typeface="IBM Plex Sans" pitchFamily="34" charset="-120"/>
              </a:rPr>
              <a:t>OUR PROPOSAL · THE IDEA</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 name="Text 1"/>
          <p:cNvSpPr>
            <a:spLocks noGrp="1"/>
          </p:cNvSpPr>
          <p:nvPr>
            <p:ph type="title"/>
          </p:nvPr>
        </p:nvSpPr>
        <p:spPr>
          <a:xfrm>
            <a:off x="812756" y="1102196"/>
            <a:ext cx="10883469" cy="444503"/>
          </a:xfrm>
          <a:prstGeom prst="rect">
            <a:avLst/>
          </a:prstGeom>
          <a:noFill/>
          <a:ln/>
        </p:spPr>
        <p:txBody>
          <a:bodyPr wrap="square" lIns="0" tIns="0" rIns="0" bIns="0" rtlCol="0" anchor="t">
            <a:normAutofit/>
          </a:bodyPr>
          <a:lstStyle/>
          <a:p>
            <a:pPr marL="0" indent="0" algn="l">
              <a:lnSpc>
                <a:spcPts val="3300"/>
              </a:lnSpc>
              <a:buNone/>
            </a:pPr>
            <a:r>
              <a:rPr lang="en-US" sz="3200" b="1" i="0" dirty="0">
                <a:solidFill>
                  <a:srgbClr val="FFC000"/>
                </a:solidFill>
                <a:latin typeface="Space Grotesk" pitchFamily="34" charset="0"/>
                <a:ea typeface="Space Grotesk" pitchFamily="34" charset="-122"/>
                <a:cs typeface="Space Grotesk" pitchFamily="34" charset="-120"/>
              </a:rPr>
              <a:t>ATARI is  the interface between agents and robots</a:t>
            </a:r>
            <a:endParaRPr lang="en-US" sz="3200" dirty="0">
              <a:solidFill>
                <a:srgbClr val="FFC000"/>
              </a:solidFill>
            </a:endParaRPr>
          </a:p>
        </p:txBody>
      </p:sp>
      <p:sp>
        <p:nvSpPr>
          <p:cNvPr id="4" name="Text 2"/>
          <p:cNvSpPr/>
          <p:nvPr/>
        </p:nvSpPr>
        <p:spPr>
          <a:xfrm>
            <a:off x="812756" y="2039299"/>
            <a:ext cx="248537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CC8D7"/>
                </a:solidFill>
                <a:effectLst/>
                <a:uLnTx/>
                <a:uFillTx/>
                <a:latin typeface="IBM Plex Sans" pitchFamily="34" charset="0"/>
                <a:ea typeface="IBM Plex Sans" pitchFamily="34" charset="-122"/>
                <a:cs typeface="IBM Plex Sans" pitchFamily="34" charset="-120"/>
              </a:rPr>
              <a:t>Agent applications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 name="Text 3"/>
          <p:cNvSpPr/>
          <p:nvPr/>
        </p:nvSpPr>
        <p:spPr>
          <a:xfrm>
            <a:off x="815931" y="2331917"/>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Travel and hospitality</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6" name="Text 4"/>
          <p:cNvSpPr/>
          <p:nvPr/>
        </p:nvSpPr>
        <p:spPr>
          <a:xfrm>
            <a:off x="815931" y="2809326"/>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Home and family</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7" name="Text 5"/>
          <p:cNvSpPr/>
          <p:nvPr/>
        </p:nvSpPr>
        <p:spPr>
          <a:xfrm>
            <a:off x="815931" y="3286736"/>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Cloud and IT operations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8" name="Text 6"/>
          <p:cNvSpPr/>
          <p:nvPr/>
        </p:nvSpPr>
        <p:spPr>
          <a:xfrm>
            <a:off x="815931" y="3764145"/>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Retail and logistics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9" name="Text 7"/>
          <p:cNvSpPr/>
          <p:nvPr/>
        </p:nvSpPr>
        <p:spPr>
          <a:xfrm>
            <a:off x="815931" y="4241555"/>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Factory and science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pic>
        <p:nvPicPr>
          <p:cNvPr id="10" name="Image 0" descr="arrow-right"/>
          <p:cNvPicPr>
            <a:picLocks noChangeAspect="1"/>
          </p:cNvPicPr>
          <p:nvPr/>
        </p:nvPicPr>
        <p:blipFill>
          <a:blip r:embed="rId3"/>
          <a:srcRect t="-3" b="-3"/>
          <a:stretch/>
        </p:blipFill>
        <p:spPr>
          <a:xfrm>
            <a:off x="3352660" y="3237815"/>
            <a:ext cx="355561" cy="203189"/>
          </a:xfrm>
          <a:prstGeom prst="rect">
            <a:avLst/>
          </a:prstGeom>
        </p:spPr>
      </p:pic>
      <p:sp>
        <p:nvSpPr>
          <p:cNvPr id="11" name="Shape 8"/>
          <p:cNvSpPr/>
          <p:nvPr/>
        </p:nvSpPr>
        <p:spPr>
          <a:xfrm>
            <a:off x="3841493" y="1756206"/>
            <a:ext cx="4509001" cy="3166488"/>
          </a:xfrm>
          <a:prstGeom prst="roundRect">
            <a:avLst>
              <a:gd name="adj" fmla="val 2206"/>
            </a:avLst>
          </a:prstGeom>
          <a:solidFill>
            <a:srgbClr val="0E1418"/>
          </a:solidFill>
          <a:ln w="12700">
            <a:solidFill>
              <a:srgbClr val="FF8A3D"/>
            </a:solidFill>
            <a:prstDash val="solid"/>
          </a:ln>
        </p:spPr>
        <p:txBody>
          <a:bodyPr/>
          <a:lstStyle/>
          <a:p>
            <a:endParaRPr/>
          </a:p>
        </p:txBody>
      </p:sp>
      <p:sp>
        <p:nvSpPr>
          <p:cNvPr id="12" name="Text 9"/>
          <p:cNvSpPr/>
          <p:nvPr/>
        </p:nvSpPr>
        <p:spPr>
          <a:xfrm>
            <a:off x="3997823" y="1912538"/>
            <a:ext cx="4322231" cy="238656"/>
          </a:xfrm>
          <a:prstGeom prst="rect">
            <a:avLst/>
          </a:prstGeom>
          <a:noFill/>
          <a:ln/>
        </p:spPr>
        <p:txBody>
          <a:bodyPr wrap="square" lIns="0" tIns="0" rIns="0" bIns="0" rtlCol="0" anchor="t">
            <a:normAutofit fontScale="92500"/>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8A3D"/>
                </a:solidFill>
                <a:effectLst/>
                <a:uLnTx/>
                <a:uFillTx/>
                <a:latin typeface="IBM Plex Sans" pitchFamily="34" charset="0"/>
                <a:ea typeface="IBM Plex Sans" pitchFamily="34" charset="-122"/>
                <a:cs typeface="IBM Plex Sans" pitchFamily="34" charset="-120"/>
              </a:rPr>
              <a:t>Agent to Autonomous Robot interface (ATARI) · on openJiuwen</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3" name="Shape 10"/>
          <p:cNvSpPr/>
          <p:nvPr/>
        </p:nvSpPr>
        <p:spPr>
          <a:xfrm>
            <a:off x="3997823" y="2201977"/>
            <a:ext cx="4196341" cy="583957"/>
          </a:xfrm>
          <a:prstGeom prst="roundRect">
            <a:avLst>
              <a:gd name="adj" fmla="val 8699"/>
            </a:avLst>
          </a:prstGeom>
          <a:solidFill>
            <a:srgbClr val="17212A"/>
          </a:solidFill>
          <a:ln/>
        </p:spPr>
        <p:txBody>
          <a:bodyPr/>
          <a:lstStyle/>
          <a:p>
            <a:endParaRPr/>
          </a:p>
        </p:txBody>
      </p:sp>
      <p:sp>
        <p:nvSpPr>
          <p:cNvPr id="14" name="Text 11"/>
          <p:cNvSpPr/>
          <p:nvPr/>
        </p:nvSpPr>
        <p:spPr>
          <a:xfrm>
            <a:off x="4112102" y="2278165"/>
            <a:ext cx="4086817"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Robot skills as tools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5" name="Text 12"/>
          <p:cNvSpPr/>
          <p:nvPr/>
        </p:nvSpPr>
        <p:spPr>
          <a:xfrm>
            <a:off x="4112102" y="2504064"/>
            <a:ext cx="4086817" cy="23108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Any robot looks like a tool an agent can call.</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6" name="Shape 13"/>
          <p:cNvSpPr/>
          <p:nvPr/>
        </p:nvSpPr>
        <p:spPr>
          <a:xfrm>
            <a:off x="3997823" y="2862123"/>
            <a:ext cx="4196341" cy="583957"/>
          </a:xfrm>
          <a:prstGeom prst="roundRect">
            <a:avLst>
              <a:gd name="adj" fmla="val 8699"/>
            </a:avLst>
          </a:prstGeom>
          <a:solidFill>
            <a:srgbClr val="17212A"/>
          </a:solidFill>
          <a:ln/>
        </p:spPr>
        <p:txBody>
          <a:bodyPr/>
          <a:lstStyle/>
          <a:p>
            <a:endParaRPr/>
          </a:p>
        </p:txBody>
      </p:sp>
      <p:sp>
        <p:nvSpPr>
          <p:cNvPr id="17" name="Text 14"/>
          <p:cNvSpPr/>
          <p:nvPr/>
        </p:nvSpPr>
        <p:spPr>
          <a:xfrm>
            <a:off x="4112102" y="2938307"/>
            <a:ext cx="4086817"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Shared world state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8" name="Text 15"/>
          <p:cNvSpPr/>
          <p:nvPr/>
        </p:nvSpPr>
        <p:spPr>
          <a:xfrm>
            <a:off x="4112102" y="3164207"/>
            <a:ext cx="4086817" cy="23108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The agent knows what is where, right now.</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9" name="Shape 16"/>
          <p:cNvSpPr/>
          <p:nvPr/>
        </p:nvSpPr>
        <p:spPr>
          <a:xfrm>
            <a:off x="3997823" y="3522266"/>
            <a:ext cx="4196341" cy="583957"/>
          </a:xfrm>
          <a:prstGeom prst="roundRect">
            <a:avLst>
              <a:gd name="adj" fmla="val 8699"/>
            </a:avLst>
          </a:prstGeom>
          <a:solidFill>
            <a:srgbClr val="17212A"/>
          </a:solidFill>
          <a:ln/>
        </p:spPr>
        <p:txBody>
          <a:bodyPr/>
          <a:lstStyle/>
          <a:p>
            <a:endParaRPr/>
          </a:p>
        </p:txBody>
      </p:sp>
      <p:sp>
        <p:nvSpPr>
          <p:cNvPr id="20" name="Text 17"/>
          <p:cNvSpPr/>
          <p:nvPr/>
        </p:nvSpPr>
        <p:spPr>
          <a:xfrm>
            <a:off x="4112102" y="3598450"/>
            <a:ext cx="4086817"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Safety gate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1" name="Text 18"/>
          <p:cNvSpPr/>
          <p:nvPr/>
        </p:nvSpPr>
        <p:spPr>
          <a:xfrm>
            <a:off x="4112102" y="3824350"/>
            <a:ext cx="4086817" cy="23108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Every physical action is checked before it runs.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2" name="Shape 19"/>
          <p:cNvSpPr/>
          <p:nvPr/>
        </p:nvSpPr>
        <p:spPr>
          <a:xfrm>
            <a:off x="3997823" y="4182408"/>
            <a:ext cx="4196341" cy="583957"/>
          </a:xfrm>
          <a:prstGeom prst="roundRect">
            <a:avLst>
              <a:gd name="adj" fmla="val 8699"/>
            </a:avLst>
          </a:prstGeom>
          <a:solidFill>
            <a:srgbClr val="17212A"/>
          </a:solidFill>
          <a:ln/>
        </p:spPr>
        <p:txBody>
          <a:bodyPr/>
          <a:lstStyle/>
          <a:p>
            <a:endParaRPr/>
          </a:p>
        </p:txBody>
      </p:sp>
      <p:sp>
        <p:nvSpPr>
          <p:cNvPr id="23" name="Text 20"/>
          <p:cNvSpPr/>
          <p:nvPr/>
        </p:nvSpPr>
        <p:spPr>
          <a:xfrm>
            <a:off x="4112102" y="4258593"/>
            <a:ext cx="4086817"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Replay and audit</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4" name="Text 21"/>
          <p:cNvSpPr/>
          <p:nvPr/>
        </p:nvSpPr>
        <p:spPr>
          <a:xfrm>
            <a:off x="4112102" y="4484492"/>
            <a:ext cx="4086817" cy="23108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What happened, and why, on record.</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pic>
        <p:nvPicPr>
          <p:cNvPr id="25" name="Image 1" descr="arrow-right"/>
          <p:cNvPicPr>
            <a:picLocks noChangeAspect="1"/>
          </p:cNvPicPr>
          <p:nvPr/>
        </p:nvPicPr>
        <p:blipFill>
          <a:blip r:embed="rId4"/>
          <a:srcRect t="-3" b="-3"/>
          <a:stretch/>
        </p:blipFill>
        <p:spPr>
          <a:xfrm>
            <a:off x="8483767" y="3237815"/>
            <a:ext cx="355561" cy="203189"/>
          </a:xfrm>
          <a:prstGeom prst="rect">
            <a:avLst/>
          </a:prstGeom>
        </p:spPr>
      </p:pic>
      <p:sp>
        <p:nvSpPr>
          <p:cNvPr id="26" name="Text 22"/>
          <p:cNvSpPr/>
          <p:nvPr/>
        </p:nvSpPr>
        <p:spPr>
          <a:xfrm>
            <a:off x="8966250" y="2039299"/>
            <a:ext cx="248537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CC8D7"/>
                </a:solidFill>
                <a:effectLst/>
                <a:uLnTx/>
                <a:uFillTx/>
                <a:latin typeface="IBM Plex Sans" pitchFamily="34" charset="0"/>
                <a:ea typeface="IBM Plex Sans" pitchFamily="34" charset="-122"/>
                <a:cs typeface="IBM Plex Sans" pitchFamily="34" charset="-120"/>
              </a:rPr>
              <a:t>Robots, any vendor</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7" name="Text 23"/>
          <p:cNvSpPr/>
          <p:nvPr/>
        </p:nvSpPr>
        <p:spPr>
          <a:xfrm>
            <a:off x="8969425" y="2331917"/>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Humanoids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8" name="Text 24"/>
          <p:cNvSpPr/>
          <p:nvPr/>
        </p:nvSpPr>
        <p:spPr>
          <a:xfrm>
            <a:off x="8969425" y="2809326"/>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Mobile robots and carts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9" name="Text 25"/>
          <p:cNvSpPr/>
          <p:nvPr/>
        </p:nvSpPr>
        <p:spPr>
          <a:xfrm>
            <a:off x="8969425" y="3286736"/>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Arms and work cells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0" name="Text 26"/>
          <p:cNvSpPr/>
          <p:nvPr/>
        </p:nvSpPr>
        <p:spPr>
          <a:xfrm>
            <a:off x="8969425" y="3764145"/>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Drones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1" name="Text 27"/>
          <p:cNvSpPr/>
          <p:nvPr/>
        </p:nvSpPr>
        <p:spPr>
          <a:xfrm>
            <a:off x="8969425" y="4241555"/>
            <a:ext cx="2406631" cy="394874"/>
          </a:xfrm>
          <a:prstGeom prst="roundRect">
            <a:avLst>
              <a:gd name="adj" fmla="val 12061"/>
            </a:avLst>
          </a:prstGeom>
          <a:solidFill>
            <a:srgbClr val="0E1418"/>
          </a:solidFill>
          <a:ln w="6350">
            <a:solidFill>
              <a:srgbClr val="2A3944"/>
            </a:solidFill>
            <a:prstDash val="solid"/>
          </a:ln>
        </p:spPr>
        <p:txBody>
          <a:bodyPr wrap="square" lIns="115030" tIns="76930" rIns="50570" bIns="5153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Home devices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2" name="Text 28"/>
          <p:cNvSpPr/>
          <p:nvPr/>
        </p:nvSpPr>
        <p:spPr>
          <a:xfrm>
            <a:off x="812756" y="5157601"/>
            <a:ext cx="10883469" cy="274333"/>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Write the agent once. It works on any robot. Every digital agent gets a body.</a:t>
            </a:r>
            <a:endParaRPr kumimoji="0" lang="en-US" sz="14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3" name="Text 29"/>
          <p:cNvSpPr/>
          <p:nvPr/>
        </p:nvSpPr>
        <p:spPr>
          <a:xfrm>
            <a:off x="812756" y="6238298"/>
            <a:ext cx="10883386"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4949C"/>
                </a:solidFill>
                <a:effectLst/>
                <a:uLnTx/>
                <a:uFillTx/>
                <a:latin typeface="IBM Plex Sans" pitchFamily="34" charset="0"/>
                <a:ea typeface="IBM Plex Sans" pitchFamily="34" charset="-122"/>
                <a:cs typeface="IBM Plex Sans" pitchFamily="34" charset="-120"/>
              </a:rPr>
              <a:t>"Agent-to-Robot interface" is a working name · our proposal</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418"/>
        </a:solidFill>
        <a:effectLst/>
      </p:bgPr>
    </p:bg>
    <p:spTree>
      <p:nvGrpSpPr>
        <p:cNvPr id="1" name=""/>
        <p:cNvGrpSpPr/>
        <p:nvPr/>
      </p:nvGrpSpPr>
      <p:grpSpPr>
        <a:xfrm>
          <a:off x="0" y="0"/>
          <a:ext cx="0" cy="0"/>
          <a:chOff x="0" y="0"/>
          <a:chExt cx="0" cy="0"/>
        </a:xfrm>
      </p:grpSpPr>
      <p:sp>
        <p:nvSpPr>
          <p:cNvPr id="2" name="Text 0"/>
          <p:cNvSpPr/>
          <p:nvPr/>
        </p:nvSpPr>
        <p:spPr>
          <a:xfrm>
            <a:off x="812756" y="812757"/>
            <a:ext cx="10883469"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F8A3D"/>
                </a:solidFill>
                <a:effectLst/>
                <a:uLnTx/>
                <a:uFillTx/>
                <a:latin typeface="IBM Plex Sans" pitchFamily="34" charset="0"/>
                <a:ea typeface="IBM Plex Sans" pitchFamily="34" charset="-122"/>
                <a:cs typeface="IBM Plex Sans" pitchFamily="34" charset="-120"/>
              </a:rPr>
              <a:t>OUR PROPOSAL · ARCHITECTURE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 name="Text 1"/>
          <p:cNvSpPr>
            <a:spLocks noGrp="1"/>
          </p:cNvSpPr>
          <p:nvPr>
            <p:ph type="title"/>
          </p:nvPr>
        </p:nvSpPr>
        <p:spPr>
          <a:xfrm>
            <a:off x="812756" y="1102196"/>
            <a:ext cx="10883469"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EEF1EC"/>
                </a:solidFill>
                <a:latin typeface="Space Grotesk" pitchFamily="34" charset="0"/>
                <a:ea typeface="Space Grotesk" pitchFamily="34" charset="-122"/>
                <a:cs typeface="Space Grotesk" pitchFamily="34" charset="-120"/>
              </a:rPr>
              <a:t>Four layers, one open interface in the middle</a:t>
            </a:r>
            <a:endParaRPr lang="en-US" sz="3000" dirty="0"/>
          </a:p>
        </p:txBody>
      </p:sp>
      <p:sp>
        <p:nvSpPr>
          <p:cNvPr id="4" name="Shape 2"/>
          <p:cNvSpPr/>
          <p:nvPr/>
        </p:nvSpPr>
        <p:spPr>
          <a:xfrm>
            <a:off x="815931" y="1753034"/>
            <a:ext cx="7105589" cy="521797"/>
          </a:xfrm>
          <a:prstGeom prst="roundRect">
            <a:avLst>
              <a:gd name="adj" fmla="val 13995"/>
            </a:avLst>
          </a:prstGeom>
          <a:solidFill>
            <a:srgbClr val="131C23"/>
          </a:solidFill>
          <a:ln w="6350">
            <a:solidFill>
              <a:srgbClr val="2A3944"/>
            </a:solidFill>
            <a:prstDash val="solid"/>
          </a:ln>
        </p:spPr>
        <p:txBody>
          <a:bodyPr/>
          <a:lstStyle/>
          <a:p>
            <a:endParaRPr/>
          </a:p>
        </p:txBody>
      </p:sp>
      <p:sp>
        <p:nvSpPr>
          <p:cNvPr id="5" name="Text 3"/>
          <p:cNvSpPr/>
          <p:nvPr/>
        </p:nvSpPr>
        <p:spPr>
          <a:xfrm>
            <a:off x="944833" y="1907304"/>
            <a:ext cx="1384294"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CC8D7"/>
                </a:solidFill>
                <a:effectLst/>
                <a:uLnTx/>
                <a:uFillTx/>
                <a:latin typeface="IBM Plex Sans" pitchFamily="34" charset="0"/>
                <a:ea typeface="IBM Plex Sans" pitchFamily="34" charset="-122"/>
                <a:cs typeface="IBM Plex Sans" pitchFamily="34" charset="-120"/>
              </a:rPr>
              <a:t>Agent apps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6" name="Text 4"/>
          <p:cNvSpPr/>
          <p:nvPr/>
        </p:nvSpPr>
        <p:spPr>
          <a:xfrm>
            <a:off x="2354512" y="1843841"/>
            <a:ext cx="1761858" cy="340179"/>
          </a:xfrm>
          <a:custGeom>
            <a:avLst/>
            <a:gdLst/>
            <a:ahLst/>
            <a:cxnLst/>
            <a:rect l="l" t="t" r="r" b="b"/>
            <a:pathLst>
              <a:path w="1761858" h="340179">
                <a:moveTo>
                  <a:pt x="50800" y="0"/>
                </a:moveTo>
                <a:lnTo>
                  <a:pt x="1711058" y="0"/>
                </a:lnTo>
                <a:arcTo wR="50800" hR="50800" stAng="16200000" swAng="5400000"/>
                <a:lnTo>
                  <a:pt x="1761858"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openJiuwen agents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7" name="Text 5"/>
          <p:cNvSpPr/>
          <p:nvPr/>
        </p:nvSpPr>
        <p:spPr>
          <a:xfrm>
            <a:off x="4192556" y="1843841"/>
            <a:ext cx="1761938" cy="340179"/>
          </a:xfrm>
          <a:custGeom>
            <a:avLst/>
            <a:gdLst/>
            <a:ahLst/>
            <a:cxnLst/>
            <a:rect l="l" t="t" r="r" b="b"/>
            <a:pathLst>
              <a:path w="1761938" h="340179">
                <a:moveTo>
                  <a:pt x="50800" y="0"/>
                </a:moveTo>
                <a:lnTo>
                  <a:pt x="1711138" y="0"/>
                </a:lnTo>
                <a:arcTo wR="50800" hR="50800" stAng="16200000" swAng="5400000"/>
                <a:lnTo>
                  <a:pt x="1761938"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Third-party agents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8" name="Text 6"/>
          <p:cNvSpPr/>
          <p:nvPr/>
        </p:nvSpPr>
        <p:spPr>
          <a:xfrm>
            <a:off x="6030680" y="1843841"/>
            <a:ext cx="1761938" cy="340179"/>
          </a:xfrm>
          <a:custGeom>
            <a:avLst/>
            <a:gdLst/>
            <a:ahLst/>
            <a:cxnLst/>
            <a:rect l="l" t="t" r="r" b="b"/>
            <a:pathLst>
              <a:path w="1761938" h="340179">
                <a:moveTo>
                  <a:pt x="50800" y="0"/>
                </a:moveTo>
                <a:lnTo>
                  <a:pt x="1711138" y="0"/>
                </a:lnTo>
                <a:arcTo wR="50800" hR="50800" stAng="16200000" swAng="5400000"/>
                <a:lnTo>
                  <a:pt x="1761938"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MCP and A2A</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9" name="Shape 7"/>
          <p:cNvSpPr/>
          <p:nvPr/>
        </p:nvSpPr>
        <p:spPr>
          <a:xfrm>
            <a:off x="819106" y="2360541"/>
            <a:ext cx="7099239" cy="1775492"/>
          </a:xfrm>
          <a:prstGeom prst="roundRect">
            <a:avLst>
              <a:gd name="adj" fmla="val 3934"/>
            </a:avLst>
          </a:prstGeom>
          <a:solidFill>
            <a:srgbClr val="131C23"/>
          </a:solidFill>
          <a:ln w="12700">
            <a:solidFill>
              <a:srgbClr val="FF8A3D"/>
            </a:solidFill>
            <a:prstDash val="solid"/>
          </a:ln>
        </p:spPr>
        <p:txBody>
          <a:bodyPr/>
          <a:lstStyle/>
          <a:p>
            <a:endParaRPr/>
          </a:p>
        </p:txBody>
      </p:sp>
      <p:sp>
        <p:nvSpPr>
          <p:cNvPr id="10" name="Text 8"/>
          <p:cNvSpPr/>
          <p:nvPr/>
        </p:nvSpPr>
        <p:spPr>
          <a:xfrm>
            <a:off x="949987" y="2478779"/>
            <a:ext cx="7042601"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8A3D"/>
                </a:solidFill>
                <a:effectLst/>
                <a:uLnTx/>
                <a:uFillTx/>
                <a:latin typeface="IBM Plex Sans" pitchFamily="34" charset="0"/>
                <a:ea typeface="IBM Plex Sans" pitchFamily="34" charset="-122"/>
                <a:cs typeface="IBM Plex Sans" pitchFamily="34" charset="-120"/>
              </a:rPr>
              <a:t>Agent to Autonomous Robot interface (ATARI)</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1" name="Shape 9"/>
          <p:cNvSpPr/>
          <p:nvPr/>
        </p:nvSpPr>
        <p:spPr>
          <a:xfrm>
            <a:off x="949987" y="2768219"/>
            <a:ext cx="1652169" cy="586695"/>
          </a:xfrm>
          <a:prstGeom prst="roundRect">
            <a:avLst>
              <a:gd name="adj" fmla="val 8659"/>
            </a:avLst>
          </a:prstGeom>
          <a:solidFill>
            <a:srgbClr val="17212A"/>
          </a:solidFill>
          <a:ln/>
        </p:spPr>
        <p:txBody>
          <a:bodyPr/>
          <a:lstStyle/>
          <a:p>
            <a:endParaRPr/>
          </a:p>
        </p:txBody>
      </p:sp>
      <p:sp>
        <p:nvSpPr>
          <p:cNvPr id="12" name="Shape 10"/>
          <p:cNvSpPr/>
          <p:nvPr/>
        </p:nvSpPr>
        <p:spPr>
          <a:xfrm>
            <a:off x="949987" y="2768219"/>
            <a:ext cx="1652169" cy="586695"/>
          </a:xfrm>
          <a:custGeom>
            <a:avLst/>
            <a:gdLst/>
            <a:ahLst/>
            <a:cxnLst/>
            <a:rect l="l" t="t" r="r" b="b"/>
            <a:pathLst>
              <a:path w="1652169" h="586695">
                <a:moveTo>
                  <a:pt x="0" y="50800"/>
                </a:moveTo>
                <a:lnTo>
                  <a:pt x="0" y="50800"/>
                </a:lnTo>
                <a:arcTo wR="50800" hR="50800" stAng="10800000" swAng="5400000"/>
                <a:lnTo>
                  <a:pt x="1601369" y="0"/>
                </a:lnTo>
                <a:arcTo wR="50800" hR="50800" stAng="16200000" swAng="5400000"/>
                <a:lnTo>
                  <a:pt x="1652169" y="50800"/>
                </a:lnTo>
                <a:arcTo wR="50800" hR="25400" stAng="0" swAng="-5400000"/>
                <a:lnTo>
                  <a:pt x="50800" y="25400"/>
                </a:lnTo>
                <a:arcTo wR="50800" hR="25400" stAng="16200000" swAng="-5400000"/>
                <a:close/>
              </a:path>
            </a:pathLst>
          </a:custGeom>
          <a:solidFill>
            <a:srgbClr val="5CC8D7"/>
          </a:solidFill>
          <a:ln/>
        </p:spPr>
        <p:txBody>
          <a:bodyPr/>
          <a:lstStyle/>
          <a:p>
            <a:endParaRPr/>
          </a:p>
        </p:txBody>
      </p:sp>
      <p:sp>
        <p:nvSpPr>
          <p:cNvPr id="13" name="Text 11"/>
          <p:cNvSpPr/>
          <p:nvPr/>
        </p:nvSpPr>
        <p:spPr>
          <a:xfrm>
            <a:off x="1038817" y="2852297"/>
            <a:ext cx="152531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Skill registry</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4" name="Text 12"/>
          <p:cNvSpPr/>
          <p:nvPr/>
        </p:nvSpPr>
        <p:spPr>
          <a:xfrm>
            <a:off x="1038817" y="3078197"/>
            <a:ext cx="152531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Robots as tools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5" name="Shape 13"/>
          <p:cNvSpPr/>
          <p:nvPr/>
        </p:nvSpPr>
        <p:spPr>
          <a:xfrm>
            <a:off x="2678343" y="2768219"/>
            <a:ext cx="1652250" cy="586695"/>
          </a:xfrm>
          <a:prstGeom prst="roundRect">
            <a:avLst>
              <a:gd name="adj" fmla="val 8659"/>
            </a:avLst>
          </a:prstGeom>
          <a:solidFill>
            <a:srgbClr val="17212A"/>
          </a:solidFill>
          <a:ln/>
        </p:spPr>
        <p:txBody>
          <a:bodyPr/>
          <a:lstStyle/>
          <a:p>
            <a:endParaRPr/>
          </a:p>
        </p:txBody>
      </p:sp>
      <p:sp>
        <p:nvSpPr>
          <p:cNvPr id="16" name="Shape 14"/>
          <p:cNvSpPr/>
          <p:nvPr/>
        </p:nvSpPr>
        <p:spPr>
          <a:xfrm>
            <a:off x="2678343" y="2768219"/>
            <a:ext cx="1652250" cy="586695"/>
          </a:xfrm>
          <a:custGeom>
            <a:avLst/>
            <a:gdLst/>
            <a:ahLst/>
            <a:cxnLst/>
            <a:rect l="l" t="t" r="r" b="b"/>
            <a:pathLst>
              <a:path w="1652250" h="586695">
                <a:moveTo>
                  <a:pt x="0" y="50800"/>
                </a:moveTo>
                <a:lnTo>
                  <a:pt x="0" y="50800"/>
                </a:lnTo>
                <a:arcTo wR="50800" hR="50800" stAng="10800000" swAng="5400000"/>
                <a:lnTo>
                  <a:pt x="1601450" y="0"/>
                </a:lnTo>
                <a:arcTo wR="50800" hR="50800" stAng="16200000" swAng="5400000"/>
                <a:lnTo>
                  <a:pt x="1652250" y="50800"/>
                </a:lnTo>
                <a:arcTo wR="50800" hR="25400" stAng="0" swAng="-5400000"/>
                <a:lnTo>
                  <a:pt x="50800" y="25400"/>
                </a:lnTo>
                <a:arcTo wR="50800" hR="25400" stAng="16200000" swAng="-5400000"/>
                <a:close/>
              </a:path>
            </a:pathLst>
          </a:custGeom>
          <a:solidFill>
            <a:srgbClr val="5CC8D7"/>
          </a:solidFill>
          <a:ln/>
        </p:spPr>
        <p:txBody>
          <a:bodyPr/>
          <a:lstStyle/>
          <a:p>
            <a:endParaRPr/>
          </a:p>
        </p:txBody>
      </p:sp>
      <p:sp>
        <p:nvSpPr>
          <p:cNvPr id="17" name="Text 15"/>
          <p:cNvSpPr/>
          <p:nvPr/>
        </p:nvSpPr>
        <p:spPr>
          <a:xfrm>
            <a:off x="2767172" y="2852297"/>
            <a:ext cx="152539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Orchestrator</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8" name="Text 16"/>
          <p:cNvSpPr/>
          <p:nvPr/>
        </p:nvSpPr>
        <p:spPr>
          <a:xfrm>
            <a:off x="2767172" y="3078197"/>
            <a:ext cx="152539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Plans, allocates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19" name="Shape 17"/>
          <p:cNvSpPr/>
          <p:nvPr/>
        </p:nvSpPr>
        <p:spPr>
          <a:xfrm>
            <a:off x="4406778" y="2768219"/>
            <a:ext cx="1652250" cy="586695"/>
          </a:xfrm>
          <a:prstGeom prst="roundRect">
            <a:avLst>
              <a:gd name="adj" fmla="val 8659"/>
            </a:avLst>
          </a:prstGeom>
          <a:solidFill>
            <a:srgbClr val="17212A"/>
          </a:solidFill>
          <a:ln/>
        </p:spPr>
        <p:txBody>
          <a:bodyPr/>
          <a:lstStyle/>
          <a:p>
            <a:endParaRPr/>
          </a:p>
        </p:txBody>
      </p:sp>
      <p:sp>
        <p:nvSpPr>
          <p:cNvPr id="20" name="Shape 18"/>
          <p:cNvSpPr/>
          <p:nvPr/>
        </p:nvSpPr>
        <p:spPr>
          <a:xfrm>
            <a:off x="4406778" y="2768219"/>
            <a:ext cx="1652250" cy="586695"/>
          </a:xfrm>
          <a:custGeom>
            <a:avLst/>
            <a:gdLst/>
            <a:ahLst/>
            <a:cxnLst/>
            <a:rect l="l" t="t" r="r" b="b"/>
            <a:pathLst>
              <a:path w="1652250" h="586695">
                <a:moveTo>
                  <a:pt x="0" y="50800"/>
                </a:moveTo>
                <a:lnTo>
                  <a:pt x="0" y="50800"/>
                </a:lnTo>
                <a:arcTo wR="50800" hR="50800" stAng="10800000" swAng="5400000"/>
                <a:lnTo>
                  <a:pt x="1601450" y="0"/>
                </a:lnTo>
                <a:arcTo wR="50800" hR="50800" stAng="16200000" swAng="5400000"/>
                <a:lnTo>
                  <a:pt x="1652250" y="50800"/>
                </a:lnTo>
                <a:arcTo wR="50800" hR="25400" stAng="0" swAng="-5400000"/>
                <a:lnTo>
                  <a:pt x="50800" y="25400"/>
                </a:lnTo>
                <a:arcTo wR="50800" hR="25400" stAng="16200000" swAng="-5400000"/>
                <a:close/>
              </a:path>
            </a:pathLst>
          </a:custGeom>
          <a:solidFill>
            <a:srgbClr val="5CC8D7"/>
          </a:solidFill>
          <a:ln/>
        </p:spPr>
        <p:txBody>
          <a:bodyPr/>
          <a:lstStyle/>
          <a:p>
            <a:endParaRPr/>
          </a:p>
        </p:txBody>
      </p:sp>
      <p:sp>
        <p:nvSpPr>
          <p:cNvPr id="21" name="Text 19"/>
          <p:cNvSpPr/>
          <p:nvPr/>
        </p:nvSpPr>
        <p:spPr>
          <a:xfrm>
            <a:off x="4495608" y="2852297"/>
            <a:ext cx="152539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World state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2" name="Text 20"/>
          <p:cNvSpPr/>
          <p:nvPr/>
        </p:nvSpPr>
        <p:spPr>
          <a:xfrm>
            <a:off x="4495608" y="3078197"/>
            <a:ext cx="152539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Live scene graph</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3" name="Shape 21"/>
          <p:cNvSpPr/>
          <p:nvPr/>
        </p:nvSpPr>
        <p:spPr>
          <a:xfrm>
            <a:off x="6135214" y="2768219"/>
            <a:ext cx="1652250" cy="586695"/>
          </a:xfrm>
          <a:prstGeom prst="roundRect">
            <a:avLst>
              <a:gd name="adj" fmla="val 8659"/>
            </a:avLst>
          </a:prstGeom>
          <a:solidFill>
            <a:srgbClr val="17212A"/>
          </a:solidFill>
          <a:ln/>
        </p:spPr>
        <p:txBody>
          <a:bodyPr/>
          <a:lstStyle/>
          <a:p>
            <a:endParaRPr/>
          </a:p>
        </p:txBody>
      </p:sp>
      <p:sp>
        <p:nvSpPr>
          <p:cNvPr id="24" name="Shape 22"/>
          <p:cNvSpPr/>
          <p:nvPr/>
        </p:nvSpPr>
        <p:spPr>
          <a:xfrm>
            <a:off x="6135214" y="2768219"/>
            <a:ext cx="1652250" cy="586695"/>
          </a:xfrm>
          <a:custGeom>
            <a:avLst/>
            <a:gdLst/>
            <a:ahLst/>
            <a:cxnLst/>
            <a:rect l="l" t="t" r="r" b="b"/>
            <a:pathLst>
              <a:path w="1652250" h="586695">
                <a:moveTo>
                  <a:pt x="0" y="50800"/>
                </a:moveTo>
                <a:lnTo>
                  <a:pt x="0" y="50800"/>
                </a:lnTo>
                <a:arcTo wR="50800" hR="50800" stAng="10800000" swAng="5400000"/>
                <a:lnTo>
                  <a:pt x="1601450" y="0"/>
                </a:lnTo>
                <a:arcTo wR="50800" hR="50800" stAng="16200000" swAng="5400000"/>
                <a:lnTo>
                  <a:pt x="1652250" y="50800"/>
                </a:lnTo>
                <a:arcTo wR="50800" hR="25400" stAng="0" swAng="-5400000"/>
                <a:lnTo>
                  <a:pt x="50800" y="25400"/>
                </a:lnTo>
                <a:arcTo wR="50800" hR="25400" stAng="16200000" swAng="-5400000"/>
                <a:close/>
              </a:path>
            </a:pathLst>
          </a:custGeom>
          <a:solidFill>
            <a:srgbClr val="5CC8D7"/>
          </a:solidFill>
          <a:ln/>
        </p:spPr>
        <p:txBody>
          <a:bodyPr/>
          <a:lstStyle/>
          <a:p>
            <a:endParaRPr/>
          </a:p>
        </p:txBody>
      </p:sp>
      <p:sp>
        <p:nvSpPr>
          <p:cNvPr id="25" name="Text 23"/>
          <p:cNvSpPr/>
          <p:nvPr/>
        </p:nvSpPr>
        <p:spPr>
          <a:xfrm>
            <a:off x="6224044" y="2852297"/>
            <a:ext cx="152539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Replay, audit</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6" name="Text 24"/>
          <p:cNvSpPr/>
          <p:nvPr/>
        </p:nvSpPr>
        <p:spPr>
          <a:xfrm>
            <a:off x="6224044" y="3078197"/>
            <a:ext cx="1525390"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Every decision</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27" name="Shape 25"/>
          <p:cNvSpPr/>
          <p:nvPr/>
        </p:nvSpPr>
        <p:spPr>
          <a:xfrm>
            <a:off x="949987" y="3431099"/>
            <a:ext cx="2228315" cy="586695"/>
          </a:xfrm>
          <a:prstGeom prst="roundRect">
            <a:avLst>
              <a:gd name="adj" fmla="val 8659"/>
            </a:avLst>
          </a:prstGeom>
          <a:solidFill>
            <a:srgbClr val="17212A"/>
          </a:solidFill>
          <a:ln/>
        </p:spPr>
        <p:txBody>
          <a:bodyPr/>
          <a:lstStyle/>
          <a:p>
            <a:endParaRPr/>
          </a:p>
        </p:txBody>
      </p:sp>
      <p:sp>
        <p:nvSpPr>
          <p:cNvPr id="28" name="Shape 26"/>
          <p:cNvSpPr/>
          <p:nvPr/>
        </p:nvSpPr>
        <p:spPr>
          <a:xfrm>
            <a:off x="949987" y="3431099"/>
            <a:ext cx="2228315" cy="586695"/>
          </a:xfrm>
          <a:custGeom>
            <a:avLst/>
            <a:gdLst/>
            <a:ahLst/>
            <a:cxnLst/>
            <a:rect l="l" t="t" r="r" b="b"/>
            <a:pathLst>
              <a:path w="2228315" h="586695">
                <a:moveTo>
                  <a:pt x="0" y="50800"/>
                </a:moveTo>
                <a:lnTo>
                  <a:pt x="0" y="50800"/>
                </a:lnTo>
                <a:arcTo wR="50800" hR="50800" stAng="10800000" swAng="5400000"/>
                <a:lnTo>
                  <a:pt x="2177515" y="0"/>
                </a:lnTo>
                <a:arcTo wR="50800" hR="50800" stAng="16200000" swAng="5400000"/>
                <a:lnTo>
                  <a:pt x="2228315" y="50800"/>
                </a:lnTo>
                <a:arcTo wR="50800" hR="25400" stAng="0" swAng="-5400000"/>
                <a:lnTo>
                  <a:pt x="50800" y="25400"/>
                </a:lnTo>
                <a:arcTo wR="50800" hR="25400" stAng="16200000" swAng="-5400000"/>
                <a:close/>
              </a:path>
            </a:pathLst>
          </a:custGeom>
          <a:solidFill>
            <a:srgbClr val="FF8A3D"/>
          </a:solidFill>
          <a:ln/>
        </p:spPr>
        <p:txBody>
          <a:bodyPr/>
          <a:lstStyle/>
          <a:p>
            <a:endParaRPr/>
          </a:p>
        </p:txBody>
      </p:sp>
      <p:sp>
        <p:nvSpPr>
          <p:cNvPr id="29" name="Text 27"/>
          <p:cNvSpPr/>
          <p:nvPr/>
        </p:nvSpPr>
        <p:spPr>
          <a:xfrm>
            <a:off x="1038817" y="3515178"/>
            <a:ext cx="2112175"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Edge runtime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0" name="Text 28"/>
          <p:cNvSpPr/>
          <p:nvPr/>
        </p:nvSpPr>
        <p:spPr>
          <a:xfrm>
            <a:off x="1038817" y="3741077"/>
            <a:ext cx="2112175"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Fast, works offline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1" name="Shape 29"/>
          <p:cNvSpPr/>
          <p:nvPr/>
        </p:nvSpPr>
        <p:spPr>
          <a:xfrm>
            <a:off x="3254488" y="3431099"/>
            <a:ext cx="2228395" cy="586695"/>
          </a:xfrm>
          <a:prstGeom prst="roundRect">
            <a:avLst>
              <a:gd name="adj" fmla="val 8659"/>
            </a:avLst>
          </a:prstGeom>
          <a:solidFill>
            <a:srgbClr val="17212A"/>
          </a:solidFill>
          <a:ln/>
        </p:spPr>
        <p:txBody>
          <a:bodyPr/>
          <a:lstStyle/>
          <a:p>
            <a:endParaRPr/>
          </a:p>
        </p:txBody>
      </p:sp>
      <p:sp>
        <p:nvSpPr>
          <p:cNvPr id="32" name="Shape 30"/>
          <p:cNvSpPr/>
          <p:nvPr/>
        </p:nvSpPr>
        <p:spPr>
          <a:xfrm>
            <a:off x="3254488" y="3431099"/>
            <a:ext cx="2228395" cy="586695"/>
          </a:xfrm>
          <a:custGeom>
            <a:avLst/>
            <a:gdLst/>
            <a:ahLst/>
            <a:cxnLst/>
            <a:rect l="l" t="t" r="r" b="b"/>
            <a:pathLst>
              <a:path w="2228395" h="586695">
                <a:moveTo>
                  <a:pt x="0" y="50800"/>
                </a:moveTo>
                <a:lnTo>
                  <a:pt x="0" y="50800"/>
                </a:lnTo>
                <a:arcTo wR="50800" hR="50800" stAng="10800000" swAng="5400000"/>
                <a:lnTo>
                  <a:pt x="2177595" y="0"/>
                </a:lnTo>
                <a:arcTo wR="50800" hR="50800" stAng="16200000" swAng="5400000"/>
                <a:lnTo>
                  <a:pt x="2228395" y="50800"/>
                </a:lnTo>
                <a:arcTo wR="50800" hR="25400" stAng="0" swAng="-5400000"/>
                <a:lnTo>
                  <a:pt x="50800" y="25400"/>
                </a:lnTo>
                <a:arcTo wR="50800" hR="25400" stAng="16200000" swAng="-5400000"/>
                <a:close/>
              </a:path>
            </a:pathLst>
          </a:custGeom>
          <a:solidFill>
            <a:srgbClr val="FF8A3D"/>
          </a:solidFill>
          <a:ln/>
        </p:spPr>
        <p:txBody>
          <a:bodyPr/>
          <a:lstStyle/>
          <a:p>
            <a:endParaRPr/>
          </a:p>
        </p:txBody>
      </p:sp>
      <p:sp>
        <p:nvSpPr>
          <p:cNvPr id="33" name="Text 31"/>
          <p:cNvSpPr/>
          <p:nvPr/>
        </p:nvSpPr>
        <p:spPr>
          <a:xfrm>
            <a:off x="3343318" y="3515178"/>
            <a:ext cx="2112258"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Safety gate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4" name="Text 32"/>
          <p:cNvSpPr/>
          <p:nvPr/>
        </p:nvSpPr>
        <p:spPr>
          <a:xfrm>
            <a:off x="3343318" y="3741077"/>
            <a:ext cx="2112258"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Checks, e-stop</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5" name="Shape 33"/>
          <p:cNvSpPr/>
          <p:nvPr/>
        </p:nvSpPr>
        <p:spPr>
          <a:xfrm>
            <a:off x="5559069" y="3431099"/>
            <a:ext cx="2228395" cy="586695"/>
          </a:xfrm>
          <a:prstGeom prst="roundRect">
            <a:avLst>
              <a:gd name="adj" fmla="val 8659"/>
            </a:avLst>
          </a:prstGeom>
          <a:solidFill>
            <a:srgbClr val="17212A"/>
          </a:solidFill>
          <a:ln/>
        </p:spPr>
        <p:txBody>
          <a:bodyPr/>
          <a:lstStyle/>
          <a:p>
            <a:endParaRPr/>
          </a:p>
        </p:txBody>
      </p:sp>
      <p:sp>
        <p:nvSpPr>
          <p:cNvPr id="36" name="Shape 34"/>
          <p:cNvSpPr/>
          <p:nvPr/>
        </p:nvSpPr>
        <p:spPr>
          <a:xfrm>
            <a:off x="5559069" y="3431099"/>
            <a:ext cx="2228395" cy="586695"/>
          </a:xfrm>
          <a:custGeom>
            <a:avLst/>
            <a:gdLst/>
            <a:ahLst/>
            <a:cxnLst/>
            <a:rect l="l" t="t" r="r" b="b"/>
            <a:pathLst>
              <a:path w="2228395" h="586695">
                <a:moveTo>
                  <a:pt x="0" y="50800"/>
                </a:moveTo>
                <a:lnTo>
                  <a:pt x="0" y="50800"/>
                </a:lnTo>
                <a:arcTo wR="50800" hR="50800" stAng="10800000" swAng="5400000"/>
                <a:lnTo>
                  <a:pt x="2177595" y="0"/>
                </a:lnTo>
                <a:arcTo wR="50800" hR="50800" stAng="16200000" swAng="5400000"/>
                <a:lnTo>
                  <a:pt x="2228395" y="50800"/>
                </a:lnTo>
                <a:arcTo wR="50800" hR="25400" stAng="0" swAng="-5400000"/>
                <a:lnTo>
                  <a:pt x="50800" y="25400"/>
                </a:lnTo>
                <a:arcTo wR="50800" hR="25400" stAng="16200000" swAng="-5400000"/>
                <a:close/>
              </a:path>
            </a:pathLst>
          </a:custGeom>
          <a:solidFill>
            <a:srgbClr val="FF8A3D"/>
          </a:solidFill>
          <a:ln/>
        </p:spPr>
        <p:txBody>
          <a:bodyPr/>
          <a:lstStyle/>
          <a:p>
            <a:endParaRPr/>
          </a:p>
        </p:txBody>
      </p:sp>
      <p:sp>
        <p:nvSpPr>
          <p:cNvPr id="37" name="Text 35"/>
          <p:cNvSpPr/>
          <p:nvPr/>
        </p:nvSpPr>
        <p:spPr>
          <a:xfrm>
            <a:off x="5647898" y="3515178"/>
            <a:ext cx="2112258"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Perception ingest</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8" name="Text 36"/>
          <p:cNvSpPr/>
          <p:nvPr/>
        </p:nvSpPr>
        <p:spPr>
          <a:xfrm>
            <a:off x="5647898" y="3741077"/>
            <a:ext cx="2112258"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Streams to events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39" name="Shape 37"/>
          <p:cNvSpPr/>
          <p:nvPr/>
        </p:nvSpPr>
        <p:spPr>
          <a:xfrm>
            <a:off x="815931" y="4221742"/>
            <a:ext cx="7105589" cy="521797"/>
          </a:xfrm>
          <a:prstGeom prst="roundRect">
            <a:avLst>
              <a:gd name="adj" fmla="val 13995"/>
            </a:avLst>
          </a:prstGeom>
          <a:solidFill>
            <a:srgbClr val="131C23"/>
          </a:solidFill>
          <a:ln w="6350">
            <a:solidFill>
              <a:srgbClr val="2A3944"/>
            </a:solidFill>
            <a:prstDash val="solid"/>
          </a:ln>
        </p:spPr>
        <p:txBody>
          <a:bodyPr/>
          <a:lstStyle/>
          <a:p>
            <a:endParaRPr/>
          </a:p>
        </p:txBody>
      </p:sp>
      <p:sp>
        <p:nvSpPr>
          <p:cNvPr id="40" name="Text 38"/>
          <p:cNvSpPr/>
          <p:nvPr/>
        </p:nvSpPr>
        <p:spPr>
          <a:xfrm>
            <a:off x="944833" y="4376015"/>
            <a:ext cx="1384294"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CC8D7"/>
                </a:solidFill>
                <a:effectLst/>
                <a:uLnTx/>
                <a:uFillTx/>
                <a:latin typeface="IBM Plex Sans" pitchFamily="34" charset="0"/>
                <a:ea typeface="IBM Plex Sans" pitchFamily="34" charset="-122"/>
                <a:cs typeface="IBM Plex Sans" pitchFamily="34" charset="-120"/>
              </a:rPr>
              <a:t>Adapters, skills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41" name="Text 39"/>
          <p:cNvSpPr/>
          <p:nvPr/>
        </p:nvSpPr>
        <p:spPr>
          <a:xfrm>
            <a:off x="2354512" y="4312552"/>
            <a:ext cx="1302327" cy="340179"/>
          </a:xfrm>
          <a:custGeom>
            <a:avLst/>
            <a:gdLst/>
            <a:ahLst/>
            <a:cxnLst/>
            <a:rect l="l" t="t" r="r" b="b"/>
            <a:pathLst>
              <a:path w="1302327" h="340179">
                <a:moveTo>
                  <a:pt x="50800" y="0"/>
                </a:moveTo>
                <a:lnTo>
                  <a:pt x="1251527" y="0"/>
                </a:lnTo>
                <a:arcTo wR="50800" hR="50800" stAng="16200000" swAng="5400000"/>
                <a:lnTo>
                  <a:pt x="1302327"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ROS 2</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42" name="Text 40"/>
          <p:cNvSpPr/>
          <p:nvPr/>
        </p:nvSpPr>
        <p:spPr>
          <a:xfrm>
            <a:off x="3733025" y="4312552"/>
            <a:ext cx="1302407" cy="340179"/>
          </a:xfrm>
          <a:custGeom>
            <a:avLst/>
            <a:gdLst/>
            <a:ahLst/>
            <a:cxnLst/>
            <a:rect l="l" t="t" r="r" b="b"/>
            <a:pathLst>
              <a:path w="1302407" h="340179">
                <a:moveTo>
                  <a:pt x="50800" y="0"/>
                </a:moveTo>
                <a:lnTo>
                  <a:pt x="1251607" y="0"/>
                </a:lnTo>
                <a:arcTo wR="50800" hR="50800" stAng="16200000" swAng="5400000"/>
                <a:lnTo>
                  <a:pt x="1302407"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OPC UA, PLC</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43" name="Text 41"/>
          <p:cNvSpPr/>
          <p:nvPr/>
        </p:nvSpPr>
        <p:spPr>
          <a:xfrm>
            <a:off x="5111618" y="4312552"/>
            <a:ext cx="1302407" cy="340179"/>
          </a:xfrm>
          <a:custGeom>
            <a:avLst/>
            <a:gdLst/>
            <a:ahLst/>
            <a:cxnLst/>
            <a:rect l="l" t="t" r="r" b="b"/>
            <a:pathLst>
              <a:path w="1302407" h="340179">
                <a:moveTo>
                  <a:pt x="50800" y="0"/>
                </a:moveTo>
                <a:lnTo>
                  <a:pt x="1251607" y="0"/>
                </a:lnTo>
                <a:arcTo wR="50800" hR="50800" stAng="16200000" swAng="5400000"/>
                <a:lnTo>
                  <a:pt x="1302407"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Vendor SDKs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44" name="Text 42"/>
          <p:cNvSpPr/>
          <p:nvPr/>
        </p:nvSpPr>
        <p:spPr>
          <a:xfrm>
            <a:off x="6490211" y="4312552"/>
            <a:ext cx="1302407" cy="340179"/>
          </a:xfrm>
          <a:custGeom>
            <a:avLst/>
            <a:gdLst/>
            <a:ahLst/>
            <a:cxnLst/>
            <a:rect l="l" t="t" r="r" b="b"/>
            <a:pathLst>
              <a:path w="1302407" h="340179">
                <a:moveTo>
                  <a:pt x="50800" y="0"/>
                </a:moveTo>
                <a:lnTo>
                  <a:pt x="1251607" y="0"/>
                </a:lnTo>
                <a:arcTo wR="50800" hR="50800" stAng="16200000" swAng="5400000"/>
                <a:lnTo>
                  <a:pt x="1302407"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VLA models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45" name="Shape 43"/>
          <p:cNvSpPr/>
          <p:nvPr/>
        </p:nvSpPr>
        <p:spPr>
          <a:xfrm>
            <a:off x="815931" y="4826074"/>
            <a:ext cx="7105589" cy="521797"/>
          </a:xfrm>
          <a:prstGeom prst="roundRect">
            <a:avLst>
              <a:gd name="adj" fmla="val 13995"/>
            </a:avLst>
          </a:prstGeom>
          <a:solidFill>
            <a:srgbClr val="131C23"/>
          </a:solidFill>
          <a:ln w="6350">
            <a:solidFill>
              <a:srgbClr val="2A3944"/>
            </a:solidFill>
            <a:prstDash val="solid"/>
          </a:ln>
        </p:spPr>
        <p:txBody>
          <a:bodyPr/>
          <a:lstStyle/>
          <a:p>
            <a:endParaRPr/>
          </a:p>
        </p:txBody>
      </p:sp>
      <p:sp>
        <p:nvSpPr>
          <p:cNvPr id="46" name="Text 44"/>
          <p:cNvSpPr/>
          <p:nvPr/>
        </p:nvSpPr>
        <p:spPr>
          <a:xfrm>
            <a:off x="944833" y="4980347"/>
            <a:ext cx="1384294"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CC8D7"/>
                </a:solidFill>
                <a:effectLst/>
                <a:uLnTx/>
                <a:uFillTx/>
                <a:latin typeface="IBM Plex Sans" pitchFamily="34" charset="0"/>
                <a:ea typeface="IBM Plex Sans" pitchFamily="34" charset="-122"/>
                <a:cs typeface="IBM Plex Sans" pitchFamily="34" charset="-120"/>
              </a:rPr>
              <a:t>Robots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47" name="Text 45"/>
          <p:cNvSpPr/>
          <p:nvPr/>
        </p:nvSpPr>
        <p:spPr>
          <a:xfrm>
            <a:off x="2354512" y="4916884"/>
            <a:ext cx="1026656" cy="340179"/>
          </a:xfrm>
          <a:custGeom>
            <a:avLst/>
            <a:gdLst/>
            <a:ahLst/>
            <a:cxnLst/>
            <a:rect l="l" t="t" r="r" b="b"/>
            <a:pathLst>
              <a:path w="1026656" h="340179">
                <a:moveTo>
                  <a:pt x="50800" y="0"/>
                </a:moveTo>
                <a:lnTo>
                  <a:pt x="975856" y="0"/>
                </a:lnTo>
                <a:arcTo wR="50800" hR="50800" stAng="16200000" swAng="5400000"/>
                <a:lnTo>
                  <a:pt x="1026656"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Humanoids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48" name="Text 46"/>
          <p:cNvSpPr/>
          <p:nvPr/>
        </p:nvSpPr>
        <p:spPr>
          <a:xfrm>
            <a:off x="3457354" y="4916884"/>
            <a:ext cx="1026737" cy="340179"/>
          </a:xfrm>
          <a:custGeom>
            <a:avLst/>
            <a:gdLst/>
            <a:ahLst/>
            <a:cxnLst/>
            <a:rect l="l" t="t" r="r" b="b"/>
            <a:pathLst>
              <a:path w="1026737" h="340179">
                <a:moveTo>
                  <a:pt x="50800" y="0"/>
                </a:moveTo>
                <a:lnTo>
                  <a:pt x="975937" y="0"/>
                </a:lnTo>
                <a:arcTo wR="50800" hR="50800" stAng="16200000" swAng="5400000"/>
                <a:lnTo>
                  <a:pt x="1026737"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Mobile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49" name="Text 47"/>
          <p:cNvSpPr/>
          <p:nvPr/>
        </p:nvSpPr>
        <p:spPr>
          <a:xfrm>
            <a:off x="4560277" y="4916884"/>
            <a:ext cx="1026656" cy="340179"/>
          </a:xfrm>
          <a:custGeom>
            <a:avLst/>
            <a:gdLst/>
            <a:ahLst/>
            <a:cxnLst/>
            <a:rect l="l" t="t" r="r" b="b"/>
            <a:pathLst>
              <a:path w="1026656" h="340179">
                <a:moveTo>
                  <a:pt x="50800" y="0"/>
                </a:moveTo>
                <a:lnTo>
                  <a:pt x="975856" y="0"/>
                </a:lnTo>
                <a:arcTo wR="50800" hR="50800" stAng="16200000" swAng="5400000"/>
                <a:lnTo>
                  <a:pt x="1026656"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Arms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0" name="Text 48"/>
          <p:cNvSpPr/>
          <p:nvPr/>
        </p:nvSpPr>
        <p:spPr>
          <a:xfrm>
            <a:off x="5663119" y="4916884"/>
            <a:ext cx="1026656" cy="340179"/>
          </a:xfrm>
          <a:custGeom>
            <a:avLst/>
            <a:gdLst/>
            <a:ahLst/>
            <a:cxnLst/>
            <a:rect l="l" t="t" r="r" b="b"/>
            <a:pathLst>
              <a:path w="1026656" h="340179">
                <a:moveTo>
                  <a:pt x="50800" y="0"/>
                </a:moveTo>
                <a:lnTo>
                  <a:pt x="975856" y="0"/>
                </a:lnTo>
                <a:arcTo wR="50800" hR="50800" stAng="16200000" swAng="5400000"/>
                <a:lnTo>
                  <a:pt x="1026656"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Drones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1" name="Text 49"/>
          <p:cNvSpPr/>
          <p:nvPr/>
        </p:nvSpPr>
        <p:spPr>
          <a:xfrm>
            <a:off x="6765961" y="4916884"/>
            <a:ext cx="1026656" cy="340179"/>
          </a:xfrm>
          <a:custGeom>
            <a:avLst/>
            <a:gdLst/>
            <a:ahLst/>
            <a:cxnLst/>
            <a:rect l="l" t="t" r="r" b="b"/>
            <a:pathLst>
              <a:path w="1026656" h="340179">
                <a:moveTo>
                  <a:pt x="50800" y="0"/>
                </a:moveTo>
                <a:lnTo>
                  <a:pt x="975856" y="0"/>
                </a:lnTo>
                <a:arcTo wR="50800" hR="50800" stAng="16200000" swAng="5400000"/>
                <a:lnTo>
                  <a:pt x="1026656" y="289379"/>
                </a:lnTo>
                <a:arcTo wR="50800" hR="50800" stAng="0" swAng="5400000"/>
                <a:lnTo>
                  <a:pt x="50800" y="340179"/>
                </a:lnTo>
                <a:arcTo wR="50800" hR="50800" stAng="5400000" swAng="5400000"/>
                <a:lnTo>
                  <a:pt x="0" y="50800"/>
                </a:lnTo>
                <a:arcTo wR="50800" hR="50800" stAng="10800000" swAng="5400000"/>
                <a:close/>
              </a:path>
            </a:pathLst>
          </a:custGeom>
          <a:solidFill>
            <a:srgbClr val="17212A"/>
          </a:solidFill>
          <a:ln/>
        </p:spPr>
        <p:txBody>
          <a:bodyPr wrap="square" lIns="25400" tIns="63500" rIns="25400" bIns="3810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F1EC"/>
                </a:solidFill>
                <a:effectLst/>
                <a:uLnTx/>
                <a:uFillTx/>
                <a:latin typeface="IBM Plex Sans" pitchFamily="34" charset="0"/>
                <a:ea typeface="IBM Plex Sans" pitchFamily="34" charset="-122"/>
                <a:cs typeface="IBM Plex Sans" pitchFamily="34" charset="-120"/>
              </a:rPr>
              <a:t>Home</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2" name="Text 50"/>
          <p:cNvSpPr/>
          <p:nvPr/>
        </p:nvSpPr>
        <p:spPr>
          <a:xfrm>
            <a:off x="8229438" y="1749859"/>
            <a:ext cx="3244286" cy="2844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EEF1EC"/>
                </a:solidFill>
                <a:effectLst/>
                <a:uLnTx/>
                <a:uFillTx/>
                <a:latin typeface="Space Grotesk" pitchFamily="34" charset="0"/>
                <a:ea typeface="Space Grotesk" pitchFamily="34" charset="-122"/>
                <a:cs typeface="Space Grotesk" pitchFamily="34" charset="-120"/>
              </a:rPr>
              <a:t>Open on both sides</a:t>
            </a:r>
            <a:endParaRPr kumimoji="0" lang="en-US" sz="17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3" name="Text 51"/>
          <p:cNvSpPr/>
          <p:nvPr/>
        </p:nvSpPr>
        <p:spPr>
          <a:xfrm>
            <a:off x="8229438" y="2047032"/>
            <a:ext cx="3244286" cy="451912"/>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Any agent above, any robot below. No lock-in to one model or vendor.</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4" name="Text 52"/>
          <p:cNvSpPr/>
          <p:nvPr/>
        </p:nvSpPr>
        <p:spPr>
          <a:xfrm>
            <a:off x="8229438" y="2638639"/>
            <a:ext cx="3244286" cy="5435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8A3D"/>
                </a:solidFill>
                <a:effectLst/>
                <a:uLnTx/>
                <a:uFillTx/>
                <a:latin typeface="Space Grotesk" pitchFamily="34" charset="0"/>
                <a:ea typeface="Space Grotesk" pitchFamily="34" charset="-122"/>
                <a:cs typeface="Space Grotesk" pitchFamily="34" charset="-120"/>
              </a:rPr>
              <a:t>The LLM never drives actuators</a:t>
            </a:r>
            <a:endParaRPr kumimoji="0" lang="en-US" sz="17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5" name="Text 53"/>
          <p:cNvSpPr/>
          <p:nvPr/>
        </p:nvSpPr>
        <p:spPr>
          <a:xfrm>
            <a:off x="8229438" y="3194893"/>
            <a:ext cx="3244286" cy="451912"/>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Agents send intents. The safety gate decides what runs.</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6" name="Text 54"/>
          <p:cNvSpPr/>
          <p:nvPr/>
        </p:nvSpPr>
        <p:spPr>
          <a:xfrm>
            <a:off x="8229438" y="3786501"/>
            <a:ext cx="3244286" cy="2844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EEF1EC"/>
                </a:solidFill>
                <a:effectLst/>
                <a:uLnTx/>
                <a:uFillTx/>
                <a:latin typeface="Space Grotesk" pitchFamily="34" charset="0"/>
                <a:ea typeface="Space Grotesk" pitchFamily="34" charset="-122"/>
                <a:cs typeface="Space Grotesk" pitchFamily="34" charset="-120"/>
              </a:rPr>
              <a:t>Cloud brain, edge reflexes</a:t>
            </a:r>
            <a:endParaRPr kumimoji="0" lang="en-US" sz="17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7" name="Text 55"/>
          <p:cNvSpPr/>
          <p:nvPr/>
        </p:nvSpPr>
        <p:spPr>
          <a:xfrm>
            <a:off x="8229438" y="4083673"/>
            <a:ext cx="3244286" cy="451912"/>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6BD"/>
                </a:solidFill>
                <a:effectLst/>
                <a:uLnTx/>
                <a:uFillTx/>
                <a:latin typeface="IBM Plex Sans" pitchFamily="34" charset="0"/>
                <a:ea typeface="IBM Plex Sans" pitchFamily="34" charset="-122"/>
                <a:cs typeface="IBM Plex Sans" pitchFamily="34" charset="-120"/>
              </a:rPr>
              <a:t>Slow reasoning in the cloud; fast, safe control beside the robot.</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8" name="Text 56"/>
          <p:cNvSpPr/>
          <p:nvPr/>
        </p:nvSpPr>
        <p:spPr>
          <a:xfrm>
            <a:off x="812756" y="6238298"/>
            <a:ext cx="10883386" cy="23865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4949C"/>
                </a:solidFill>
                <a:effectLst/>
                <a:uLnTx/>
                <a:uFillTx/>
                <a:latin typeface="IBM Plex Sans" pitchFamily="34" charset="0"/>
                <a:ea typeface="IBM Plex Sans" pitchFamily="34" charset="-122"/>
                <a:cs typeface="IBM Plex Sans" pitchFamily="34" charset="-120"/>
              </a:rPr>
              <a:t>Blue top edge = runs in cloud · Orange top edge = runs at the edge, beside the robot</a:t>
            </a:r>
            <a:endParaRPr kumimoji="0" lang="en-US" sz="1200" b="0" i="0" u="none" strike="noStrike" kern="1200" cap="none" spc="0" normalizeH="0" baseline="0" noProof="0" dirty="0">
              <a:ln>
                <a:noFill/>
              </a:ln>
              <a:solidFill>
                <a:srgbClr val="EEF1EC"/>
              </a:solidFill>
              <a:effectLst/>
              <a:uLnTx/>
              <a:uFillTx/>
              <a:latin typeface="IBM Plex Sans"/>
              <a:ea typeface="+mn-ea"/>
              <a:cs typeface="+mn-cs"/>
            </a:endParaRPr>
          </a:p>
        </p:txBody>
      </p:sp>
      <p:sp>
        <p:nvSpPr>
          <p:cNvPr id="59" name="TextBox 58">
            <a:extLst>
              <a:ext uri="{FF2B5EF4-FFF2-40B4-BE49-F238E27FC236}">
                <a16:creationId xmlns:a16="http://schemas.microsoft.com/office/drawing/2014/main" id="{823B734A-0D1B-4BC9-C23F-F1F1BC8CD0D8}"/>
              </a:ext>
            </a:extLst>
          </p:cNvPr>
          <p:cNvSpPr txBox="1"/>
          <p:nvPr/>
        </p:nvSpPr>
        <p:spPr>
          <a:xfrm>
            <a:off x="812756" y="5619391"/>
            <a:ext cx="609600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EF1EC"/>
                </a:solidFill>
                <a:effectLst/>
                <a:uLnTx/>
                <a:uFillTx/>
                <a:latin typeface="IBM Plex Sans"/>
                <a:ea typeface="+mn-ea"/>
                <a:cs typeface="+mn-cs"/>
              </a:rPr>
              <a:t>* OPC UA (Open Platform Communications Unified Architecture)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EF1EC"/>
                </a:solidFill>
                <a:effectLst/>
                <a:uLnTx/>
                <a:uFillTx/>
                <a:latin typeface="IBM Plex Sans"/>
                <a:ea typeface="+mn-ea"/>
                <a:cs typeface="+mn-cs"/>
              </a:rPr>
              <a:t>* PLC (Programmable Logic Controller)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1121" y="609566"/>
            <a:ext cx="11092837"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C3AED"/>
                </a:solidFill>
                <a:latin typeface="Rubik" pitchFamily="34" charset="0"/>
                <a:ea typeface="Rubik" pitchFamily="34" charset="-122"/>
                <a:cs typeface="Rubik" pitchFamily="34" charset="-120"/>
              </a:rPr>
              <a:t>ATARI · Agent To Autonomous Robot Interface</a:t>
            </a:r>
            <a:endParaRPr lang="en-US" sz="1200" dirty="0"/>
          </a:p>
        </p:txBody>
      </p:sp>
      <p:sp>
        <p:nvSpPr>
          <p:cNvPr id="3" name="Text 1"/>
          <p:cNvSpPr>
            <a:spLocks noGrp="1"/>
          </p:cNvSpPr>
          <p:nvPr>
            <p:ph type="title"/>
          </p:nvPr>
        </p:nvSpPr>
        <p:spPr>
          <a:xfrm>
            <a:off x="711121" y="860915"/>
            <a:ext cx="11092837"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Eight ideas build ATARI directly</a:t>
            </a:r>
            <a:endParaRPr lang="en-US" sz="3000" dirty="0"/>
          </a:p>
        </p:txBody>
      </p:sp>
      <p:graphicFrame>
        <p:nvGraphicFramePr>
          <p:cNvPr id="4" name="Table 0"/>
          <p:cNvGraphicFramePr>
            <a:graphicFrameLocks noGrp="1"/>
          </p:cNvGraphicFramePr>
          <p:nvPr/>
        </p:nvGraphicFramePr>
        <p:xfrm>
          <a:off x="721430" y="1493516"/>
          <a:ext cx="6949259" cy="3398240"/>
        </p:xfrm>
        <a:graphic>
          <a:graphicData uri="http://schemas.openxmlformats.org/drawingml/2006/table">
            <a:tbl>
              <a:tblPr/>
              <a:tblGrid>
                <a:gridCol w="3057674">
                  <a:extLst>
                    <a:ext uri="{9D8B030D-6E8A-4147-A177-3AD203B41FA5}">
                      <a16:colId xmlns:a16="http://schemas.microsoft.com/office/drawing/2014/main" val="20000"/>
                    </a:ext>
                  </a:extLst>
                </a:gridCol>
                <a:gridCol w="833911">
                  <a:extLst>
                    <a:ext uri="{9D8B030D-6E8A-4147-A177-3AD203B41FA5}">
                      <a16:colId xmlns:a16="http://schemas.microsoft.com/office/drawing/2014/main" val="20001"/>
                    </a:ext>
                  </a:extLst>
                </a:gridCol>
                <a:gridCol w="3057674">
                  <a:extLst>
                    <a:ext uri="{9D8B030D-6E8A-4147-A177-3AD203B41FA5}">
                      <a16:colId xmlns:a16="http://schemas.microsoft.com/office/drawing/2014/main" val="20002"/>
                    </a:ext>
                  </a:extLst>
                </a:gridCol>
              </a:tblGrid>
              <a:tr h="330192">
                <a:tc>
                  <a:txBody>
                    <a:bodyPr/>
                    <a:lstStyle/>
                    <a:p>
                      <a:pPr marL="0" indent="0">
                        <a:lnSpc>
                          <a:spcPts val="1680"/>
                        </a:lnSpc>
                        <a:buNone/>
                      </a:pPr>
                      <a:r>
                        <a:rPr lang="en-US" sz="1200" b="1" dirty="0">
                          <a:solidFill>
                            <a:srgbClr val="F7F5F0"/>
                          </a:solidFill>
                          <a:latin typeface="Rubik" pitchFamily="34" charset="0"/>
                          <a:ea typeface="Rubik" pitchFamily="34" charset="-122"/>
                          <a:cs typeface="Rubik" pitchFamily="34" charset="-120"/>
                        </a:rPr>
                        <a:t>Idea</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gn="ctr">
                        <a:lnSpc>
                          <a:spcPts val="1680"/>
                        </a:lnSpc>
                        <a:buNone/>
                      </a:pPr>
                      <a:r>
                        <a:rPr lang="en-US" sz="1200" b="1" dirty="0">
                          <a:solidFill>
                            <a:srgbClr val="F7F5F0"/>
                          </a:solidFill>
                          <a:latin typeface="Rubik" pitchFamily="34" charset="0"/>
                          <a:ea typeface="Rubik" pitchFamily="34" charset="-122"/>
                          <a:cs typeface="Rubik" pitchFamily="34" charset="-120"/>
                        </a:rPr>
                        <a:t>ATARI</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nSpc>
                          <a:spcPts val="1680"/>
                        </a:lnSpc>
                        <a:buNone/>
                      </a:pPr>
                      <a:r>
                        <a:rPr lang="en-US" sz="1200" b="1" dirty="0">
                          <a:solidFill>
                            <a:srgbClr val="F7F5F0"/>
                          </a:solidFill>
                          <a:latin typeface="Rubik" pitchFamily="34" charset="0"/>
                          <a:ea typeface="Rubik" pitchFamily="34" charset="-122"/>
                          <a:cs typeface="Rubik" pitchFamily="34" charset="-120"/>
                        </a:rPr>
                        <a:t>What it builds for ATARI</a:t>
                      </a:r>
                      <a:endParaRPr lang="en-US" sz="1200" dirty="0">
                        <a:latin typeface="Rubik" charset="0"/>
                        <a:ea typeface="Rubik" charset="0"/>
                        <a:cs typeface="Rubik" charset="0"/>
                      </a:endParaRPr>
                    </a:p>
                  </a:txBody>
                  <a:tcPr marL="53340" marR="53340" marT="53340" marB="5334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330192">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New Room, scan only</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World state: the room model</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30192">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Listen to the Machine</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Audio-video fusion</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2"/>
                  </a:ext>
                </a:extLst>
              </a:tr>
              <a:tr h="330192">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Camera Companion</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5</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Real-time perception ingest</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30192">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What I Did Today</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Event memory</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r h="330192">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Fridge-to-Table</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Spatial inventory, toward the Chef agent</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543448">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Visual acceptance service</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Execution monitoring: did the task succeed</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6"/>
                  </a:ext>
                </a:extLst>
              </a:tr>
              <a:tr h="330192">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The Referee</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Object tracking from one camera</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543448">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Second-Hand Inspector</a:t>
                      </a:r>
                      <a:endParaRPr lang="en-US" sz="1200" dirty="0">
                        <a:latin typeface="Rubik" charset="0"/>
                        <a:ea typeface="Rubik" charset="0"/>
                        <a:cs typeface="Rubik"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4</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680"/>
                        </a:lnSpc>
                        <a:buNone/>
                      </a:pPr>
                      <a:r>
                        <a:rPr lang="en-US" sz="1200" dirty="0">
                          <a:solidFill>
                            <a:srgbClr val="16202E"/>
                          </a:solidFill>
                          <a:latin typeface="Rubik" pitchFamily="34" charset="0"/>
                          <a:ea typeface="Rubik" pitchFamily="34" charset="-122"/>
                          <a:cs typeface="Rubik" pitchFamily="34" charset="-120"/>
                        </a:rPr>
                        <a:t>Diagnosing a physical object by sound and image</a:t>
                      </a:r>
                      <a:endParaRPr lang="en-US" sz="1200" dirty="0">
                        <a:latin typeface="Rubik" charset="0"/>
                        <a:ea typeface="Rubik" charset="0"/>
                        <a:cs typeface="Rubik" charset="0"/>
                      </a:endParaRPr>
                    </a:p>
                  </a:txBody>
                  <a:tcPr marL="53340" marR="53340" marT="53340" marB="5334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8"/>
                  </a:ext>
                </a:extLst>
              </a:tr>
            </a:tbl>
          </a:graphicData>
        </a:graphic>
      </p:graphicFrame>
      <p:sp>
        <p:nvSpPr>
          <p:cNvPr id="5" name="Shape 2"/>
          <p:cNvSpPr/>
          <p:nvPr/>
        </p:nvSpPr>
        <p:spPr>
          <a:xfrm>
            <a:off x="7924615" y="1483207"/>
            <a:ext cx="3555929" cy="3712489"/>
          </a:xfrm>
          <a:prstGeom prst="roundRect">
            <a:avLst>
              <a:gd name="adj" fmla="val 3571"/>
            </a:avLst>
          </a:prstGeom>
          <a:solidFill>
            <a:srgbClr val="16202E"/>
          </a:solidFill>
          <a:ln/>
        </p:spPr>
        <p:txBody>
          <a:bodyPr/>
          <a:lstStyle/>
          <a:p>
            <a:endParaRPr/>
          </a:p>
        </p:txBody>
      </p:sp>
      <p:sp>
        <p:nvSpPr>
          <p:cNvPr id="6" name="Text 3"/>
          <p:cNvSpPr/>
          <p:nvPr/>
        </p:nvSpPr>
        <p:spPr>
          <a:xfrm>
            <a:off x="8127803" y="1686396"/>
            <a:ext cx="3244038" cy="317499"/>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7F5F0"/>
                </a:solidFill>
                <a:latin typeface="Rubik" pitchFamily="34" charset="0"/>
                <a:ea typeface="Rubik" pitchFamily="34" charset="-122"/>
                <a:cs typeface="Rubik" pitchFamily="34" charset="-120"/>
              </a:rPr>
              <a:t>What ATARI needs in Q4</a:t>
            </a:r>
            <a:endParaRPr lang="en-US" sz="2000" dirty="0"/>
          </a:p>
        </p:txBody>
      </p:sp>
      <p:sp>
        <p:nvSpPr>
          <p:cNvPr id="7" name="Text 4"/>
          <p:cNvSpPr/>
          <p:nvPr/>
        </p:nvSpPr>
        <p:spPr>
          <a:xfrm>
            <a:off x="8188509" y="2080050"/>
            <a:ext cx="3177236" cy="2013560"/>
          </a:xfrm>
          <a:prstGeom prst="rect">
            <a:avLst/>
          </a:prstGeom>
          <a:noFill/>
          <a:ln/>
        </p:spPr>
        <p:txBody>
          <a:bodyPr wrap="square" lIns="0" tIns="0" rIns="0" bIns="0" rtlCol="0" anchor="t">
            <a:normAutofit/>
          </a:bodyPr>
          <a:lstStyle/>
          <a:p>
            <a:pPr marL="142494" indent="-142494" algn="l">
              <a:lnSpc>
                <a:spcPts val="1740"/>
              </a:lnSpc>
              <a:buSzPct val="100000"/>
              <a:buChar char="•"/>
            </a:pPr>
            <a:r>
              <a:rPr lang="en-US" sz="1200" dirty="0">
                <a:solidFill>
                  <a:srgbClr val="F7F5F0"/>
                </a:solidFill>
                <a:latin typeface="Rubik" pitchFamily="34" charset="0"/>
                <a:ea typeface="Rubik" pitchFamily="34" charset="-122"/>
                <a:cs typeface="Rubik" pitchFamily="34" charset="-120"/>
              </a:rPr>
              <a:t>Live audio and video turned into events on one timeline</a:t>
            </a:r>
            <a:endParaRPr lang="en-US" sz="1200" dirty="0"/>
          </a:p>
          <a:p>
            <a:pPr marL="142494" indent="-142494" algn="l">
              <a:lnSpc>
                <a:spcPts val="1740"/>
              </a:lnSpc>
              <a:buSzPct val="100000"/>
              <a:buChar char="•"/>
            </a:pPr>
            <a:r>
              <a:rPr lang="en-US" sz="1200" dirty="0">
                <a:solidFill>
                  <a:srgbClr val="F7F5F0"/>
                </a:solidFill>
                <a:latin typeface="Rubik" pitchFamily="34" charset="0"/>
                <a:ea typeface="Rubik" pitchFamily="34" charset="-122"/>
                <a:cs typeface="Rubik" pitchFamily="34" charset="-120"/>
              </a:rPr>
              <a:t>Spatial understanding: objects, positions, layout</a:t>
            </a:r>
            <a:endParaRPr lang="en-US" sz="1200" dirty="0"/>
          </a:p>
          <a:p>
            <a:pPr marL="142494" indent="-142494" algn="l">
              <a:lnSpc>
                <a:spcPts val="1740"/>
              </a:lnSpc>
              <a:buSzPct val="100000"/>
              <a:buChar char="•"/>
            </a:pPr>
            <a:r>
              <a:rPr lang="en-US" sz="1200" dirty="0">
                <a:solidFill>
                  <a:srgbClr val="F7F5F0"/>
                </a:solidFill>
                <a:latin typeface="Rubik" pitchFamily="34" charset="0"/>
                <a:ea typeface="Rubik" pitchFamily="34" charset="-122"/>
                <a:cs typeface="Rubik" pitchFamily="34" charset="-120"/>
              </a:rPr>
              <a:t>Audio understanding: speech, sound events</a:t>
            </a:r>
            <a:endParaRPr lang="en-US" sz="1200" dirty="0"/>
          </a:p>
          <a:p>
            <a:pPr marL="142494" indent="-142494" algn="l">
              <a:lnSpc>
                <a:spcPts val="1740"/>
              </a:lnSpc>
              <a:buSzPct val="100000"/>
              <a:buChar char="•"/>
            </a:pPr>
            <a:r>
              <a:rPr lang="en-US" sz="1200" dirty="0">
                <a:solidFill>
                  <a:srgbClr val="F7F5F0"/>
                </a:solidFill>
                <a:latin typeface="Rubik" pitchFamily="34" charset="0"/>
                <a:ea typeface="Rubik" pitchFamily="34" charset="-122"/>
                <a:cs typeface="Rubik" pitchFamily="34" charset="-120"/>
              </a:rPr>
              <a:t>Spatial memory as an agent tool</a:t>
            </a:r>
            <a:endParaRPr lang="en-US" sz="1200" dirty="0"/>
          </a:p>
          <a:p>
            <a:pPr marL="142494" indent="-142494" algn="l">
              <a:lnSpc>
                <a:spcPts val="1740"/>
              </a:lnSpc>
              <a:buSzPct val="100000"/>
              <a:buChar char="•"/>
            </a:pPr>
            <a:r>
              <a:rPr lang="en-US" sz="1200" dirty="0">
                <a:solidFill>
                  <a:srgbClr val="F7F5F0"/>
                </a:solidFill>
                <a:latin typeface="Rubik" pitchFamily="34" charset="0"/>
                <a:ea typeface="Rubik" pitchFamily="34" charset="-122"/>
                <a:cs typeface="Rubik" pitchFamily="34" charset="-120"/>
              </a:rPr>
              <a:t>Recorder and metrics: replay, accuracy, latency</a:t>
            </a:r>
            <a:endParaRPr lang="en-US" sz="1200" dirty="0"/>
          </a:p>
        </p:txBody>
      </p:sp>
      <p:sp>
        <p:nvSpPr>
          <p:cNvPr id="8" name="Text 5"/>
          <p:cNvSpPr/>
          <p:nvPr/>
        </p:nvSpPr>
        <p:spPr>
          <a:xfrm>
            <a:off x="8127803" y="4169764"/>
            <a:ext cx="3244038" cy="848143"/>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9C2CF"/>
                </a:solidFill>
                <a:latin typeface="Rubik" pitchFamily="34" charset="0"/>
                <a:ea typeface="Rubik" pitchFamily="34" charset="-122"/>
                <a:cs typeface="Rubik" pitchFamily="34" charset="-120"/>
              </a:rPr>
              <a:t>No robot is needed in 2026: phones, cameras and microphones are enough. In 2027 the same parts become the robot's perception and world state.</a:t>
            </a:r>
            <a:endParaRPr lang="en-US" sz="1200" dirty="0"/>
          </a:p>
        </p:txBody>
      </p:sp>
      <p:sp>
        <p:nvSpPr>
          <p:cNvPr id="9" name="Text 6"/>
          <p:cNvSpPr/>
          <p:nvPr/>
        </p:nvSpPr>
        <p:spPr>
          <a:xfrm>
            <a:off x="711121" y="6238298"/>
            <a:ext cx="11092670" cy="2386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Rubik" pitchFamily="34" charset="0"/>
                <a:ea typeface="Rubik" pitchFamily="34" charset="-122"/>
                <a:cs typeface="Rubik" pitchFamily="34" charset="-120"/>
              </a:rPr>
              <a:t>The first four appear in the ATARI deck as Q4 demos. Its build order: New Room, then Listen to the Machine, then Camera Companion.</a:t>
            </a:r>
            <a:endParaRPr lang="en-US" sz="1200" dirty="0"/>
          </a:p>
        </p:txBody>
      </p:sp>
    </p:spTree>
    <p:extLst>
      <p:ext uri="{BB962C8B-B14F-4D97-AF65-F5344CB8AC3E}">
        <p14:creationId xmlns:p14="http://schemas.microsoft.com/office/powerpoint/2010/main" val="129291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F766E"/>
        </a:solidFill>
        <a:effectLst/>
      </p:bgPr>
    </p:bg>
    <p:spTree>
      <p:nvGrpSpPr>
        <p:cNvPr id="1" name=""/>
        <p:cNvGrpSpPr/>
        <p:nvPr/>
      </p:nvGrpSpPr>
      <p:grpSpPr>
        <a:xfrm>
          <a:off x="0" y="0"/>
          <a:ext cx="0" cy="0"/>
          <a:chOff x="0" y="0"/>
          <a:chExt cx="0" cy="0"/>
        </a:xfrm>
      </p:grpSpPr>
      <p:sp>
        <p:nvSpPr>
          <p:cNvPr id="2" name="Text 0"/>
          <p:cNvSpPr/>
          <p:nvPr/>
        </p:nvSpPr>
        <p:spPr>
          <a:xfrm>
            <a:off x="812756" y="812757"/>
            <a:ext cx="10883469" cy="238656"/>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7F5F0"/>
                </a:solidFill>
                <a:latin typeface="Rubik" pitchFamily="34" charset="0"/>
                <a:ea typeface="Rubik" pitchFamily="34" charset="-122"/>
                <a:cs typeface="Rubik" pitchFamily="34" charset="-120"/>
              </a:rPr>
              <a:t>TEAM 1 · LEAD: MICHAEL · 16 IDEAS · 4 OF THE TOP 10</a:t>
            </a:r>
            <a:endParaRPr lang="en-US" sz="1200" dirty="0"/>
          </a:p>
        </p:txBody>
      </p:sp>
      <p:sp>
        <p:nvSpPr>
          <p:cNvPr id="3" name="Text 1"/>
          <p:cNvSpPr>
            <a:spLocks noGrp="1"/>
          </p:cNvSpPr>
          <p:nvPr>
            <p:ph type="title"/>
          </p:nvPr>
        </p:nvSpPr>
        <p:spPr>
          <a:xfrm>
            <a:off x="812756" y="2573325"/>
            <a:ext cx="10883469" cy="825512"/>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5F0"/>
                </a:solidFill>
                <a:latin typeface="Rubik" pitchFamily="34" charset="0"/>
                <a:ea typeface="Rubik" pitchFamily="34" charset="-122"/>
                <a:cs typeface="Rubik" pitchFamily="34" charset="-120"/>
              </a:rPr>
              <a:t>Business &amp; Research</a:t>
            </a:r>
            <a:endParaRPr lang="en-US" sz="6000" dirty="0"/>
          </a:p>
        </p:txBody>
      </p:sp>
      <p:sp>
        <p:nvSpPr>
          <p:cNvPr id="4" name="Text 2"/>
          <p:cNvSpPr/>
          <p:nvPr/>
        </p:nvSpPr>
        <p:spPr>
          <a:xfrm>
            <a:off x="812756" y="3576628"/>
            <a:ext cx="10883469" cy="723797"/>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F7F5F0"/>
                </a:solidFill>
                <a:latin typeface="Rubik" pitchFamily="34" charset="0"/>
                <a:ea typeface="Rubik" pitchFamily="34" charset="-122"/>
                <a:cs typeface="Rubik" pitchFamily="34" charset="-120"/>
              </a:rPr>
              <a:t>One-person companies, office work, developer tooling and scientific evidence. Users here contribute code, so this team carries the open-source community.</a:t>
            </a:r>
            <a:endParaRPr lang="en-US" sz="2200" dirty="0"/>
          </a:p>
        </p:txBody>
      </p:sp>
      <p:sp>
        <p:nvSpPr>
          <p:cNvPr id="5" name="Text 3"/>
          <p:cNvSpPr/>
          <p:nvPr/>
        </p:nvSpPr>
        <p:spPr>
          <a:xfrm>
            <a:off x="812756" y="5822339"/>
            <a:ext cx="10883469" cy="2482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5F0"/>
                </a:solidFill>
                <a:latin typeface="Rubik" pitchFamily="34" charset="0"/>
                <a:ea typeface="Rubik" pitchFamily="34" charset="-122"/>
                <a:cs typeface="Rubik" pitchFamily="34" charset="-120"/>
              </a:rPr>
              <a:t>Lead bets: Bug Video-to-Fix · Visual acceptance service · Figure and evidence auditor · Paper-to-Code · Live Meeting Copilot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94"/>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1 of 50 · New idea</a:t>
            </a:r>
            <a:endParaRPr lang="en-US" sz="1200" dirty="0"/>
          </a:p>
        </p:txBody>
      </p:sp>
      <p:sp>
        <p:nvSpPr>
          <p:cNvPr id="3" name="Text 1"/>
          <p:cNvSpPr>
            <a:spLocks noGrp="1"/>
          </p:cNvSpPr>
          <p:nvPr>
            <p:ph type="title"/>
          </p:nvPr>
        </p:nvSpPr>
        <p:spPr>
          <a:xfrm>
            <a:off x="609567" y="708540"/>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Bug Video-to-Fix</a:t>
            </a:r>
            <a:endParaRPr lang="en-US" sz="3000" dirty="0"/>
          </a:p>
        </p:txBody>
      </p:sp>
      <p:sp>
        <p:nvSpPr>
          <p:cNvPr id="4" name="Text 2"/>
          <p:cNvSpPr/>
          <p:nvPr/>
        </p:nvSpPr>
        <p:spPr>
          <a:xfrm>
            <a:off x="609567" y="128001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Users report a bug as a shaky screen recording and the words "it's broken". Maintainers spend more time reproducing the bug than fixing it.</a:t>
            </a:r>
            <a:endParaRPr lang="en-US" sz="1200" dirty="0"/>
          </a:p>
        </p:txBody>
      </p:sp>
      <p:sp>
        <p:nvSpPr>
          <p:cNvPr id="5" name="Text 3"/>
          <p:cNvSpPr/>
          <p:nvPr/>
        </p:nvSpPr>
        <p:spPr>
          <a:xfrm>
            <a:off x="609567" y="1767576"/>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bot installed on a repository. It watches the recording, works out which steps were taken and what went wrong, reproduces the bug in a real browser, proposes a fix and records the same scenario after the fix. A human maintainer approves the merge.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screen recording or screenshots, and the repo.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an issue with reproduction steps, a PR and a before-and-after video.</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user uploads 20 seconds of a date picker closing by itself. The agent reproduces it, opens a PR and attaches the fixed recording.</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search turned up a research demo called Sherlock (bug to PR), a similar Builder.io workflow and small bug-reproduction skills. Coding agents are a crowded field. Novelty: the entry point is a video from a non-technical user, and the proof is a video.</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Sherlock</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Builder.io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Jam</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6">
                  <a:extLst>
                    <a:ext uri="{A12FA001-AC4F-418D-AE19-62706E023703}">
                      <ahyp:hlinkClr xmlns:ahyp="http://schemas.microsoft.com/office/drawing/2018/hyperlinkcolor" val="tx"/>
                    </a:ext>
                  </a:extLst>
                </a:hlinkClick>
              </a:rPr>
              <a:t>Metabase Repro-Bot</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5/5.</a:t>
            </a:r>
            <a:r>
              <a:rPr lang="en-US" sz="1200" dirty="0">
                <a:solidFill>
                  <a:srgbClr val="16202E"/>
                </a:solidFill>
                <a:latin typeface="Rubik" pitchFamily="34" charset="0"/>
                <a:ea typeface="Rubik" pitchFamily="34" charset="-122"/>
                <a:cs typeface="Rubik" pitchFamily="34" charset="-120"/>
              </a:rPr>
              <a:t> The users are open-source maintainers. Ship as a GitHub bot and run it first on the openJiuwen repo, so every fix is a public demo.</a:t>
            </a:r>
            <a:endParaRPr lang="en-US" sz="1200" dirty="0"/>
          </a:p>
        </p:txBody>
      </p:sp>
      <p:sp>
        <p:nvSpPr>
          <p:cNvPr id="9" name="Text 7"/>
          <p:cNvSpPr/>
          <p:nvPr/>
        </p:nvSpPr>
        <p:spPr>
          <a:xfrm>
            <a:off x="609567" y="474628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Indirect link: turning video into a sequence of events and proving execution on video resemble ATARI's recorder and execution monitoring, but on a screen, not in physical space.</a:t>
            </a:r>
            <a:endParaRPr lang="en-US" sz="1200" dirty="0"/>
          </a:p>
        </p:txBody>
      </p:sp>
      <p:sp>
        <p:nvSpPr>
          <p:cNvPr id="10" name="Shape 8"/>
          <p:cNvSpPr/>
          <p:nvPr/>
        </p:nvSpPr>
        <p:spPr>
          <a:xfrm>
            <a:off x="7772484" y="1280015"/>
            <a:ext cx="3809936" cy="1546508"/>
          </a:xfrm>
          <a:prstGeom prst="roundRect">
            <a:avLst>
              <a:gd name="adj" fmla="val 8212"/>
            </a:avLst>
          </a:prstGeom>
          <a:solidFill>
            <a:srgbClr val="ECE8DF"/>
          </a:solidFill>
          <a:ln/>
        </p:spPr>
        <p:txBody>
          <a:bodyPr/>
          <a:lstStyle/>
          <a:p>
            <a:endParaRPr/>
          </a:p>
        </p:txBody>
      </p:sp>
      <p:pic>
        <p:nvPicPr>
          <p:cNvPr id="11" name="Image 0" descr="Screen recording"/>
          <p:cNvPicPr>
            <a:picLocks noChangeAspect="1"/>
          </p:cNvPicPr>
          <p:nvPr/>
        </p:nvPicPr>
        <p:blipFill>
          <a:blip r:embed="rId7"/>
          <a:srcRect/>
          <a:stretch/>
        </p:blipFill>
        <p:spPr>
          <a:xfrm>
            <a:off x="7975593" y="1457759"/>
            <a:ext cx="761939" cy="761939"/>
          </a:xfrm>
          <a:prstGeom prst="rect">
            <a:avLst/>
          </a:prstGeom>
        </p:spPr>
      </p:pic>
      <p:sp>
        <p:nvSpPr>
          <p:cNvPr id="12" name="Text 9"/>
          <p:cNvSpPr/>
          <p:nvPr/>
        </p:nvSpPr>
        <p:spPr>
          <a:xfrm>
            <a:off x="7874007" y="2283154"/>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Bug recording</a:t>
            </a:r>
            <a:endParaRPr lang="en-US" sz="1200" dirty="0"/>
          </a:p>
        </p:txBody>
      </p:sp>
      <p:pic>
        <p:nvPicPr>
          <p:cNvPr id="13" name="Image 1" descr="arrow-right"/>
          <p:cNvPicPr>
            <a:picLocks noChangeAspect="1"/>
          </p:cNvPicPr>
          <p:nvPr/>
        </p:nvPicPr>
        <p:blipFill>
          <a:blip r:embed="rId8"/>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Wrench"/>
          <p:cNvPicPr>
            <a:picLocks noChangeAspect="1"/>
          </p:cNvPicPr>
          <p:nvPr/>
        </p:nvPicPr>
        <p:blipFill>
          <a:blip r:embed="rId9"/>
          <a:srcRect/>
          <a:stretch/>
        </p:blipFill>
        <p:spPr>
          <a:xfrm>
            <a:off x="9499632" y="1660947"/>
            <a:ext cx="355561" cy="355561"/>
          </a:xfrm>
          <a:prstGeom prst="rect">
            <a:avLst/>
          </a:prstGeom>
        </p:spPr>
      </p:pic>
      <p:sp>
        <p:nvSpPr>
          <p:cNvPr id="16" name="Text 11"/>
          <p:cNvSpPr/>
          <p:nvPr/>
        </p:nvSpPr>
        <p:spPr>
          <a:xfrm>
            <a:off x="9194857" y="2283154"/>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Reproduce and fix</a:t>
            </a:r>
            <a:endParaRPr lang="en-US" sz="1200" dirty="0"/>
          </a:p>
        </p:txBody>
      </p:sp>
      <p:pic>
        <p:nvPicPr>
          <p:cNvPr id="17" name="Image 3" descr="arrow-right"/>
          <p:cNvPicPr>
            <a:picLocks noChangeAspect="1"/>
          </p:cNvPicPr>
          <p:nvPr/>
        </p:nvPicPr>
        <p:blipFill>
          <a:blip r:embed="rId8"/>
          <a:srcRect l="-21" r="-21"/>
          <a:stretch/>
        </p:blipFill>
        <p:spPr>
          <a:xfrm>
            <a:off x="10223639" y="1989770"/>
            <a:ext cx="228557" cy="126923"/>
          </a:xfrm>
          <a:prstGeom prst="rect">
            <a:avLst/>
          </a:prstGeom>
        </p:spPr>
      </p:pic>
      <p:pic>
        <p:nvPicPr>
          <p:cNvPr id="18" name="Image 4" descr="Pull request"/>
          <p:cNvPicPr>
            <a:picLocks noChangeAspect="1"/>
          </p:cNvPicPr>
          <p:nvPr/>
        </p:nvPicPr>
        <p:blipFill>
          <a:blip r:embed="rId10"/>
          <a:srcRect/>
          <a:stretch/>
        </p:blipFill>
        <p:spPr>
          <a:xfrm>
            <a:off x="10617292" y="1457759"/>
            <a:ext cx="761939" cy="761939"/>
          </a:xfrm>
          <a:prstGeom prst="rect">
            <a:avLst/>
          </a:prstGeom>
        </p:spPr>
      </p:pic>
      <p:sp>
        <p:nvSpPr>
          <p:cNvPr id="19" name="Text 12"/>
          <p:cNvSpPr/>
          <p:nvPr/>
        </p:nvSpPr>
        <p:spPr>
          <a:xfrm>
            <a:off x="10515706" y="2283154"/>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PR and proof video</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8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#1</a:t>
            </a:r>
            <a:endParaRPr lang="en-US" sz="2000" dirty="0"/>
          </a:p>
        </p:txBody>
      </p:sp>
      <p:sp>
        <p:nvSpPr>
          <p:cNvPr id="22" name="Text 15"/>
          <p:cNvSpPr/>
          <p:nvPr/>
        </p:nvSpPr>
        <p:spPr>
          <a:xfrm>
            <a:off x="7777607" y="331416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23/30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8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6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1"/>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1"/>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1"/>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1"/>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889107"/>
          </a:xfrm>
          <a:prstGeom prst="roundRect">
            <a:avLst>
              <a:gd name="adj" fmla="val 5257"/>
            </a:avLst>
          </a:prstGeom>
          <a:solidFill>
            <a:srgbClr val="16202E"/>
          </a:solidFill>
          <a:ln/>
        </p:spPr>
        <p:txBody>
          <a:bodyPr/>
          <a:lstStyle/>
          <a:p>
            <a:endParaRPr/>
          </a:p>
        </p:txBody>
      </p:sp>
      <p:sp>
        <p:nvSpPr>
          <p:cNvPr id="42" name="Text 35"/>
          <p:cNvSpPr/>
          <p:nvPr/>
        </p:nvSpPr>
        <p:spPr>
          <a:xfrm>
            <a:off x="7912132" y="4568732"/>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open-source maintainers and small product teams with no QA.</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code assistants: $8.1B in 2025, $127B by 2032 (48% CAGR). Source: </a:t>
            </a:r>
            <a:r>
              <a:rPr lang="en-US" sz="1200" u="sng" dirty="0">
                <a:solidFill>
                  <a:srgbClr val="F2B880"/>
                </a:solidFill>
                <a:latin typeface="Rubik" pitchFamily="34" charset="0"/>
                <a:ea typeface="Rubik" pitchFamily="34" charset="-122"/>
                <a:cs typeface="Rubik" pitchFamily="34" charset="-120"/>
                <a:hlinkClick r:id="rId11">
                  <a:extLst>
                    <a:ext uri="{A12FA001-AC4F-418D-AE19-62706E023703}">
                      <ahyp:hlinkClr xmlns:ahyp="http://schemas.microsoft.com/office/drawing/2018/hyperlinkcolor" val="tx"/>
                    </a:ext>
                  </a:extLst>
                </a:hlinkClick>
              </a:rPr>
              <a:t>MarketsandMarkets</a:t>
            </a:r>
            <a:endParaRPr lang="en-US" sz="1200" dirty="0"/>
          </a:p>
        </p:txBody>
      </p:sp>
      <p:sp>
        <p:nvSpPr>
          <p:cNvPr id="44" name="Text 37"/>
          <p:cNvSpPr/>
          <p:nvPr/>
        </p:nvSpPr>
        <p:spPr>
          <a:xfrm>
            <a:off x="7912132" y="5635177"/>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Needs video understanding, browser use and code writing together.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94"/>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3 of 50</a:t>
            </a:r>
            <a:endParaRPr lang="en-US" sz="1200" dirty="0"/>
          </a:p>
        </p:txBody>
      </p:sp>
      <p:sp>
        <p:nvSpPr>
          <p:cNvPr id="3" name="Text 1"/>
          <p:cNvSpPr>
            <a:spLocks noGrp="1"/>
          </p:cNvSpPr>
          <p:nvPr>
            <p:ph type="title"/>
          </p:nvPr>
        </p:nvSpPr>
        <p:spPr>
          <a:xfrm>
            <a:off x="609567" y="708540"/>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Visual acceptance service</a:t>
            </a:r>
            <a:endParaRPr lang="en-US" sz="3000" dirty="0"/>
          </a:p>
        </p:txBody>
      </p:sp>
      <p:sp>
        <p:nvSpPr>
          <p:cNvPr id="4" name="Text 2"/>
          <p:cNvSpPr/>
          <p:nvPr/>
        </p:nvSpPr>
        <p:spPr>
          <a:xfrm>
            <a:off x="609567" y="128001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Agents report "done" when the work is not done. Someone has to open the result and look, and today that someone is a person.</a:t>
            </a:r>
            <a:endParaRPr lang="en-US" sz="1200" dirty="0"/>
          </a:p>
        </p:txBody>
      </p:sp>
      <p:sp>
        <p:nvSpPr>
          <p:cNvPr id="5" name="Text 3"/>
          <p:cNvSpPr/>
          <p:nvPr/>
        </p:nvSpPr>
        <p:spPr>
          <a:xfrm>
            <a:off x="609567" y="1767576"/>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checking service that other agents call as a tool. It opens the deliverable, operates it, records it and compares each item on the acceptance checklist with what is actually visible. It judges the result by looking, as a person would, not by the agent's own report.</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screenshots, video and documents of finished work, plus a checklist.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pass or fail per item, with evidence.</a:t>
            </a:r>
            <a:endParaRPr lang="en-US" sz="1200" dirty="0"/>
          </a:p>
        </p:txBody>
      </p:sp>
      <p:sp>
        <p:nvSpPr>
          <p:cNvPr id="6" name="Text 4"/>
          <p:cNvSpPr/>
          <p:nvPr/>
        </p:nvSpPr>
        <p:spPr>
          <a:xfrm>
            <a:off x="609567" y="287219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booking demo is reported as deployed. The service records the flow: five of six items pass, and the confirmation step shows an error page.</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Guides already list five QA tools for coding agents, among them BrowserUse and Applitools. Novelty: a general service for any kind of deliverable (page, video, document), called as a standard by any agent, not a browser-only testing tool.</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BrowserUse</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Applitools</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Warp</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5/5.</a:t>
            </a:r>
            <a:r>
              <a:rPr lang="en-US" sz="1200" dirty="0">
                <a:solidFill>
                  <a:srgbClr val="16202E"/>
                </a:solidFill>
                <a:latin typeface="Rubik" pitchFamily="34" charset="0"/>
                <a:ea typeface="Rubik" pitchFamily="34" charset="-122"/>
                <a:cs typeface="Rubik" pitchFamily="34" charset="-120"/>
              </a:rPr>
              <a:t> A platform component. Published as the standard checking tool in openJiuwen; all three teams use it before every demo.</a:t>
            </a:r>
            <a:endParaRPr lang="en-US" sz="1200" dirty="0"/>
          </a:p>
        </p:txBody>
      </p:sp>
      <p:sp>
        <p:nvSpPr>
          <p:cNvPr id="9" name="Text 7"/>
          <p:cNvSpPr/>
          <p:nvPr/>
        </p:nvSpPr>
        <p:spPr>
          <a:xfrm>
            <a:off x="609567" y="47462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4/5.</a:t>
            </a:r>
            <a:r>
              <a:rPr lang="en-US" sz="1200" dirty="0">
                <a:solidFill>
                  <a:srgbClr val="16202E"/>
                </a:solidFill>
                <a:latin typeface="Rubik" pitchFamily="34" charset="0"/>
                <a:ea typeface="Rubik" pitchFamily="34" charset="-122"/>
                <a:cs typeface="Rubik" pitchFamily="34" charset="-120"/>
              </a:rPr>
              <a:t> This is ATARI's execution monitoring in digital form: did the task really succeed. The same mechanism will check a robot's action against a camera in 2027 and feed replay and audit.</a:t>
            </a:r>
            <a:endParaRPr lang="en-US" sz="1200" dirty="0"/>
          </a:p>
        </p:txBody>
      </p:sp>
      <p:sp>
        <p:nvSpPr>
          <p:cNvPr id="10" name="Shape 8"/>
          <p:cNvSpPr/>
          <p:nvPr/>
        </p:nvSpPr>
        <p:spPr>
          <a:xfrm>
            <a:off x="7772484" y="1280015"/>
            <a:ext cx="3809936" cy="1546508"/>
          </a:xfrm>
          <a:prstGeom prst="roundRect">
            <a:avLst>
              <a:gd name="adj" fmla="val 8212"/>
            </a:avLst>
          </a:prstGeom>
          <a:solidFill>
            <a:srgbClr val="ECE8DF"/>
          </a:solidFill>
          <a:ln/>
        </p:spPr>
        <p:txBody>
          <a:bodyPr/>
          <a:lstStyle/>
          <a:p>
            <a:endParaRPr/>
          </a:p>
        </p:txBody>
      </p:sp>
      <p:pic>
        <p:nvPicPr>
          <p:cNvPr id="11" name="Image 0" descr="Finished work"/>
          <p:cNvPicPr>
            <a:picLocks noChangeAspect="1"/>
          </p:cNvPicPr>
          <p:nvPr/>
        </p:nvPicPr>
        <p:blipFill>
          <a:blip r:embed="rId6"/>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Agent's result</a:t>
            </a:r>
            <a:endParaRPr lang="en-US" sz="1200" dirty="0"/>
          </a:p>
        </p:txBody>
      </p:sp>
      <p:pic>
        <p:nvPicPr>
          <p:cNvPr id="13" name="Image 1" descr="arrow-right"/>
          <p:cNvPicPr>
            <a:picLocks noChangeAspect="1"/>
          </p:cNvPicPr>
          <p:nvPr/>
        </p:nvPicPr>
        <p:blipFill>
          <a:blip r:embed="rId7"/>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Verified"/>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Looks like a person</a:t>
            </a:r>
            <a:endParaRPr lang="en-US" sz="1200" dirty="0"/>
          </a:p>
        </p:txBody>
      </p:sp>
      <p:pic>
        <p:nvPicPr>
          <p:cNvPr id="17" name="Image 3" descr="arrow-right"/>
          <p:cNvPicPr>
            <a:picLocks noChangeAspect="1"/>
          </p:cNvPicPr>
          <p:nvPr/>
        </p:nvPicPr>
        <p:blipFill>
          <a:blip r:embed="rId7"/>
          <a:srcRect l="-21" r="-21"/>
          <a:stretch/>
        </p:blipFill>
        <p:spPr>
          <a:xfrm>
            <a:off x="10223639" y="1989770"/>
            <a:ext cx="228557" cy="126923"/>
          </a:xfrm>
          <a:prstGeom prst="rect">
            <a:avLst/>
          </a:prstGeom>
        </p:spPr>
      </p:pic>
      <p:pic>
        <p:nvPicPr>
          <p:cNvPr id="18" name="Image 4" descr="Checklist verdict"/>
          <p:cNvPicPr>
            <a:picLocks noChangeAspect="1"/>
          </p:cNvPicPr>
          <p:nvPr/>
        </p:nvPicPr>
        <p:blipFill>
          <a:blip r:embed="rId9"/>
          <a:srcRect/>
          <a:stretch/>
        </p:blipFill>
        <p:spPr>
          <a:xfrm>
            <a:off x="10617292" y="1549164"/>
            <a:ext cx="761939" cy="761939"/>
          </a:xfrm>
          <a:prstGeom prst="rect">
            <a:avLst/>
          </a:prstGeom>
        </p:spPr>
      </p:pic>
      <p:sp>
        <p:nvSpPr>
          <p:cNvPr id="19" name="Text 12"/>
          <p:cNvSpPr/>
          <p:nvPr/>
        </p:nvSpPr>
        <p:spPr>
          <a:xfrm>
            <a:off x="10539254" y="2374565"/>
            <a:ext cx="918096"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Pass or fail</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8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#3</a:t>
            </a:r>
            <a:endParaRPr lang="en-US" sz="2000" dirty="0"/>
          </a:p>
        </p:txBody>
      </p:sp>
      <p:sp>
        <p:nvSpPr>
          <p:cNvPr id="22" name="Text 15"/>
          <p:cNvSpPr/>
          <p:nvPr/>
        </p:nvSpPr>
        <p:spPr>
          <a:xfrm>
            <a:off x="7777607" y="331416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23/30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8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6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2"/>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agent developers and QA teams, and our own three teams.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test automation: $8.8B in 2025, $36B by 2032 (22%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MarketsandMarkets</a:t>
            </a:r>
            <a:endParaRPr lang="en-US" sz="1200" dirty="0"/>
          </a:p>
        </p:txBody>
      </p:sp>
      <p:sp>
        <p:nvSpPr>
          <p:cNvPr id="44" name="Text 37"/>
          <p:cNvSpPr/>
          <p:nvPr/>
        </p:nvSpPr>
        <p:spPr>
          <a:xfrm>
            <a:off x="7912132" y="5635177"/>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The checker is itself a vision model judging a result.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94"/>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5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Figure and evidence auditor</a:t>
            </a:r>
            <a:endParaRPr lang="en-US" sz="3000" dirty="0"/>
          </a:p>
        </p:txBody>
      </p:sp>
      <p:sp>
        <p:nvSpPr>
          <p:cNvPr id="4" name="Text 2"/>
          <p:cNvSpPr/>
          <p:nvPr/>
        </p:nvSpPr>
        <p:spPr>
          <a:xfrm>
            <a:off x="609567" y="128001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Claims in papers sometimes contradict the paper's own charts and tables, and nobody has time to check every figure by hand.</a:t>
            </a:r>
            <a:endParaRPr lang="en-US" sz="1200" dirty="0"/>
          </a:p>
        </p:txBody>
      </p:sp>
      <p:sp>
        <p:nvSpPr>
          <p:cNvPr id="5" name="Text 3"/>
          <p:cNvSpPr/>
          <p:nvPr/>
        </p:nvSpPr>
        <p:spPr>
          <a:xfrm>
            <a:off x="609567" y="1767576"/>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review assistant for researchers. It reads the charts, tables and images inside papers, extracts their data and checks each claim in the text against what the figure shows. Where code and data exist, it re-runs the analysis. The judgment stays with the researcher.</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charts, tables and images from papers.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extracted data and a claim-by-claim check, with the figure crop beside the sentence.</a:t>
            </a:r>
            <a:endParaRPr lang="en-US" sz="1200" dirty="0"/>
          </a:p>
        </p:txBody>
      </p:sp>
      <p:sp>
        <p:nvSpPr>
          <p:cNvPr id="6" name="Text 4"/>
          <p:cNvSpPr/>
          <p:nvPr/>
        </p:nvSpPr>
        <p:spPr>
          <a:xfrm>
            <a:off x="609567" y="287219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Across thirty catalyst papers it flags one whose abstract reports 95% conversion while the plotted curve peaks near 80%.</a:t>
            </a:r>
            <a:endParaRPr lang="en-US" sz="1200" dirty="0"/>
          </a:p>
        </p:txBody>
      </p:sp>
      <p:sp>
        <p:nvSpPr>
          <p:cNvPr id="7" name="Text 5"/>
          <p:cNvSpPr/>
          <p:nvPr/>
        </p:nvSpPr>
        <p:spPr>
          <a:xfrm>
            <a:off x="609567" y="3359745"/>
            <a:ext cx="7063919" cy="105388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No leading company. A volunteer effort, the Black Spatula Project, grew from one tweet to a repo, a Discord and public backing from prominent figures. Novelty: reading the figure itself, not only the text, and a proper working tool in place of volunteer effort.</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YesNoError</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statcheck</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Black Spatula Project (coverage)</a:t>
            </a:r>
            <a:endParaRPr lang="en-US" sz="1200" dirty="0"/>
          </a:p>
        </p:txBody>
      </p:sp>
      <p:sp>
        <p:nvSpPr>
          <p:cNvPr id="8" name="Text 6"/>
          <p:cNvSpPr/>
          <p:nvPr/>
        </p:nvSpPr>
        <p:spPr>
          <a:xfrm>
            <a:off x="609567" y="4464413"/>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5/5.</a:t>
            </a:r>
            <a:r>
              <a:rPr lang="en-US" sz="1200" dirty="0">
                <a:solidFill>
                  <a:srgbClr val="16202E"/>
                </a:solidFill>
                <a:latin typeface="Rubik" pitchFamily="34" charset="0"/>
                <a:ea typeface="Rubik" pitchFamily="34" charset="-122"/>
                <a:cs typeface="Rubik" pitchFamily="34" charset="-120"/>
              </a:rPr>
              <a:t> The strongest fit on the list. Release the chart-extraction skill and a public benchmark of known errors; volunteers add papers.</a:t>
            </a:r>
            <a:endParaRPr lang="en-US" sz="1200" dirty="0"/>
          </a:p>
        </p:txBody>
      </p:sp>
      <p:sp>
        <p:nvSpPr>
          <p:cNvPr id="9" name="Text 7"/>
          <p:cNvSpPr/>
          <p:nvPr/>
        </p:nvSpPr>
        <p:spPr>
          <a:xfrm>
            <a:off x="609567" y="495196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 It works on static documents, with no live stream and no physical space.</a:t>
            </a:r>
            <a:endParaRPr lang="en-US" sz="1200" dirty="0"/>
          </a:p>
        </p:txBody>
      </p:sp>
      <p:sp>
        <p:nvSpPr>
          <p:cNvPr id="10" name="Shape 8"/>
          <p:cNvSpPr/>
          <p:nvPr/>
        </p:nvSpPr>
        <p:spPr>
          <a:xfrm>
            <a:off x="7772484" y="1280015"/>
            <a:ext cx="3809936" cy="1546508"/>
          </a:xfrm>
          <a:prstGeom prst="roundRect">
            <a:avLst>
              <a:gd name="adj" fmla="val 8212"/>
            </a:avLst>
          </a:prstGeom>
          <a:solidFill>
            <a:srgbClr val="ECE8DF"/>
          </a:solidFill>
          <a:ln/>
        </p:spPr>
        <p:txBody>
          <a:bodyPr/>
          <a:lstStyle/>
          <a:p>
            <a:endParaRPr/>
          </a:p>
        </p:txBody>
      </p:sp>
      <p:pic>
        <p:nvPicPr>
          <p:cNvPr id="11" name="Image 0" descr="Chart in a paper"/>
          <p:cNvPicPr>
            <a:picLocks noChangeAspect="1"/>
          </p:cNvPicPr>
          <p:nvPr/>
        </p:nvPicPr>
        <p:blipFill>
          <a:blip r:embed="rId6"/>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Paper figures</a:t>
            </a:r>
            <a:endParaRPr lang="en-US" sz="1200" dirty="0"/>
          </a:p>
        </p:txBody>
      </p:sp>
      <p:pic>
        <p:nvPicPr>
          <p:cNvPr id="13" name="Image 1" descr="arrow-right"/>
          <p:cNvPicPr>
            <a:picLocks noChangeAspect="1"/>
          </p:cNvPicPr>
          <p:nvPr/>
        </p:nvPicPr>
        <p:blipFill>
          <a:blip r:embed="rId7"/>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Search"/>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Extract and compare</a:t>
            </a:r>
            <a:endParaRPr lang="en-US" sz="1200" dirty="0"/>
          </a:p>
        </p:txBody>
      </p:sp>
      <p:pic>
        <p:nvPicPr>
          <p:cNvPr id="17" name="Image 3" descr="arrow-right"/>
          <p:cNvPicPr>
            <a:picLocks noChangeAspect="1"/>
          </p:cNvPicPr>
          <p:nvPr/>
        </p:nvPicPr>
        <p:blipFill>
          <a:blip r:embed="rId7"/>
          <a:srcRect l="-21" r="-21"/>
          <a:stretch/>
        </p:blipFill>
        <p:spPr>
          <a:xfrm>
            <a:off x="10223639" y="1989770"/>
            <a:ext cx="228557" cy="126923"/>
          </a:xfrm>
          <a:prstGeom prst="rect">
            <a:avLst/>
          </a:prstGeom>
        </p:spPr>
      </p:pic>
      <p:pic>
        <p:nvPicPr>
          <p:cNvPr id="18" name="Image 4" descr="Claim check"/>
          <p:cNvPicPr>
            <a:picLocks noChangeAspect="1"/>
          </p:cNvPicPr>
          <p:nvPr/>
        </p:nvPicPr>
        <p:blipFill>
          <a:blip r:embed="rId9"/>
          <a:srcRect/>
          <a:stretch/>
        </p:blipFill>
        <p:spPr>
          <a:xfrm>
            <a:off x="10617292" y="1549164"/>
            <a:ext cx="761939" cy="761939"/>
          </a:xfrm>
          <a:prstGeom prst="rect">
            <a:avLst/>
          </a:prstGeom>
        </p:spPr>
      </p:pic>
      <p:sp>
        <p:nvSpPr>
          <p:cNvPr id="19" name="Text 12"/>
          <p:cNvSpPr/>
          <p:nvPr/>
        </p:nvSpPr>
        <p:spPr>
          <a:xfrm>
            <a:off x="10483975" y="2374565"/>
            <a:ext cx="1028654"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Claim check</a:t>
            </a:r>
            <a:endParaRPr lang="en-US" sz="1200" dirty="0"/>
          </a:p>
        </p:txBody>
      </p:sp>
      <p:sp>
        <p:nvSpPr>
          <p:cNvPr id="20" name="Shape 13"/>
          <p:cNvSpPr/>
          <p:nvPr/>
        </p:nvSpPr>
        <p:spPr>
          <a:xfrm>
            <a:off x="7775659"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8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#5</a:t>
            </a:r>
            <a:endParaRPr lang="en-US" sz="2000" dirty="0"/>
          </a:p>
        </p:txBody>
      </p:sp>
      <p:sp>
        <p:nvSpPr>
          <p:cNvPr id="22" name="Text 15"/>
          <p:cNvSpPr/>
          <p:nvPr/>
        </p:nvSpPr>
        <p:spPr>
          <a:xfrm>
            <a:off x="7777607" y="331416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1"/>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22/30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8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6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2"/>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researchers, paper reviewers and journal editors.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academic research tools: $2.1B in 2025, $5.4B by 2032 (14%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Stratistics MRC</a:t>
            </a:r>
            <a:endParaRPr lang="en-US" sz="1200" dirty="0"/>
          </a:p>
        </p:txBody>
      </p:sp>
      <p:sp>
        <p:nvSpPr>
          <p:cNvPr id="44" name="Text 37"/>
          <p:cNvSpPr/>
          <p:nvPr/>
        </p:nvSpPr>
        <p:spPr>
          <a:xfrm>
            <a:off x="7912132" y="5635177"/>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Reading a chart and comparing it with text is a new multimodal ability.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94"/>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9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Paper-to-Code</a:t>
            </a:r>
            <a:endParaRPr lang="en-US" sz="3000" dirty="0"/>
          </a:p>
        </p:txBody>
      </p:sp>
      <p:sp>
        <p:nvSpPr>
          <p:cNvPr id="4" name="Text 2"/>
          <p:cNvSpPr/>
          <p:nvPr/>
        </p:nvSpPr>
        <p:spPr>
          <a:xfrm>
            <a:off x="609567" y="128001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Most papers are published without usable code. Re-implementing one result from equations, figures and an appendix takes a researcher weeks.</a:t>
            </a:r>
            <a:endParaRPr lang="en-US" sz="1200" dirty="0"/>
          </a:p>
        </p:txBody>
      </p:sp>
      <p:sp>
        <p:nvSpPr>
          <p:cNvPr id="5" name="Text 3"/>
          <p:cNvSpPr/>
          <p:nvPr/>
        </p:nvSpPr>
        <p:spPr>
          <a:xfrm>
            <a:off x="609567" y="1767576"/>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reproduction agent. The researcher picks one figure in a paper; the agent reads the equations, diagrams and appendix, writes a repository that runs, produces the same figure and compares reported values with the values it obtained. It states plainly what it could not reproduce.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paper PDF.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runnable repo, the reproduced figure and a comparison table.</a:t>
            </a:r>
            <a:endParaRPr lang="en-US" sz="1200" dirty="0"/>
          </a:p>
        </p:txBody>
      </p:sp>
      <p:sp>
        <p:nvSpPr>
          <p:cNvPr id="6" name="Text 4"/>
          <p:cNvSpPr/>
          <p:nvPr/>
        </p:nvSpPr>
        <p:spPr>
          <a:xfrm>
            <a:off x="609567" y="287219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student picks Figure 3 of a scheduling paper. By morning there is a repo, a re-drawn curve, and a note that one baseline is 4% below the reported value.</a:t>
            </a:r>
            <a:endParaRPr lang="en-US" sz="1200" dirty="0"/>
          </a:p>
        </p:txBody>
      </p:sp>
      <p:sp>
        <p:nvSpPr>
          <p:cNvPr id="7" name="Text 5"/>
          <p:cNvSpPr/>
          <p:nvPr/>
        </p:nvSpPr>
        <p:spPr>
          <a:xfrm>
            <a:off x="609567" y="3359745"/>
            <a:ext cx="7063919" cy="105388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Open research exists: Paper2Code (PaperCoder), presented at NeurIPS 2025 and ICLR 2026, and the PaperBench benchmark. These generate code from the text. Novelty: reproducing a specific figure with a numeric comparison, paired with the auditor that reads the original figure.</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Paper2Code</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PaperBench</a:t>
            </a:r>
            <a:endParaRPr lang="en-US" sz="1200" dirty="0"/>
          </a:p>
        </p:txBody>
      </p:sp>
      <p:sp>
        <p:nvSpPr>
          <p:cNvPr id="8" name="Text 6"/>
          <p:cNvSpPr/>
          <p:nvPr/>
        </p:nvSpPr>
        <p:spPr>
          <a:xfrm>
            <a:off x="609567" y="4464413"/>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5/5.</a:t>
            </a:r>
            <a:r>
              <a:rPr lang="en-US" sz="1200" dirty="0">
                <a:solidFill>
                  <a:srgbClr val="16202E"/>
                </a:solidFill>
                <a:latin typeface="Rubik" pitchFamily="34" charset="0"/>
                <a:ea typeface="Rubik" pitchFamily="34" charset="-122"/>
                <a:cs typeface="Rubik" pitchFamily="34" charset="-120"/>
              </a:rPr>
              <a:t> Every reproduction is published as a public repo in one gallery. Researchers are a community that contributes and cites.</a:t>
            </a:r>
            <a:endParaRPr lang="en-US" sz="1200" dirty="0"/>
          </a:p>
        </p:txBody>
      </p:sp>
      <p:sp>
        <p:nvSpPr>
          <p:cNvPr id="9" name="Text 7"/>
          <p:cNvSpPr/>
          <p:nvPr/>
        </p:nvSpPr>
        <p:spPr>
          <a:xfrm>
            <a:off x="609567" y="4951974"/>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 Documents and code only.</a:t>
            </a:r>
            <a:endParaRPr lang="en-US" sz="1200" dirty="0"/>
          </a:p>
        </p:txBody>
      </p:sp>
      <p:sp>
        <p:nvSpPr>
          <p:cNvPr id="10" name="Shape 8"/>
          <p:cNvSpPr/>
          <p:nvPr/>
        </p:nvSpPr>
        <p:spPr>
          <a:xfrm>
            <a:off x="7772484" y="1280015"/>
            <a:ext cx="3809936" cy="1546508"/>
          </a:xfrm>
          <a:prstGeom prst="roundRect">
            <a:avLst>
              <a:gd name="adj" fmla="val 8212"/>
            </a:avLst>
          </a:prstGeom>
          <a:solidFill>
            <a:srgbClr val="ECE8DF"/>
          </a:solidFill>
          <a:ln/>
        </p:spPr>
        <p:txBody>
          <a:bodyPr/>
          <a:lstStyle/>
          <a:p>
            <a:endParaRPr/>
          </a:p>
        </p:txBody>
      </p:sp>
      <p:pic>
        <p:nvPicPr>
          <p:cNvPr id="11" name="Image 0" descr="Paper"/>
          <p:cNvPicPr>
            <a:picLocks noChangeAspect="1"/>
          </p:cNvPicPr>
          <p:nvPr/>
        </p:nvPicPr>
        <p:blipFill>
          <a:blip r:embed="rId5"/>
          <a:srcRect/>
          <a:stretch/>
        </p:blipFill>
        <p:spPr>
          <a:xfrm>
            <a:off x="7975593" y="1549164"/>
            <a:ext cx="761939" cy="761939"/>
          </a:xfrm>
          <a:prstGeom prst="rect">
            <a:avLst/>
          </a:prstGeom>
        </p:spPr>
      </p:pic>
      <p:sp>
        <p:nvSpPr>
          <p:cNvPr id="12" name="Text 9"/>
          <p:cNvSpPr/>
          <p:nvPr/>
        </p:nvSpPr>
        <p:spPr>
          <a:xfrm>
            <a:off x="7912534" y="2374565"/>
            <a:ext cx="888137"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Paper PDF</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Code"/>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Rebuild and run</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Reproduced chart"/>
          <p:cNvPicPr>
            <a:picLocks noChangeAspect="1"/>
          </p:cNvPicPr>
          <p:nvPr/>
        </p:nvPicPr>
        <p:blipFill>
          <a:blip r:embed="rId8"/>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Repo and figure</a:t>
            </a:r>
            <a:endParaRPr lang="en-US" sz="1200" dirty="0"/>
          </a:p>
        </p:txBody>
      </p:sp>
      <p:sp>
        <p:nvSpPr>
          <p:cNvPr id="20" name="Shape 13"/>
          <p:cNvSpPr/>
          <p:nvPr/>
        </p:nvSpPr>
        <p:spPr>
          <a:xfrm>
            <a:off x="7775659"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8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#9</a:t>
            </a:r>
            <a:endParaRPr lang="en-US" sz="2000" dirty="0"/>
          </a:p>
        </p:txBody>
      </p:sp>
      <p:sp>
        <p:nvSpPr>
          <p:cNvPr id="22" name="Text 15"/>
          <p:cNvSpPr/>
          <p:nvPr/>
        </p:nvSpPr>
        <p:spPr>
          <a:xfrm>
            <a:off x="7777607" y="331416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1"/>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21/30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8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6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7" name="Text 30"/>
          <p:cNvSpPr/>
          <p:nvPr/>
        </p:nvSpPr>
        <p:spPr>
          <a:xfrm>
            <a:off x="9714305"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7"/>
            <a:ext cx="3809936" cy="1691073"/>
          </a:xfrm>
          <a:prstGeom prst="roundRect">
            <a:avLst>
              <a:gd name="adj" fmla="val 5257"/>
            </a:avLst>
          </a:prstGeom>
          <a:solidFill>
            <a:srgbClr val="16202E"/>
          </a:solidFill>
          <a:ln/>
        </p:spPr>
        <p:txBody>
          <a:bodyPr/>
          <a:lstStyle/>
          <a:p>
            <a:endParaRPr/>
          </a:p>
        </p:txBody>
      </p:sp>
      <p:sp>
        <p:nvSpPr>
          <p:cNvPr id="42" name="Text 35"/>
          <p:cNvSpPr/>
          <p:nvPr/>
        </p:nvSpPr>
        <p:spPr>
          <a:xfrm>
            <a:off x="7912132" y="4568732"/>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ML students and researchers, industrial labs.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academic research tools: $2.1B in 2025, $5.4B by 2032 (14%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Stratistics MRC</a:t>
            </a:r>
            <a:endParaRPr lang="en-US" sz="1200" dirty="0"/>
          </a:p>
        </p:txBody>
      </p:sp>
      <p:sp>
        <p:nvSpPr>
          <p:cNvPr id="44" name="Text 37"/>
          <p:cNvSpPr/>
          <p:nvPr/>
        </p:nvSpPr>
        <p:spPr>
          <a:xfrm>
            <a:off x="7912132" y="563517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Reading equations and figures, and writing code that runs.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94"/>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12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Live Meeting Copilot</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In a live call you cannot search the contract, remember every open question and listen at the same time. What was missed surfaces after the call.</a:t>
            </a:r>
            <a:endParaRPr lang="en-US" sz="1200" dirty="0"/>
          </a:p>
        </p:txBody>
      </p:sp>
      <p:sp>
        <p:nvSpPr>
          <p:cNvPr id="5" name="Text 3"/>
          <p:cNvSpPr/>
          <p:nvPr/>
        </p:nvSpPr>
        <p:spPr>
          <a:xfrm>
            <a:off x="609567" y="1767576"/>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An assistant that sits beside the user during a video call. It listens, reads the shared screen, pulls relevant facts from the user's documents and flags questions not asked and risks. After the call it prepares notes and a draft follow-up email. Participants know the call is being listened to.</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live audio and the shared screen.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on-screen prompts, notes and a draft follow-up.</a:t>
            </a:r>
            <a:endParaRPr lang="en-US" sz="1200" dirty="0"/>
          </a:p>
        </p:txBody>
      </p:sp>
      <p:sp>
        <p:nvSpPr>
          <p:cNvPr id="6" name="Text 4"/>
          <p:cNvSpPr/>
          <p:nvPr/>
        </p:nvSpPr>
        <p:spPr>
          <a:xfrm>
            <a:off x="609567" y="287219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On a renewal call the customer asks about SSO; the contract line appears within seconds. Twenty minutes in, it notes that nobody asked who owns the budget.</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A crowded field: Cluely drew 70,000 sign-ups in its first week, and Granola raised $125 million. Novelty: a self-hosted version with consent built in, for organisations that cannot send calls to an outside vendor, without the "cheating" image.</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Cluely</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Granola</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 clear advantage for sensitive organisations, but the audience is salespeople and consultants, who do not contribute code.</a:t>
            </a:r>
            <a:endParaRPr lang="en-US" sz="1200" dirty="0"/>
          </a:p>
        </p:txBody>
      </p:sp>
      <p:sp>
        <p:nvSpPr>
          <p:cNvPr id="9" name="Text 7"/>
          <p:cNvSpPr/>
          <p:nvPr/>
        </p:nvSpPr>
        <p:spPr>
          <a:xfrm>
            <a:off x="609567" y="47462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Partial: ingesting live audio and turning it into events in real time within a latency budget. No physical space.</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People on a call"/>
          <p:cNvPicPr>
            <a:picLocks noChangeAspect="1"/>
          </p:cNvPicPr>
          <p:nvPr/>
        </p:nvPicPr>
        <p:blipFill>
          <a:blip r:embed="rId5"/>
          <a:srcRect/>
          <a:stretch/>
        </p:blipFill>
        <p:spPr>
          <a:xfrm>
            <a:off x="7975593" y="1549164"/>
            <a:ext cx="761939" cy="761939"/>
          </a:xfrm>
          <a:prstGeom prst="rect">
            <a:avLst/>
          </a:prstGeom>
        </p:spPr>
      </p:pic>
      <p:sp>
        <p:nvSpPr>
          <p:cNvPr id="12" name="Text 9"/>
          <p:cNvSpPr/>
          <p:nvPr/>
        </p:nvSpPr>
        <p:spPr>
          <a:xfrm>
            <a:off x="8015079" y="2374565"/>
            <a:ext cx="682966"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Live call</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Lightbulb"/>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Listens quietly</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Prompt bubble"/>
          <p:cNvPicPr>
            <a:picLocks noChangeAspect="1"/>
          </p:cNvPicPr>
          <p:nvPr/>
        </p:nvPicPr>
        <p:blipFill>
          <a:blip r:embed="rId8"/>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Prompts and notes</a:t>
            </a:r>
            <a:endParaRPr lang="en-US" sz="1200" dirty="0"/>
          </a:p>
        </p:txBody>
      </p:sp>
      <p:sp>
        <p:nvSpPr>
          <p:cNvPr id="20" name="Shape 13"/>
          <p:cNvSpPr/>
          <p:nvPr/>
        </p:nvSpPr>
        <p:spPr>
          <a:xfrm>
            <a:off x="7775659"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#12</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1"/>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20/30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7"/>
            <a:ext cx="3809936" cy="149295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2"/>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salespeople, consultants and account managers.</a:t>
            </a:r>
            <a:endParaRPr lang="en-US" sz="1200" dirty="0"/>
          </a:p>
        </p:txBody>
      </p:sp>
      <p:sp>
        <p:nvSpPr>
          <p:cNvPr id="43" name="Text 36"/>
          <p:cNvSpPr/>
          <p:nvPr/>
        </p:nvSpPr>
        <p:spPr>
          <a:xfrm>
            <a:off x="7912132" y="5002895"/>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meeting assistants: $2.7B in 2024, $24.6B by 2034 (25%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Market.us</a:t>
            </a:r>
            <a:endParaRPr lang="en-US" sz="1200" dirty="0"/>
          </a:p>
        </p:txBody>
      </p:sp>
      <p:sp>
        <p:nvSpPr>
          <p:cNvPr id="44" name="Text 37"/>
          <p:cNvSpPr/>
          <p:nvPr/>
        </p:nvSpPr>
        <p:spPr>
          <a:xfrm>
            <a:off x="7912132" y="5437057"/>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Understanding live speech and retrieving from documents within seconds.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94"/>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13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Call-to-demo</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freelancer loses days between the customer call and the proposal. By then the customer has cooled or chosen someone else.</a:t>
            </a:r>
            <a:endParaRPr lang="en-US" sz="1200" dirty="0"/>
          </a:p>
        </p:txBody>
      </p:sp>
      <p:sp>
        <p:nvSpPr>
          <p:cNvPr id="5" name="Text 3"/>
          <p:cNvSpPr/>
          <p:nvPr/>
        </p:nvSpPr>
        <p:spPr>
          <a:xfrm>
            <a:off x="609567" y="1767576"/>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team of agents for a one-person company. It listens to the customer call, watches the screen share and reads sketches; from these it extracts requirements, writes a proposal and a quote, builds a working demo and records a narrated walkthrough. The operator approves the price and the send, and the agent tracks the reply.</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call audio, screen share, photos of sketches.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proposal, quote draft, working demo and video.</a:t>
            </a:r>
            <a:endParaRPr lang="en-US" sz="1200" dirty="0"/>
          </a:p>
        </p:txBody>
      </p:sp>
      <p:sp>
        <p:nvSpPr>
          <p:cNvPr id="6" name="Text 4"/>
          <p:cNvSpPr/>
          <p:nvPr/>
        </p:nvSpPr>
        <p:spPr>
          <a:xfrm>
            <a:off x="609567" y="307787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After a 40-minute call with a dental clinic, the developer wakes up to a two-page proposal, a clickable booking demo and a three-minute video.</a:t>
            </a:r>
            <a:endParaRPr lang="en-US" sz="1200" dirty="0"/>
          </a:p>
        </p:txBody>
      </p:sp>
      <p:sp>
        <p:nvSpPr>
          <p:cNvPr id="7" name="Text 5"/>
          <p:cNvSpPr/>
          <p:nvPr/>
        </p:nvSpPr>
        <p:spPr>
          <a:xfrm>
            <a:off x="609567" y="3565432"/>
            <a:ext cx="7063919" cy="105388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No product was found that goes from a customer call to a working demo. Each half exists separately: meeting capture (Granola) and building an app from a prompt (Lovable). Why do it: it is the first OPC scenario in the source deck, and joining two proven waves is an easy story to share.</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Granola</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Lovable</a:t>
            </a:r>
            <a:endParaRPr lang="en-US" sz="1200" dirty="0"/>
          </a:p>
        </p:txBody>
      </p:sp>
      <p:sp>
        <p:nvSpPr>
          <p:cNvPr id="8" name="Text 6"/>
          <p:cNvSpPr/>
          <p:nvPr/>
        </p:nvSpPr>
        <p:spPr>
          <a:xfrm>
            <a:off x="609567" y="467010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Fits as a reference app showing multi-agent collaboration on openJiuwen; less as a contributor community.</a:t>
            </a:r>
            <a:endParaRPr lang="en-US" sz="1200" dirty="0"/>
          </a:p>
        </p:txBody>
      </p:sp>
      <p:sp>
        <p:nvSpPr>
          <p:cNvPr id="9" name="Text 7"/>
          <p:cNvSpPr/>
          <p:nvPr/>
        </p:nvSpPr>
        <p:spPr>
          <a:xfrm>
            <a:off x="609567" y="5157655"/>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 Multimodal input, but of a digital meeting.</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all audio"/>
          <p:cNvPicPr>
            <a:picLocks noChangeAspect="1"/>
          </p:cNvPicPr>
          <p:nvPr/>
        </p:nvPicPr>
        <p:blipFill>
          <a:blip r:embed="rId5"/>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Customer call</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549164"/>
            <a:ext cx="761939" cy="761939"/>
          </a:xfrm>
          <a:prstGeom prst="roundRect">
            <a:avLst>
              <a:gd name="adj" fmla="val 50000"/>
            </a:avLst>
          </a:prstGeom>
          <a:solidFill>
            <a:srgbClr val="16202E"/>
          </a:solidFill>
          <a:ln/>
        </p:spPr>
        <p:txBody>
          <a:bodyPr/>
          <a:lstStyle/>
          <a:p>
            <a:endParaRPr/>
          </a:p>
        </p:txBody>
      </p:sp>
      <p:pic>
        <p:nvPicPr>
          <p:cNvPr id="15" name="Image 2" descr="Lightning"/>
          <p:cNvPicPr>
            <a:picLocks noChangeAspect="1"/>
          </p:cNvPicPr>
          <p:nvPr/>
        </p:nvPicPr>
        <p:blipFill>
          <a:blip r:embed="rId7"/>
          <a:srcRect/>
          <a:stretch/>
        </p:blipFill>
        <p:spPr>
          <a:xfrm>
            <a:off x="9499632" y="1752352"/>
            <a:ext cx="355561" cy="355561"/>
          </a:xfrm>
          <a:prstGeom prst="rect">
            <a:avLst/>
          </a:prstGeom>
        </p:spPr>
      </p:pic>
      <p:sp>
        <p:nvSpPr>
          <p:cNvPr id="16" name="Text 11"/>
          <p:cNvSpPr/>
          <p:nvPr/>
        </p:nvSpPr>
        <p:spPr>
          <a:xfrm>
            <a:off x="9181391" y="2374565"/>
            <a:ext cx="992123"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Agent team</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Working demo on a screen"/>
          <p:cNvPicPr>
            <a:picLocks noChangeAspect="1"/>
          </p:cNvPicPr>
          <p:nvPr/>
        </p:nvPicPr>
        <p:blipFill>
          <a:blip r:embed="rId8"/>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Proposal and demo</a:t>
            </a:r>
            <a:endParaRPr lang="en-US" sz="1200" dirty="0"/>
          </a:p>
        </p:txBody>
      </p:sp>
      <p:sp>
        <p:nvSpPr>
          <p:cNvPr id="20" name="Shape 13"/>
          <p:cNvSpPr/>
          <p:nvPr/>
        </p:nvSpPr>
        <p:spPr>
          <a:xfrm>
            <a:off x="7775659"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#13</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1"/>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20/30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1" name="Text 24"/>
          <p:cNvSpPr/>
          <p:nvPr/>
        </p:nvSpPr>
        <p:spPr>
          <a:xfrm>
            <a:off x="7777607"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7"/>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2"/>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freelance developers and small agencies.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low-code platforms: $24.8B in 2023, $101.7B by 2030 (22.5%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Grand View Research</a:t>
            </a:r>
            <a:endParaRPr lang="en-US" sz="1200" dirty="0"/>
          </a:p>
        </p:txBody>
      </p:sp>
      <p:sp>
        <p:nvSpPr>
          <p:cNvPr id="44" name="Text 37"/>
          <p:cNvSpPr/>
          <p:nvPr/>
        </p:nvSpPr>
        <p:spPr>
          <a:xfrm>
            <a:off x="7912132" y="5635177"/>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The whole chain, from listening to demo, is done by agents.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94"/>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17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PersonaQA</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Teams test a release the way they themselves use it. The older user with enlarged text or the screen-reader user hits the broken path after launch.</a:t>
            </a:r>
            <a:endParaRPr lang="en-US" sz="1200" dirty="0"/>
          </a:p>
        </p:txBody>
      </p:sp>
      <p:sp>
        <p:nvSpPr>
          <p:cNvPr id="5" name="Text 3"/>
          <p:cNvSpPr/>
          <p:nvPr/>
        </p:nvSpPr>
        <p:spPr>
          <a:xfrm>
            <a:off x="609567" y="1767576"/>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testing service that simulates different users. Each persona has a device, accessibility settings and habits; the agent sees the page as that persona sees it and tries to complete a task such as sign-up or purchase. A failure is solid evidence of a problem; a pass is not proof that real users will succeed.</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rendered pages as each simulated user sees them.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recordings, screenshots and reproduction steps.</a:t>
            </a:r>
            <a:endParaRPr lang="en-US" sz="1200" dirty="0"/>
          </a:p>
        </p:txBody>
      </p:sp>
      <p:sp>
        <p:nvSpPr>
          <p:cNvPr id="6" name="Text 4"/>
          <p:cNvSpPr/>
          <p:nvPr/>
        </p:nvSpPr>
        <p:spPr>
          <a:xfrm>
            <a:off x="609567" y="307787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Four personas try to buy an item. The large-text user cannot reach "Place order": it is hidden under the cookie banner.</a:t>
            </a:r>
            <a:endParaRPr lang="en-US" sz="1200" dirty="0"/>
          </a:p>
        </p:txBody>
      </p:sp>
      <p:sp>
        <p:nvSpPr>
          <p:cNvPr id="7" name="Text 5"/>
          <p:cNvSpPr/>
          <p:nvPr/>
        </p:nvSpPr>
        <p:spPr>
          <a:xfrm>
            <a:off x="609567" y="3565432"/>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One overview lists seven synthetic-user vendors, and Aaru raised at a headline $1 billion valuation. Most simulate survey answers. Novelty: watching a simulated user fail a real task, with a recording.</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Aaru</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Synthetic Users</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Applitools</a:t>
            </a:r>
            <a:endParaRPr lang="en-US" sz="1200" dirty="0"/>
          </a:p>
        </p:txBody>
      </p:sp>
      <p:sp>
        <p:nvSpPr>
          <p:cNvPr id="8" name="Text 6"/>
          <p:cNvSpPr/>
          <p:nvPr/>
        </p:nvSpPr>
        <p:spPr>
          <a:xfrm>
            <a:off x="609567" y="4464413"/>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An open persona library and a test runner as a CI action. Contributors add personas; real usage data calibrates them.</a:t>
            </a:r>
            <a:endParaRPr lang="en-US" sz="1200" dirty="0"/>
          </a:p>
        </p:txBody>
      </p:sp>
      <p:sp>
        <p:nvSpPr>
          <p:cNvPr id="9" name="Text 7"/>
          <p:cNvSpPr/>
          <p:nvPr/>
        </p:nvSpPr>
        <p:spPr>
          <a:xfrm>
            <a:off x="609567" y="495197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Shares a core with Visual acceptance: judging a result by looking. The link to ATARI runs through execution monitoring, not spatial perception.</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Web page"/>
          <p:cNvPicPr>
            <a:picLocks noChangeAspect="1"/>
          </p:cNvPicPr>
          <p:nvPr/>
        </p:nvPicPr>
        <p:blipFill>
          <a:blip r:embed="rId6"/>
          <a:srcRect/>
          <a:stretch/>
        </p:blipFill>
        <p:spPr>
          <a:xfrm>
            <a:off x="7975593" y="1549164"/>
            <a:ext cx="761939" cy="761939"/>
          </a:xfrm>
          <a:prstGeom prst="rect">
            <a:avLst/>
          </a:prstGeom>
        </p:spPr>
      </p:pic>
      <p:sp>
        <p:nvSpPr>
          <p:cNvPr id="12" name="Text 9"/>
          <p:cNvSpPr/>
          <p:nvPr/>
        </p:nvSpPr>
        <p:spPr>
          <a:xfrm>
            <a:off x="7811262" y="2374565"/>
            <a:ext cx="1090601"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Your website</a:t>
            </a:r>
            <a:endParaRPr lang="en-US" sz="1200" dirty="0"/>
          </a:p>
        </p:txBody>
      </p:sp>
      <p:pic>
        <p:nvPicPr>
          <p:cNvPr id="13" name="Image 1" descr="arrow-right"/>
          <p:cNvPicPr>
            <a:picLocks noChangeAspect="1"/>
          </p:cNvPicPr>
          <p:nvPr/>
        </p:nvPicPr>
        <p:blipFill>
          <a:blip r:embed="rId7"/>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Users"/>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Simulated users</a:t>
            </a:r>
            <a:endParaRPr lang="en-US" sz="1200" dirty="0"/>
          </a:p>
        </p:txBody>
      </p:sp>
      <p:pic>
        <p:nvPicPr>
          <p:cNvPr id="17" name="Image 3" descr="arrow-right"/>
          <p:cNvPicPr>
            <a:picLocks noChangeAspect="1"/>
          </p:cNvPicPr>
          <p:nvPr/>
        </p:nvPicPr>
        <p:blipFill>
          <a:blip r:embed="rId7"/>
          <a:srcRect l="-21" r="-21"/>
          <a:stretch/>
        </p:blipFill>
        <p:spPr>
          <a:xfrm>
            <a:off x="10223639" y="1989770"/>
            <a:ext cx="228557" cy="126923"/>
          </a:xfrm>
          <a:prstGeom prst="rect">
            <a:avLst/>
          </a:prstGeom>
        </p:spPr>
      </p:pic>
      <p:pic>
        <p:nvPicPr>
          <p:cNvPr id="18" name="Image 4" descr="Failure report"/>
          <p:cNvPicPr>
            <a:picLocks noChangeAspect="1"/>
          </p:cNvPicPr>
          <p:nvPr/>
        </p:nvPicPr>
        <p:blipFill>
          <a:blip r:embed="rId9"/>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Failure evidence</a:t>
            </a:r>
            <a:endParaRPr lang="en-US" sz="1200" dirty="0"/>
          </a:p>
        </p:txBody>
      </p:sp>
      <p:sp>
        <p:nvSpPr>
          <p:cNvPr id="20" name="Shape 13"/>
          <p:cNvSpPr/>
          <p:nvPr/>
        </p:nvSpPr>
        <p:spPr>
          <a:xfrm>
            <a:off x="7775659"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#17</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1"/>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8"/>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20/30</a:t>
            </a:r>
            <a:endParaRPr lang="en-US" sz="2000" dirty="0"/>
          </a:p>
        </p:txBody>
      </p:sp>
      <p:sp>
        <p:nvSpPr>
          <p:cNvPr id="25" name="Text 18"/>
          <p:cNvSpPr/>
          <p:nvPr/>
        </p:nvSpPr>
        <p:spPr>
          <a:xfrm>
            <a:off x="8738865" y="3309014"/>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6"/>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3"/>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032938"/>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7"/>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2"/>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product and QA teams at commerce and service sites.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digital accessibility software: $721M in 2023, 9.2% CAGR to 2030.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Grand View Research</a:t>
            </a:r>
            <a:endParaRPr lang="en-US" sz="1200" dirty="0"/>
          </a:p>
        </p:txBody>
      </p:sp>
      <p:sp>
        <p:nvSpPr>
          <p:cNvPr id="44" name="Text 37"/>
          <p:cNvSpPr/>
          <p:nvPr/>
        </p:nvSpPr>
        <p:spPr>
          <a:xfrm>
            <a:off x="7912132" y="5635177"/>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An agent that sees a page and acts in it as a particular person would.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94"/>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21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Whiteboard-to-Spec</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design session ends with a photo of a whiteboard that nobody can read a week later. The decisions never reach a document or a ticket.</a:t>
            </a:r>
            <a:endParaRPr lang="en-US" sz="1200" dirty="0"/>
          </a:p>
        </p:txBody>
      </p:sp>
      <p:sp>
        <p:nvSpPr>
          <p:cNvPr id="5" name="Text 3"/>
          <p:cNvSpPr/>
          <p:nvPr/>
        </p:nvSpPr>
        <p:spPr>
          <a:xfrm>
            <a:off x="609567" y="1767582"/>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An agent that joins what was drawn on the board with what was said in the room. It deciphers handwriting and arrows, matches each box with the discussion about it, and produces a spec document, a clean architecture diagram and draft tickets with owners. Questions left undecided are listed as open. The team edits and approves.</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photos of the board and the meeting recording.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spec, diagram and tickets.</a:t>
            </a:r>
            <a:endParaRPr lang="en-US" sz="1200" dirty="0"/>
          </a:p>
        </p:txBody>
      </p:sp>
      <p:sp>
        <p:nvSpPr>
          <p:cNvPr id="6" name="Text 4"/>
          <p:cNvSpPr/>
          <p:nvPr/>
        </p:nvSpPr>
        <p:spPr>
          <a:xfrm>
            <a:off x="609567" y="287219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Three board photos and 50 minutes of audio become a four-page spec, one diagram and nine tickets. Two questions are listed as unresolved.</a:t>
            </a:r>
            <a:endParaRPr lang="en-US" sz="1200" dirty="0"/>
          </a:p>
        </p:txBody>
      </p:sp>
      <p:sp>
        <p:nvSpPr>
          <p:cNvPr id="7" name="Text 5"/>
          <p:cNvSpPr/>
          <p:nvPr/>
        </p:nvSpPr>
        <p:spPr>
          <a:xfrm>
            <a:off x="609567" y="3359745"/>
            <a:ext cx="7063919" cy="105388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search turned up Sketch2Diagram (an Atlassian add-on) and Jeda.ai, plus open feature requests in the Miro and FigJam communities. These convert a picture to a diagram. Novelty: combining the board with the audio of the discussion, and output that is a spec and tickets, not only a drawing.</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Sketch2Diagram</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Jeda.ai</a:t>
            </a:r>
            <a:endParaRPr lang="en-US" sz="1200" dirty="0"/>
          </a:p>
        </p:txBody>
      </p:sp>
      <p:sp>
        <p:nvSpPr>
          <p:cNvPr id="8" name="Text 6"/>
          <p:cNvSpPr/>
          <p:nvPr/>
        </p:nvSpPr>
        <p:spPr>
          <a:xfrm>
            <a:off x="609567" y="446442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 skill with exporters to Markdown, Mermaid and GitHub Issues. Contributors add exporters for their own systems.</a:t>
            </a:r>
            <a:endParaRPr lang="en-US" sz="1200" dirty="0"/>
          </a:p>
        </p:txBody>
      </p:sp>
      <p:sp>
        <p:nvSpPr>
          <p:cNvPr id="9" name="Text 7"/>
          <p:cNvSpPr/>
          <p:nvPr/>
        </p:nvSpPr>
        <p:spPr>
          <a:xfrm>
            <a:off x="609567" y="495196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Partial: fusing image and audio of the same room on one timeline, at small scale.</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Whiteboard sketch"/>
          <p:cNvPicPr>
            <a:picLocks noChangeAspect="1"/>
          </p:cNvPicPr>
          <p:nvPr/>
        </p:nvPicPr>
        <p:blipFill>
          <a:blip r:embed="rId5"/>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Board and audio</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Lightning"/>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Reads and listens</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Spec document"/>
          <p:cNvPicPr>
            <a:picLocks noChangeAspect="1"/>
          </p:cNvPicPr>
          <p:nvPr/>
        </p:nvPicPr>
        <p:blipFill>
          <a:blip r:embed="rId8"/>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Spec and tickets</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#21</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19/30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engineering and product teams; our own team first.</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collaborative whiteboard software: +$2.3B growth 2023-2028 (18.5%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Technavio</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Deciphering handwriting and sketches together with the speech around them.</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88"/>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24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One-Person Studio</a:t>
            </a:r>
            <a:endParaRPr lang="en-US" sz="3000" dirty="0"/>
          </a:p>
        </p:txBody>
      </p:sp>
      <p:sp>
        <p:nvSpPr>
          <p:cNvPr id="4" name="Text 2"/>
          <p:cNvSpPr/>
          <p:nvPr/>
        </p:nvSpPr>
        <p:spPr>
          <a:xfrm>
            <a:off x="609567" y="1280009"/>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small seller has no budget for a photographer, a designer, a video editor and a voice-over artist, yet every marketplace expects all four. Without them the product looks amateur and does not sell.</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team of agents (sales, creative, operations) that takes phone photos and a voice message and returns all the marketing material as editable projects. It compares each generated image with the real photos to make sure the product is shown correctly, and the owner approves before publishing.</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product photos, short clips and a spoken brief.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listing text, images, a poster, a short video and voiceover.</a:t>
            </a:r>
            <a:endParaRPr lang="en-US" sz="1200" dirty="0"/>
          </a:p>
        </p:txBody>
      </p:sp>
      <p:sp>
        <p:nvSpPr>
          <p:cNvPr id="6" name="Text 4"/>
          <p:cNvSpPr/>
          <p:nvPr/>
        </p:nvSpPr>
        <p:spPr>
          <a:xfrm>
            <a:off x="609567" y="328355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Six photos of ceramic mugs and a 30-second voice note become a full listing in English and German. One image with the handle on the wrong side is caught and regenerated.</a:t>
            </a:r>
            <a:endParaRPr lang="en-US" sz="1200" dirty="0"/>
          </a:p>
        </p:txBody>
      </p:sp>
      <p:sp>
        <p:nvSpPr>
          <p:cNvPr id="7" name="Text 5"/>
          <p:cNvSpPr/>
          <p:nvPr/>
        </p:nvSpPr>
        <p:spPr>
          <a:xfrm>
            <a:off x="609567" y="3771119"/>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Google gives a version away: Pomelli added product Photoshoot in February 2026. There are many AI marketing tools too. Novelty: a fidelity check against the real product, editable output in several languages, and continuity with a memory of the brand.</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Pomelli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Photoroom</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Pebblely</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6">
                  <a:extLst>
                    <a:ext uri="{A12FA001-AC4F-418D-AE19-62706E023703}">
                      <ahyp:hlinkClr xmlns:ahyp="http://schemas.microsoft.com/office/drawing/2018/hyperlinkcolor" val="tx"/>
                    </a:ext>
                  </a:extLst>
                </a:hlinkClick>
              </a:rPr>
              <a:t>Claid</a:t>
            </a:r>
            <a:endParaRPr lang="en-US" sz="1200" dirty="0"/>
          </a:p>
        </p:txBody>
      </p:sp>
      <p:sp>
        <p:nvSpPr>
          <p:cNvPr id="8" name="Text 6"/>
          <p:cNvSpPr/>
          <p:nvPr/>
        </p:nvSpPr>
        <p:spPr>
          <a:xfrm>
            <a:off x="609567" y="467010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The multi-agent template and the fidelity check as reusable skills. The sellers themselves are not code contributors.</a:t>
            </a:r>
            <a:endParaRPr lang="en-US" sz="1200" dirty="0"/>
          </a:p>
        </p:txBody>
      </p:sp>
      <p:sp>
        <p:nvSpPr>
          <p:cNvPr id="9" name="Text 7"/>
          <p:cNvSpPr/>
          <p:nvPr/>
        </p:nvSpPr>
        <p:spPr>
          <a:xfrm>
            <a:off x="609567" y="5157649"/>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 Media generation, not spatial perception.</a:t>
            </a:r>
            <a:endParaRPr lang="en-US" sz="1200" dirty="0"/>
          </a:p>
        </p:txBody>
      </p:sp>
      <p:sp>
        <p:nvSpPr>
          <p:cNvPr id="10" name="Shape 8"/>
          <p:cNvSpPr/>
          <p:nvPr/>
        </p:nvSpPr>
        <p:spPr>
          <a:xfrm>
            <a:off x="7772484" y="1280009"/>
            <a:ext cx="3809936" cy="1729322"/>
          </a:xfrm>
          <a:prstGeom prst="roundRect">
            <a:avLst>
              <a:gd name="adj" fmla="val 7344"/>
            </a:avLst>
          </a:prstGeom>
          <a:solidFill>
            <a:srgbClr val="ECE8DF"/>
          </a:solidFill>
          <a:ln/>
        </p:spPr>
        <p:txBody>
          <a:bodyPr/>
          <a:lstStyle/>
          <a:p>
            <a:endParaRPr/>
          </a:p>
        </p:txBody>
      </p:sp>
      <p:pic>
        <p:nvPicPr>
          <p:cNvPr id="11" name="Image 0" descr="Camera"/>
          <p:cNvPicPr>
            <a:picLocks noChangeAspect="1"/>
          </p:cNvPicPr>
          <p:nvPr/>
        </p:nvPicPr>
        <p:blipFill>
          <a:blip r:embed="rId7"/>
          <a:srcRect/>
          <a:stretch/>
        </p:blipFill>
        <p:spPr>
          <a:xfrm>
            <a:off x="7975593" y="1549164"/>
            <a:ext cx="761939" cy="761939"/>
          </a:xfrm>
          <a:prstGeom prst="rect">
            <a:avLst/>
          </a:prstGeom>
        </p:spPr>
      </p:pic>
      <p:sp>
        <p:nvSpPr>
          <p:cNvPr id="12" name="Text 9"/>
          <p:cNvSpPr/>
          <p:nvPr/>
        </p:nvSpPr>
        <p:spPr>
          <a:xfrm>
            <a:off x="7874007" y="2374565"/>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Photos and voice brief</a:t>
            </a:r>
            <a:endParaRPr lang="en-US" sz="1200" dirty="0"/>
          </a:p>
        </p:txBody>
      </p:sp>
      <p:pic>
        <p:nvPicPr>
          <p:cNvPr id="13" name="Image 1" descr="arrow-right"/>
          <p:cNvPicPr>
            <a:picLocks noChangeAspect="1"/>
          </p:cNvPicPr>
          <p:nvPr/>
        </p:nvPicPr>
        <p:blipFill>
          <a:blip r:embed="rId8"/>
          <a:srcRect l="-21" r="-21"/>
          <a:stretch/>
        </p:blipFill>
        <p:spPr>
          <a:xfrm>
            <a:off x="8902789" y="2081175"/>
            <a:ext cx="228557" cy="126923"/>
          </a:xfrm>
          <a:prstGeom prst="rect">
            <a:avLst/>
          </a:prstGeom>
        </p:spPr>
      </p:pic>
      <p:sp>
        <p:nvSpPr>
          <p:cNvPr id="14" name="Shape 10"/>
          <p:cNvSpPr/>
          <p:nvPr/>
        </p:nvSpPr>
        <p:spPr>
          <a:xfrm>
            <a:off x="9296443" y="1640570"/>
            <a:ext cx="761939" cy="761939"/>
          </a:xfrm>
          <a:prstGeom prst="roundRect">
            <a:avLst>
              <a:gd name="adj" fmla="val 50000"/>
            </a:avLst>
          </a:prstGeom>
          <a:solidFill>
            <a:srgbClr val="16202E"/>
          </a:solidFill>
          <a:ln/>
        </p:spPr>
        <p:txBody>
          <a:bodyPr/>
          <a:lstStyle/>
          <a:p>
            <a:endParaRPr/>
          </a:p>
        </p:txBody>
      </p:sp>
      <p:pic>
        <p:nvPicPr>
          <p:cNvPr id="15" name="Image 2" descr="Users"/>
          <p:cNvPicPr>
            <a:picLocks noChangeAspect="1"/>
          </p:cNvPicPr>
          <p:nvPr/>
        </p:nvPicPr>
        <p:blipFill>
          <a:blip r:embed="rId9"/>
          <a:srcRect/>
          <a:stretch/>
        </p:blipFill>
        <p:spPr>
          <a:xfrm>
            <a:off x="9499632" y="1843757"/>
            <a:ext cx="355561" cy="355561"/>
          </a:xfrm>
          <a:prstGeom prst="rect">
            <a:avLst/>
          </a:prstGeom>
        </p:spPr>
      </p:pic>
      <p:sp>
        <p:nvSpPr>
          <p:cNvPr id="16" name="Text 11"/>
          <p:cNvSpPr/>
          <p:nvPr/>
        </p:nvSpPr>
        <p:spPr>
          <a:xfrm>
            <a:off x="9131814" y="2465970"/>
            <a:ext cx="1091277"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Agent studio</a:t>
            </a:r>
            <a:endParaRPr lang="en-US" sz="1200" dirty="0"/>
          </a:p>
        </p:txBody>
      </p:sp>
      <p:pic>
        <p:nvPicPr>
          <p:cNvPr id="17" name="Image 3" descr="arrow-right"/>
          <p:cNvPicPr>
            <a:picLocks noChangeAspect="1"/>
          </p:cNvPicPr>
          <p:nvPr/>
        </p:nvPicPr>
        <p:blipFill>
          <a:blip r:embed="rId8"/>
          <a:srcRect l="-21" r="-21"/>
          <a:stretch/>
        </p:blipFill>
        <p:spPr>
          <a:xfrm>
            <a:off x="10223639" y="2081175"/>
            <a:ext cx="228557" cy="126923"/>
          </a:xfrm>
          <a:prstGeom prst="rect">
            <a:avLst/>
          </a:prstGeom>
        </p:spPr>
      </p:pic>
      <p:pic>
        <p:nvPicPr>
          <p:cNvPr id="18" name="Image 4" descr="Listing images"/>
          <p:cNvPicPr>
            <a:picLocks noChangeAspect="1"/>
          </p:cNvPicPr>
          <p:nvPr/>
        </p:nvPicPr>
        <p:blipFill>
          <a:blip r:embed="rId10"/>
          <a:srcRect/>
          <a:stretch/>
        </p:blipFill>
        <p:spPr>
          <a:xfrm>
            <a:off x="10617292" y="1457759"/>
            <a:ext cx="761939" cy="761939"/>
          </a:xfrm>
          <a:prstGeom prst="rect">
            <a:avLst/>
          </a:prstGeom>
        </p:spPr>
      </p:pic>
      <p:sp>
        <p:nvSpPr>
          <p:cNvPr id="19" name="Text 12"/>
          <p:cNvSpPr/>
          <p:nvPr/>
        </p:nvSpPr>
        <p:spPr>
          <a:xfrm>
            <a:off x="10515706" y="2283160"/>
            <a:ext cx="965191" cy="573841"/>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Listing, images, video</a:t>
            </a:r>
            <a:endParaRPr lang="en-US" sz="1200" dirty="0"/>
          </a:p>
        </p:txBody>
      </p:sp>
      <p:sp>
        <p:nvSpPr>
          <p:cNvPr id="20" name="Shape 13"/>
          <p:cNvSpPr/>
          <p:nvPr/>
        </p:nvSpPr>
        <p:spPr>
          <a:xfrm>
            <a:off x="7775659" y="313943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21760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#24</a:t>
            </a:r>
            <a:endParaRPr lang="en-US" sz="2000" dirty="0"/>
          </a:p>
        </p:txBody>
      </p:sp>
      <p:sp>
        <p:nvSpPr>
          <p:cNvPr id="22" name="Text 15"/>
          <p:cNvSpPr/>
          <p:nvPr/>
        </p:nvSpPr>
        <p:spPr>
          <a:xfrm>
            <a:off x="7777607" y="349697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313625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212443"/>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18/30</a:t>
            </a:r>
            <a:endParaRPr lang="en-US" sz="2000" dirty="0"/>
          </a:p>
        </p:txBody>
      </p:sp>
      <p:sp>
        <p:nvSpPr>
          <p:cNvPr id="25" name="Text 18"/>
          <p:cNvSpPr/>
          <p:nvPr/>
        </p:nvSpPr>
        <p:spPr>
          <a:xfrm>
            <a:off x="8738865" y="3491818"/>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313943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21760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49697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858208"/>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93636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1" name="Text 24"/>
          <p:cNvSpPr/>
          <p:nvPr/>
        </p:nvSpPr>
        <p:spPr>
          <a:xfrm>
            <a:off x="7777607" y="4215743"/>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858208"/>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93636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215743"/>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858208"/>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93636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215743"/>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858208"/>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93636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215743"/>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637261"/>
            <a:ext cx="3809936" cy="1492952"/>
          </a:xfrm>
          <a:prstGeom prst="roundRect">
            <a:avLst>
              <a:gd name="adj" fmla="val 5955"/>
            </a:avLst>
          </a:prstGeom>
          <a:solidFill>
            <a:srgbClr val="16202E"/>
          </a:solidFill>
          <a:ln/>
        </p:spPr>
        <p:txBody>
          <a:bodyPr/>
          <a:lstStyle/>
          <a:p>
            <a:endParaRPr/>
          </a:p>
        </p:txBody>
      </p:sp>
      <p:sp>
        <p:nvSpPr>
          <p:cNvPr id="42" name="Text 35"/>
          <p:cNvSpPr/>
          <p:nvPr/>
        </p:nvSpPr>
        <p:spPr>
          <a:xfrm>
            <a:off x="7912132" y="4751549"/>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independent sellers and one-person brands on marketplaces.</a:t>
            </a:r>
            <a:endParaRPr lang="en-US" sz="1200" dirty="0"/>
          </a:p>
        </p:txBody>
      </p:sp>
      <p:sp>
        <p:nvSpPr>
          <p:cNvPr id="43" name="Text 36"/>
          <p:cNvSpPr/>
          <p:nvPr/>
        </p:nvSpPr>
        <p:spPr>
          <a:xfrm>
            <a:off x="7912132" y="5185705"/>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AI in e-commerce: +$26.8B growth 2025-2029 (34.7% CAGR). Source: </a:t>
            </a:r>
            <a:r>
              <a:rPr lang="en-US" sz="1200" u="sng" dirty="0">
                <a:solidFill>
                  <a:srgbClr val="F2B880"/>
                </a:solidFill>
                <a:latin typeface="Rubik" pitchFamily="34" charset="0"/>
                <a:ea typeface="Rubik" pitchFamily="34" charset="-122"/>
                <a:cs typeface="Rubik" pitchFamily="34" charset="-120"/>
                <a:hlinkClick r:id="rId11">
                  <a:extLst>
                    <a:ext uri="{A12FA001-AC4F-418D-AE19-62706E023703}">
                      <ahyp:hlinkClr xmlns:ahyp="http://schemas.microsoft.com/office/drawing/2018/hyperlinkcolor" val="tx"/>
                    </a:ext>
                  </a:extLst>
                </a:hlinkClick>
              </a:rPr>
              <a:t>Technavio</a:t>
            </a:r>
            <a:endParaRPr lang="en-US" sz="1200" dirty="0"/>
          </a:p>
        </p:txBody>
      </p:sp>
      <p:sp>
        <p:nvSpPr>
          <p:cNvPr id="44" name="Text 37"/>
          <p:cNvSpPr/>
          <p:nvPr/>
        </p:nvSpPr>
        <p:spPr>
          <a:xfrm>
            <a:off x="7912132" y="5619874"/>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Generated image, video and voice replace four hired roles.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32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Design Critic</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Developers ship screens without a designer. Contrast, spacing and wording problems are visible to users and invisible to whoever built the screen, who does not know what to fix.</a:t>
            </a:r>
            <a:endParaRPr lang="en-US" sz="1200" dirty="0"/>
          </a:p>
        </p:txBody>
      </p:sp>
      <p:sp>
        <p:nvSpPr>
          <p:cNvPr id="5" name="Text 3"/>
          <p:cNvSpPr/>
          <p:nvPr/>
        </p:nvSpPr>
        <p:spPr>
          <a:xfrm>
            <a:off x="609567" y="1767582"/>
            <a:ext cx="7063919" cy="84814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small skill that takes a screenshot and returns practical design critique. It gives no general remarks; it places a numbered marker on each problem in the image itself and attaches a one-line fix to each: contrast, hierarchy, spacing or wording.</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screenshot of an app or website.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the same image with markers and a list of fixes.</a:t>
            </a:r>
            <a:endParaRPr lang="en-US" sz="1200" dirty="0"/>
          </a:p>
        </p:txBody>
      </p:sp>
      <p:sp>
        <p:nvSpPr>
          <p:cNvPr id="6" name="Text 4"/>
          <p:cNvSpPr/>
          <p:nvPr/>
        </p:nvSpPr>
        <p:spPr>
          <a:xfrm>
            <a:off x="609567" y="266650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sign-up page comes back with five markers: helper text too grey, two competing primary buttons, uneven spacing, a vague "Submit" and an error message far from its field.</a:t>
            </a:r>
            <a:endParaRPr lang="en-US" sz="1200" dirty="0"/>
          </a:p>
        </p:txBody>
      </p:sp>
      <p:sp>
        <p:nvSpPr>
          <p:cNvPr id="7" name="Text 5"/>
          <p:cNvSpPr/>
          <p:nvPr/>
        </p:nvSpPr>
        <p:spPr>
          <a:xfrm>
            <a:off x="609567" y="315406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Many small tools exist, such as UX Critic and an open-source critique tool. There is no real product novelty here. Why do it anyway: a one-day demo that feeds PersonaQA and Visual acceptance.</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UX Critique</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Crit Design</a:t>
            </a:r>
            <a:endParaRPr lang="en-US" sz="1200" dirty="0"/>
          </a:p>
        </p:txBody>
      </p:sp>
      <p:sp>
        <p:nvSpPr>
          <p:cNvPr id="8" name="Text 6"/>
          <p:cNvSpPr/>
          <p:nvPr/>
        </p:nvSpPr>
        <p:spPr>
          <a:xfrm>
            <a:off x="609567" y="4053046"/>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An open rule set that is easy to contribute to; reused inside the checking apps.</a:t>
            </a:r>
            <a:endParaRPr lang="en-US" sz="1200" dirty="0"/>
          </a:p>
        </p:txBody>
      </p:sp>
      <p:sp>
        <p:nvSpPr>
          <p:cNvPr id="9" name="Text 7"/>
          <p:cNvSpPr/>
          <p:nvPr/>
        </p:nvSpPr>
        <p:spPr>
          <a:xfrm>
            <a:off x="609567" y="4540607"/>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App screenshot"/>
          <p:cNvPicPr>
            <a:picLocks noChangeAspect="1"/>
          </p:cNvPicPr>
          <p:nvPr/>
        </p:nvPicPr>
        <p:blipFill>
          <a:blip r:embed="rId5"/>
          <a:srcRect/>
          <a:stretch/>
        </p:blipFill>
        <p:spPr>
          <a:xfrm>
            <a:off x="7975593" y="1549164"/>
            <a:ext cx="761939" cy="761939"/>
          </a:xfrm>
          <a:prstGeom prst="rect">
            <a:avLst/>
          </a:prstGeom>
        </p:spPr>
      </p:pic>
      <p:sp>
        <p:nvSpPr>
          <p:cNvPr id="12" name="Text 9"/>
          <p:cNvSpPr/>
          <p:nvPr/>
        </p:nvSpPr>
        <p:spPr>
          <a:xfrm>
            <a:off x="7867507" y="2374565"/>
            <a:ext cx="978110"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Screenshot</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549164"/>
            <a:ext cx="761939" cy="761939"/>
          </a:xfrm>
          <a:prstGeom prst="roundRect">
            <a:avLst>
              <a:gd name="adj" fmla="val 50000"/>
            </a:avLst>
          </a:prstGeom>
          <a:solidFill>
            <a:srgbClr val="16202E"/>
          </a:solidFill>
          <a:ln/>
        </p:spPr>
        <p:txBody>
          <a:bodyPr/>
          <a:lstStyle/>
          <a:p>
            <a:endParaRPr/>
          </a:p>
        </p:txBody>
      </p:sp>
      <p:pic>
        <p:nvPicPr>
          <p:cNvPr id="15" name="Image 2" descr="Search"/>
          <p:cNvPicPr>
            <a:picLocks noChangeAspect="1"/>
          </p:cNvPicPr>
          <p:nvPr/>
        </p:nvPicPr>
        <p:blipFill>
          <a:blip r:embed="rId7"/>
          <a:srcRect/>
          <a:stretch/>
        </p:blipFill>
        <p:spPr>
          <a:xfrm>
            <a:off x="9499632" y="1752352"/>
            <a:ext cx="355561" cy="355561"/>
          </a:xfrm>
          <a:prstGeom prst="rect">
            <a:avLst/>
          </a:prstGeom>
        </p:spPr>
      </p:pic>
      <p:sp>
        <p:nvSpPr>
          <p:cNvPr id="16" name="Text 11"/>
          <p:cNvSpPr/>
          <p:nvPr/>
        </p:nvSpPr>
        <p:spPr>
          <a:xfrm>
            <a:off x="9294469" y="2374565"/>
            <a:ext cx="765885"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Critiques</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Annotated screenshot"/>
          <p:cNvPicPr>
            <a:picLocks noChangeAspect="1"/>
          </p:cNvPicPr>
          <p:nvPr/>
        </p:nvPicPr>
        <p:blipFill>
          <a:blip r:embed="rId8"/>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Marked-up fixes</a:t>
            </a:r>
            <a:endParaRPr lang="en-US" sz="1200" dirty="0"/>
          </a:p>
        </p:txBody>
      </p:sp>
      <p:sp>
        <p:nvSpPr>
          <p:cNvPr id="20" name="Shape 13"/>
          <p:cNvSpPr/>
          <p:nvPr/>
        </p:nvSpPr>
        <p:spPr>
          <a:xfrm>
            <a:off x="7775659" y="2956632"/>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#32</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7"/>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17/30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32"/>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63"/>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developers and founders building screens without a designer.</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mobile UX design services: $1.16B in 2024, $2.11B by 2032 (7.8%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SNS Insider</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Understanding an interface image and pointing at an exact spot in it.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88"/>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42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Screenshot-to-Guide</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Writing a guide with a screenshot per step is slow work, so processes stay in one person's head. Every new employee asks the same questions, and when that person is out sick the process stops.</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skill that turns a recording of a process being carried out into a written guide. It detects when a new step happened, crops the right screenshot, highlights the button that was clicked and writes a short instruction. The result serves as documentation, onboarding or a support article.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series of screenshots or a screen recording.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step-by-step guide with an image per step.</a:t>
            </a:r>
            <a:endParaRPr lang="en-US" sz="1200" dirty="0"/>
          </a:p>
        </p:txBody>
      </p:sp>
      <p:sp>
        <p:nvSpPr>
          <p:cNvPr id="6" name="Text 4"/>
          <p:cNvSpPr/>
          <p:nvPr/>
        </p:nvSpPr>
        <p:spPr>
          <a:xfrm>
            <a:off x="609567" y="328355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Two recorded minutes of adding a supplier in the invoicing system become a nine-step guide. The manager corrects one step name and publishes.</a:t>
            </a:r>
            <a:endParaRPr lang="en-US" sz="1200" dirty="0"/>
          </a:p>
        </p:txBody>
      </p:sp>
      <p:sp>
        <p:nvSpPr>
          <p:cNvPr id="7" name="Text 5"/>
          <p:cNvSpPr/>
          <p:nvPr/>
        </p:nvSpPr>
        <p:spPr>
          <a:xfrm>
            <a:off x="609567" y="3771119"/>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Scribe dominates the field. The only possible novelty: running it on open-source projects themselves, so the screenshots in their documentation refresh automatically with every release.</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Scribe</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Tango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Guidde</a:t>
            </a:r>
            <a:endParaRPr lang="en-US" sz="1200" dirty="0"/>
          </a:p>
        </p:txBody>
      </p:sp>
      <p:sp>
        <p:nvSpPr>
          <p:cNvPr id="8" name="Text 6"/>
          <p:cNvSpPr/>
          <p:nvPr/>
        </p:nvSpPr>
        <p:spPr>
          <a:xfrm>
            <a:off x="609567" y="467010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Useful for openJiuwen's own documentation; as a product, a business service with no community.</a:t>
            </a:r>
            <a:endParaRPr lang="en-US" sz="1200" dirty="0"/>
          </a:p>
        </p:txBody>
      </p:sp>
      <p:sp>
        <p:nvSpPr>
          <p:cNvPr id="9" name="Text 7"/>
          <p:cNvSpPr/>
          <p:nvPr/>
        </p:nvSpPr>
        <p:spPr>
          <a:xfrm>
            <a:off x="609567" y="5157649"/>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 It segments video into steps, but video of a screen.</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Screen recording"/>
          <p:cNvPicPr>
            <a:picLocks noChangeAspect="1"/>
          </p:cNvPicPr>
          <p:nvPr/>
        </p:nvPicPr>
        <p:blipFill>
          <a:blip r:embed="rId6"/>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Screen recording</a:t>
            </a:r>
            <a:endParaRPr lang="en-US" sz="1200" dirty="0"/>
          </a:p>
        </p:txBody>
      </p:sp>
      <p:pic>
        <p:nvPicPr>
          <p:cNvPr id="13" name="Image 1" descr="arrow-right"/>
          <p:cNvPicPr>
            <a:picLocks noChangeAspect="1"/>
          </p:cNvPicPr>
          <p:nvPr/>
        </p:nvPicPr>
        <p:blipFill>
          <a:blip r:embed="rId7"/>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Book"/>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Finds the steps</a:t>
            </a:r>
            <a:endParaRPr lang="en-US" sz="1200" dirty="0"/>
          </a:p>
        </p:txBody>
      </p:sp>
      <p:pic>
        <p:nvPicPr>
          <p:cNvPr id="17" name="Image 3" descr="arrow-right"/>
          <p:cNvPicPr>
            <a:picLocks noChangeAspect="1"/>
          </p:cNvPicPr>
          <p:nvPr/>
        </p:nvPicPr>
        <p:blipFill>
          <a:blip r:embed="rId7"/>
          <a:srcRect l="-21" r="-21"/>
          <a:stretch/>
        </p:blipFill>
        <p:spPr>
          <a:xfrm>
            <a:off x="10223639" y="1989770"/>
            <a:ext cx="228557" cy="126923"/>
          </a:xfrm>
          <a:prstGeom prst="rect">
            <a:avLst/>
          </a:prstGeom>
        </p:spPr>
      </p:pic>
      <p:pic>
        <p:nvPicPr>
          <p:cNvPr id="18" name="Image 4" descr="Step-by-step guide"/>
          <p:cNvPicPr>
            <a:picLocks noChangeAspect="1"/>
          </p:cNvPicPr>
          <p:nvPr/>
        </p:nvPicPr>
        <p:blipFill>
          <a:blip r:embed="rId9"/>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Illustrated guide</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#42</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16/30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operations, support and training teams.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digital adoption platforms: $909M in 2025, $4.2B by 2034 (18%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IMARC Group</a:t>
            </a:r>
            <a:endParaRPr lang="en-US" sz="1200" dirty="0"/>
          </a:p>
        </p:txBody>
      </p:sp>
      <p:sp>
        <p:nvSpPr>
          <p:cNvPr id="44" name="Text 37"/>
          <p:cNvSpPr/>
          <p:nvPr/>
        </p:nvSpPr>
        <p:spPr>
          <a:xfrm>
            <a:off x="7912132" y="563517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medium. The leader built this before language models.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43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Receipt-to-Books</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self-employed person keeps receipts in a shoebox and a phone gallery. Bookkeeping happens in a panic the night before the filing deadline, deductible expenses get lost, and the accountant charges for the sorting.</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bookkeeping agent for a one-person company. It reads every receipt and invoice, categorises it, matches it to a line on the bank statement and prepares a draft report. Each entry links to its source photo, and anything unreadable or unmatched is shown to the owner, not guessed. The owner or the accountant files.</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photos of receipts and invoices, bank statements.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categorised books, matches and a draft tax report.</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freelancer forwards 40 receipt photos. 37 are matched to bank lines; three are shown to her as unreadable or unmatched.</a:t>
            </a:r>
            <a:endParaRPr lang="en-US" sz="1200" dirty="0"/>
          </a:p>
        </p:txBody>
      </p:sp>
      <p:sp>
        <p:nvSpPr>
          <p:cNvPr id="7" name="Text 5"/>
          <p:cNvSpPr/>
          <p:nvPr/>
        </p:nvSpPr>
        <p:spPr>
          <a:xfrm>
            <a:off x="609567" y="3771119"/>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search turned up Dext and Expensify and lists of dozens of receipt scanners. A saturated field. Possible novelty: per-country tax rule packs that a community maintains, and an agent that follows up through the month, not only a scanner.</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Dext</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Expensify</a:t>
            </a:r>
            <a:endParaRPr lang="en-US" sz="1200" dirty="0"/>
          </a:p>
        </p:txBody>
      </p:sp>
      <p:sp>
        <p:nvSpPr>
          <p:cNvPr id="8" name="Text 6"/>
          <p:cNvSpPr/>
          <p:nvPr/>
        </p:nvSpPr>
        <p:spPr>
          <a:xfrm>
            <a:off x="609567" y="467010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Tax rules differ in every country, which suits a community. Against that, liability for a financial error is a deterrent.</a:t>
            </a:r>
            <a:endParaRPr lang="en-US" sz="1200" dirty="0"/>
          </a:p>
        </p:txBody>
      </p:sp>
      <p:sp>
        <p:nvSpPr>
          <p:cNvPr id="9" name="Text 7"/>
          <p:cNvSpPr/>
          <p:nvPr/>
        </p:nvSpPr>
        <p:spPr>
          <a:xfrm>
            <a:off x="609567" y="5157661"/>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Receipt"/>
          <p:cNvPicPr>
            <a:picLocks noChangeAspect="1"/>
          </p:cNvPicPr>
          <p:nvPr/>
        </p:nvPicPr>
        <p:blipFill>
          <a:blip r:embed="rId5"/>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Receipt photos</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Database"/>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Reads and matches</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Ledger table"/>
          <p:cNvPicPr>
            <a:picLocks noChangeAspect="1"/>
          </p:cNvPicPr>
          <p:nvPr/>
        </p:nvPicPr>
        <p:blipFill>
          <a:blip r:embed="rId8"/>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Books and tax draft</a:t>
            </a:r>
            <a:endParaRPr lang="en-US" sz="1200" dirty="0"/>
          </a:p>
        </p:txBody>
      </p:sp>
      <p:sp>
        <p:nvSpPr>
          <p:cNvPr id="20" name="Shape 13"/>
          <p:cNvSpPr/>
          <p:nvPr/>
        </p:nvSpPr>
        <p:spPr>
          <a:xfrm>
            <a:off x="7775659" y="2956632"/>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#43</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7"/>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15/30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32"/>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63"/>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the self-employed, freelancers and one-person companies.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accounting and budgeting software: $18.7B in 2023, $54.2B by 2032 (12%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Global Market Insights</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medium. Receipt reading is old; matching and follow-up over time are new.</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88"/>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46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Dashboard Narrator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Dashboards are built and then not read. A manager has ten of them and nobody to say which number moved this week and why. Decisions are made on feeling, and the outlier is noticed too late.</a:t>
            </a:r>
            <a:endParaRPr lang="en-US" sz="1200" dirty="0"/>
          </a:p>
        </p:txBody>
      </p:sp>
      <p:sp>
        <p:nvSpPr>
          <p:cNvPr id="5" name="Text 3"/>
          <p:cNvSpPr/>
          <p:nvPr/>
        </p:nvSpPr>
        <p:spPr>
          <a:xfrm>
            <a:off x="609567" y="1973263"/>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data agent that reads the dashboards for the manager. It spots what changed since last week, re-computes every number it quotes from the data, links each claim to its chart and warns when a tile shows a value that does not match the table. It remembers last week's story.</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dashboard screenshots and the data behind them.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written weekly brief and a two-minute narrated video.</a:t>
            </a:r>
            <a:endParaRPr lang="en-US" sz="1200" dirty="0"/>
          </a:p>
        </p:txBody>
      </p:sp>
      <p:sp>
        <p:nvSpPr>
          <p:cNvPr id="6" name="Text 4"/>
          <p:cNvSpPr/>
          <p:nvPr/>
        </p:nvSpPr>
        <p:spPr>
          <a:xfrm>
            <a:off x="609567" y="307787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Monday's brief: sign-ups rose 12% thanks to one campaign; churn unchanged; one tile shows a number that does not match the table.</a:t>
            </a:r>
            <a:endParaRPr lang="en-US" sz="1200" dirty="0"/>
          </a:p>
        </p:txBody>
      </p:sp>
      <p:sp>
        <p:nvSpPr>
          <p:cNvPr id="7" name="Text 5"/>
          <p:cNvSpPr/>
          <p:nvPr/>
        </p:nvSpPr>
        <p:spPr>
          <a:xfrm>
            <a:off x="609567" y="356542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Tableau (Pulse and Dashboard Narratives) and Power BI Copilot already generate summaries, so I lowered buzz to 2. Possible novelty: working on open BI tools such as Grafana, Superset and Metabase, and verifying the numbers.</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Tableau</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Power BI Copilot</a:t>
            </a:r>
            <a:endParaRPr lang="en-US" sz="1200" dirty="0"/>
          </a:p>
        </p:txBody>
      </p:sp>
      <p:sp>
        <p:nvSpPr>
          <p:cNvPr id="8" name="Text 6"/>
          <p:cNvSpPr/>
          <p:nvPr/>
        </p:nvSpPr>
        <p:spPr>
          <a:xfrm>
            <a:off x="609567" y="446440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Connectors to open BI tools as plugins. The community around those tools is a natural audience.</a:t>
            </a:r>
            <a:endParaRPr lang="en-US" sz="1200" dirty="0"/>
          </a:p>
        </p:txBody>
      </p:sp>
      <p:sp>
        <p:nvSpPr>
          <p:cNvPr id="9" name="Text 7"/>
          <p:cNvSpPr/>
          <p:nvPr/>
        </p:nvSpPr>
        <p:spPr>
          <a:xfrm>
            <a:off x="609567" y="495196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Dashboard"/>
          <p:cNvPicPr>
            <a:picLocks noChangeAspect="1"/>
          </p:cNvPicPr>
          <p:nvPr/>
        </p:nvPicPr>
        <p:blipFill>
          <a:blip r:embed="rId5"/>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Dashboards and data</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Chart"/>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Re-computes</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Narrated brief"/>
          <p:cNvPicPr>
            <a:picLocks noChangeAspect="1"/>
          </p:cNvPicPr>
          <p:nvPr/>
        </p:nvPicPr>
        <p:blipFill>
          <a:blip r:embed="rId8"/>
          <a:srcRect/>
          <a:stretch/>
        </p:blipFill>
        <p:spPr>
          <a:xfrm>
            <a:off x="10617292" y="1549164"/>
            <a:ext cx="761939" cy="761939"/>
          </a:xfrm>
          <a:prstGeom prst="rect">
            <a:avLst/>
          </a:prstGeom>
        </p:spPr>
      </p:pic>
      <p:sp>
        <p:nvSpPr>
          <p:cNvPr id="19" name="Text 12"/>
          <p:cNvSpPr/>
          <p:nvPr/>
        </p:nvSpPr>
        <p:spPr>
          <a:xfrm>
            <a:off x="10487647" y="2374565"/>
            <a:ext cx="1021309"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Weekly brief</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#46</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15/30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managers and analysts who receive dashboards and do not read them.</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business intelligence: $33.9B in 2024, $75.7B by 2033 (9.3%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Dimension Market Research</a:t>
            </a:r>
            <a:endParaRPr lang="en-US" sz="1200" dirty="0"/>
          </a:p>
        </p:txBody>
      </p:sp>
      <p:sp>
        <p:nvSpPr>
          <p:cNvPr id="44" name="Text 37"/>
          <p:cNvSpPr/>
          <p:nvPr/>
        </p:nvSpPr>
        <p:spPr>
          <a:xfrm>
            <a:off x="7912132" y="563517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The Data Agent direction: reading a chart and verifying it against the data.</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47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Front desk agent</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self-employed tradesperson cannot answer the phone in the middle of a job. Every unanswered call is a job that goes to a competitor, and he does not even know how many he lost.</a:t>
            </a:r>
            <a:endParaRPr lang="en-US" sz="1200" dirty="0"/>
          </a:p>
        </p:txBody>
      </p:sp>
      <p:sp>
        <p:nvSpPr>
          <p:cNvPr id="5" name="Text 3"/>
          <p:cNvSpPr/>
          <p:nvPr/>
        </p:nvSpPr>
        <p:spPr>
          <a:xfrm>
            <a:off x="609567" y="1767582"/>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An agent with its own phone number and email that acts as the receptionist. It answers calls, voice notes and photos of the problem, collects the address and details, opens a job, offers free slots from the calendar and hands off to the other agents. Prices and commitments stay with the business owner.</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phone calls, voice notes and customer photos.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job record and a proposed slot.</a:t>
            </a:r>
            <a:endParaRPr lang="en-US" sz="1200" dirty="0"/>
          </a:p>
        </p:txBody>
      </p:sp>
      <p:sp>
        <p:nvSpPr>
          <p:cNvPr id="6" name="Text 4"/>
          <p:cNvSpPr/>
          <p:nvPr/>
        </p:nvSpPr>
        <p:spPr>
          <a:xfrm>
            <a:off x="609567" y="287219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plumber is on a job. The agent answers, receives a photo of a leaking tap, opens a job and offers two slots. The plumber approves one with a tap.</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There are many roundups of AI receptionists for small business; a market where businesses buy quietly. Novelty: accepting a photo of the problem, and the connection to the other agents of the one-person company.</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Smith.ai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Rosie</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Dialzara</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6">
                  <a:extLst>
                    <a:ext uri="{A12FA001-AC4F-418D-AE19-62706E023703}">
                      <ahyp:hlinkClr xmlns:ahyp="http://schemas.microsoft.com/office/drawing/2018/hyperlinkcolor" val="tx"/>
                    </a:ext>
                  </a:extLst>
                </a:hlinkClick>
              </a:rPr>
              <a:t>Goodcall</a:t>
            </a:r>
            <a:endParaRPr lang="en-US" sz="1200" dirty="0"/>
          </a:p>
        </p:txBody>
      </p:sp>
      <p:sp>
        <p:nvSpPr>
          <p:cNvPr id="8" name="Text 6"/>
          <p:cNvSpPr/>
          <p:nvPr/>
        </p:nvSpPr>
        <p:spPr>
          <a:xfrm>
            <a:off x="609567" y="4258739"/>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Telephony connectors and a template for one trade; customers are not developers, and local integrators are the channel.</a:t>
            </a:r>
            <a:endParaRPr lang="en-US" sz="1200" dirty="0"/>
          </a:p>
        </p:txBody>
      </p:sp>
      <p:sp>
        <p:nvSpPr>
          <p:cNvPr id="9" name="Text 7"/>
          <p:cNvSpPr/>
          <p:nvPr/>
        </p:nvSpPr>
        <p:spPr>
          <a:xfrm>
            <a:off x="609567" y="474628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Phone call"/>
          <p:cNvPicPr>
            <a:picLocks noChangeAspect="1"/>
          </p:cNvPicPr>
          <p:nvPr/>
        </p:nvPicPr>
        <p:blipFill>
          <a:blip r:embed="rId7"/>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Call and photo</a:t>
            </a:r>
            <a:endParaRPr lang="en-US" sz="1200" dirty="0"/>
          </a:p>
        </p:txBody>
      </p:sp>
      <p:pic>
        <p:nvPicPr>
          <p:cNvPr id="13" name="Image 1" descr="arrow-right"/>
          <p:cNvPicPr>
            <a:picLocks noChangeAspect="1"/>
          </p:cNvPicPr>
          <p:nvPr/>
        </p:nvPicPr>
        <p:blipFill>
          <a:blip r:embed="rId8"/>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Chat"/>
          <p:cNvPicPr>
            <a:picLocks noChangeAspect="1"/>
          </p:cNvPicPr>
          <p:nvPr/>
        </p:nvPicPr>
        <p:blipFill>
          <a:blip r:embed="rId9"/>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Answers for you</a:t>
            </a:r>
            <a:endParaRPr lang="en-US" sz="1200" dirty="0"/>
          </a:p>
        </p:txBody>
      </p:sp>
      <p:pic>
        <p:nvPicPr>
          <p:cNvPr id="17" name="Image 3" descr="arrow-right"/>
          <p:cNvPicPr>
            <a:picLocks noChangeAspect="1"/>
          </p:cNvPicPr>
          <p:nvPr/>
        </p:nvPicPr>
        <p:blipFill>
          <a:blip r:embed="rId8"/>
          <a:srcRect l="-21" r="-21"/>
          <a:stretch/>
        </p:blipFill>
        <p:spPr>
          <a:xfrm>
            <a:off x="10223639" y="1989770"/>
            <a:ext cx="228557" cy="126923"/>
          </a:xfrm>
          <a:prstGeom prst="rect">
            <a:avLst/>
          </a:prstGeom>
        </p:spPr>
      </p:pic>
      <p:pic>
        <p:nvPicPr>
          <p:cNvPr id="18" name="Image 4" descr="Calendar slot"/>
          <p:cNvPicPr>
            <a:picLocks noChangeAspect="1"/>
          </p:cNvPicPr>
          <p:nvPr/>
        </p:nvPicPr>
        <p:blipFill>
          <a:blip r:embed="rId10"/>
          <a:srcRect/>
          <a:stretch/>
        </p:blipFill>
        <p:spPr>
          <a:xfrm>
            <a:off x="10617292" y="1549164"/>
            <a:ext cx="761939" cy="761939"/>
          </a:xfrm>
          <a:prstGeom prst="rect">
            <a:avLst/>
          </a:prstGeom>
        </p:spPr>
      </p:pic>
      <p:sp>
        <p:nvSpPr>
          <p:cNvPr id="19" name="Text 12"/>
          <p:cNvSpPr/>
          <p:nvPr/>
        </p:nvSpPr>
        <p:spPr>
          <a:xfrm>
            <a:off x="10471798" y="2374565"/>
            <a:ext cx="1053007"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Job and slot</a:t>
            </a:r>
            <a:endParaRPr lang="en-US" sz="1200" dirty="0"/>
          </a:p>
        </p:txBody>
      </p:sp>
      <p:sp>
        <p:nvSpPr>
          <p:cNvPr id="20" name="Shape 13"/>
          <p:cNvSpPr/>
          <p:nvPr/>
        </p:nvSpPr>
        <p:spPr>
          <a:xfrm>
            <a:off x="7775659" y="2956632"/>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#47</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7"/>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14/30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32"/>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63"/>
            <a:ext cx="3809936" cy="149295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self-employed trades: plumbers, electricians, small clinics.</a:t>
            </a:r>
            <a:endParaRPr lang="en-US" sz="1200" dirty="0"/>
          </a:p>
        </p:txBody>
      </p:sp>
      <p:sp>
        <p:nvSpPr>
          <p:cNvPr id="43" name="Text 36"/>
          <p:cNvSpPr/>
          <p:nvPr/>
        </p:nvSpPr>
        <p:spPr>
          <a:xfrm>
            <a:off x="7912132" y="5002895"/>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receptionists: $2.7B in 2025, $31.3B by 2035 (27.8% CAGR). Source: </a:t>
            </a:r>
            <a:r>
              <a:rPr lang="en-US" sz="1200" u="sng" dirty="0">
                <a:solidFill>
                  <a:srgbClr val="F2B880"/>
                </a:solidFill>
                <a:latin typeface="Rubik" pitchFamily="34" charset="0"/>
                <a:ea typeface="Rubik" pitchFamily="34" charset="-122"/>
                <a:cs typeface="Rubik" pitchFamily="34" charset="-120"/>
                <a:hlinkClick r:id="rId11">
                  <a:extLst>
                    <a:ext uri="{A12FA001-AC4F-418D-AE19-62706E023703}">
                      <ahyp:hlinkClr xmlns:ahyp="http://schemas.microsoft.com/office/drawing/2018/hyperlinkcolor" val="tx"/>
                    </a:ext>
                  </a:extLst>
                </a:hlinkClick>
              </a:rPr>
              <a:t>Market.us</a:t>
            </a:r>
            <a:endParaRPr lang="en-US" sz="1200" dirty="0"/>
          </a:p>
        </p:txBody>
      </p:sp>
      <p:sp>
        <p:nvSpPr>
          <p:cNvPr id="44" name="Text 37"/>
          <p:cNvSpPr/>
          <p:nvPr/>
        </p:nvSpPr>
        <p:spPr>
          <a:xfrm>
            <a:off x="7912132" y="543706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Natural voice conversation and understanding a photo of the fault.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49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Sales Call Coach</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Founders and solo sellers get no feedback on their calls. They repeat the same monologue, miss the same buying signals, and do not know why deals fall through.</a:t>
            </a:r>
            <a:endParaRPr lang="en-US" sz="1200" dirty="0"/>
          </a:p>
        </p:txBody>
      </p:sp>
      <p:sp>
        <p:nvSpPr>
          <p:cNvPr id="5" name="Text 3"/>
          <p:cNvSpPr/>
          <p:nvPr/>
        </p:nvSpPr>
        <p:spPr>
          <a:xfrm>
            <a:off x="609567" y="1767570"/>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sales coach that works on a recording. It transcribes the call, measures who spoke how much, and marks by timestamp where the seller talked too long, where a discovery question was not asked and where an objection was fumbled. It ends with an overall score and the single most important improvement for the next call.</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call recording.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timestamped coaching notes and a scorecard.</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six-minute feature monologue at 04:10, a deadline the customer mentioned at 12:30 with no follow-up question, and a price objection answered with an instant discount.</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A mature business-software category led by Gong. No community activity was found. No real novelty; the only value is sharing the audio core with Live Meeting Copilot.</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Gong</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Avoma</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Clari Copilot</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The rubric can be published as a file teams adapt to their sales method. No contributor community.</a:t>
            </a:r>
            <a:endParaRPr lang="en-US" sz="1200" dirty="0"/>
          </a:p>
        </p:txBody>
      </p:sp>
      <p:sp>
        <p:nvSpPr>
          <p:cNvPr id="9" name="Text 7"/>
          <p:cNvSpPr/>
          <p:nvPr/>
        </p:nvSpPr>
        <p:spPr>
          <a:xfrm>
            <a:off x="609567" y="474628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all recording"/>
          <p:cNvPicPr>
            <a:picLocks noChangeAspect="1"/>
          </p:cNvPicPr>
          <p:nvPr/>
        </p:nvPicPr>
        <p:blipFill>
          <a:blip r:embed="rId6"/>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Call recording</a:t>
            </a:r>
            <a:endParaRPr lang="en-US" sz="1200" dirty="0"/>
          </a:p>
        </p:txBody>
      </p:sp>
      <p:pic>
        <p:nvPicPr>
          <p:cNvPr id="13" name="Image 1" descr="arrow-right"/>
          <p:cNvPicPr>
            <a:picLocks noChangeAspect="1"/>
          </p:cNvPicPr>
          <p:nvPr/>
        </p:nvPicPr>
        <p:blipFill>
          <a:blip r:embed="rId7"/>
          <a:srcRect l="-21" r="-21"/>
          <a:stretch/>
        </p:blipFill>
        <p:spPr>
          <a:xfrm>
            <a:off x="8902789" y="1989770"/>
            <a:ext cx="228557" cy="126923"/>
          </a:xfrm>
          <a:prstGeom prst="rect">
            <a:avLst/>
          </a:prstGeom>
        </p:spPr>
      </p:pic>
      <p:sp>
        <p:nvSpPr>
          <p:cNvPr id="14" name="Shape 10"/>
          <p:cNvSpPr/>
          <p:nvPr/>
        </p:nvSpPr>
        <p:spPr>
          <a:xfrm>
            <a:off x="9296443" y="1549164"/>
            <a:ext cx="761939" cy="761939"/>
          </a:xfrm>
          <a:prstGeom prst="roundRect">
            <a:avLst>
              <a:gd name="adj" fmla="val 50000"/>
            </a:avLst>
          </a:prstGeom>
          <a:solidFill>
            <a:srgbClr val="16202E"/>
          </a:solidFill>
          <a:ln/>
        </p:spPr>
        <p:txBody>
          <a:bodyPr/>
          <a:lstStyle/>
          <a:p>
            <a:endParaRPr/>
          </a:p>
        </p:txBody>
      </p:sp>
      <p:pic>
        <p:nvPicPr>
          <p:cNvPr id="15" name="Image 2" descr="GraduationCap"/>
          <p:cNvPicPr>
            <a:picLocks noChangeAspect="1"/>
          </p:cNvPicPr>
          <p:nvPr/>
        </p:nvPicPr>
        <p:blipFill>
          <a:blip r:embed="rId8"/>
          <a:srcRect/>
          <a:stretch/>
        </p:blipFill>
        <p:spPr>
          <a:xfrm>
            <a:off x="9499632" y="1752352"/>
            <a:ext cx="355561" cy="355561"/>
          </a:xfrm>
          <a:prstGeom prst="rect">
            <a:avLst/>
          </a:prstGeom>
        </p:spPr>
      </p:pic>
      <p:sp>
        <p:nvSpPr>
          <p:cNvPr id="16" name="Text 11"/>
          <p:cNvSpPr/>
          <p:nvPr/>
        </p:nvSpPr>
        <p:spPr>
          <a:xfrm>
            <a:off x="9309642" y="2374565"/>
            <a:ext cx="735540"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Coaches</a:t>
            </a:r>
            <a:endParaRPr lang="en-US" sz="1200" dirty="0"/>
          </a:p>
        </p:txBody>
      </p:sp>
      <p:pic>
        <p:nvPicPr>
          <p:cNvPr id="17" name="Image 3" descr="arrow-right"/>
          <p:cNvPicPr>
            <a:picLocks noChangeAspect="1"/>
          </p:cNvPicPr>
          <p:nvPr/>
        </p:nvPicPr>
        <p:blipFill>
          <a:blip r:embed="rId7"/>
          <a:srcRect l="-21" r="-21"/>
          <a:stretch/>
        </p:blipFill>
        <p:spPr>
          <a:xfrm>
            <a:off x="10223639" y="1989770"/>
            <a:ext cx="228557" cy="126923"/>
          </a:xfrm>
          <a:prstGeom prst="rect">
            <a:avLst/>
          </a:prstGeom>
        </p:spPr>
      </p:pic>
      <p:pic>
        <p:nvPicPr>
          <p:cNvPr id="18" name="Image 4" descr="Scorecard"/>
          <p:cNvPicPr>
            <a:picLocks noChangeAspect="1"/>
          </p:cNvPicPr>
          <p:nvPr/>
        </p:nvPicPr>
        <p:blipFill>
          <a:blip r:embed="rId9"/>
          <a:srcRect/>
          <a:stretch/>
        </p:blipFill>
        <p:spPr>
          <a:xfrm>
            <a:off x="10617292" y="1549164"/>
            <a:ext cx="761939" cy="761939"/>
          </a:xfrm>
          <a:prstGeom prst="rect">
            <a:avLst/>
          </a:prstGeom>
        </p:spPr>
      </p:pic>
      <p:sp>
        <p:nvSpPr>
          <p:cNvPr id="19" name="Text 12"/>
          <p:cNvSpPr/>
          <p:nvPr/>
        </p:nvSpPr>
        <p:spPr>
          <a:xfrm>
            <a:off x="10564381" y="2374565"/>
            <a:ext cx="867842"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Scorecard</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#49</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14/30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founders and solo sellers with no sales manager.</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conversation intelligence software: $23.1B in 2024, $57.9B by 2034 (9.6%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Market.us Scoop</a:t>
            </a:r>
            <a:endParaRPr lang="en-US" sz="1200" dirty="0"/>
          </a:p>
        </p:txBody>
      </p:sp>
      <p:sp>
        <p:nvSpPr>
          <p:cNvPr id="44" name="Text 37"/>
          <p:cNvSpPr/>
          <p:nvPr/>
        </p:nvSpPr>
        <p:spPr>
          <a:xfrm>
            <a:off x="7912132" y="563517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but an ability that is already standard in the category.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66E"/>
                </a:solidFill>
                <a:latin typeface="Rubik" pitchFamily="34" charset="0"/>
                <a:ea typeface="Rubik" pitchFamily="34" charset="-122"/>
                <a:cs typeface="Rubik" pitchFamily="34" charset="-120"/>
              </a:rPr>
              <a:t>Business &amp; Research · Lead: Michael · Rank 50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Hiring Screener</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small company receives dozens of recorded answers for one role and has no time to watch them all fairly. Good candidates are rejected because nobody reached their recording.</a:t>
            </a:r>
            <a:endParaRPr lang="en-US" sz="1200" dirty="0"/>
          </a:p>
        </p:txBody>
      </p:sp>
      <p:sp>
        <p:nvSpPr>
          <p:cNvPr id="5" name="Text 3"/>
          <p:cNvSpPr/>
          <p:nvPr/>
        </p:nvSpPr>
        <p:spPr>
          <a:xfrm>
            <a:off x="609567" y="1767582"/>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screening tool that ranks recorded answers against the role's written criteria. A score rests only on what the candidate said: each score carries the quote and timestamp behind it, everything is open to review, and the decision stays with a person. Automated ranking of candidates carries bias risk and legal risk.</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recorded video interviews and a role description.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ranked shortlist with the evidence for each score.</a:t>
            </a:r>
            <a:endParaRPr lang="en-US" sz="1200" dirty="0"/>
          </a:p>
        </p:txBody>
      </p:sp>
      <p:sp>
        <p:nvSpPr>
          <p:cNvPr id="6" name="Text 4"/>
          <p:cNvSpPr/>
          <p:nvPr/>
        </p:nvSpPr>
        <p:spPr>
          <a:xfrm>
            <a:off x="609567" y="307787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Forty candidates answer five questions. The tool proposes eight to interview; the manager reads the evidence and moves two candidates up.</a:t>
            </a:r>
            <a:endParaRPr lang="en-US" sz="1200" dirty="0"/>
          </a:p>
        </p:txBody>
      </p:sp>
      <p:sp>
        <p:nvSpPr>
          <p:cNvPr id="7" name="Text 5"/>
          <p:cNvSpPr/>
          <p:nvPr/>
        </p:nvSpPr>
        <p:spPr>
          <a:xfrm>
            <a:off x="609567" y="3565438"/>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Many tools exist, and the reaction to them is hostile: in a Gartner survey only 26% of applicants trust AI to evaluate them fairly, and EU rules classify hiring AI as high-risk from August 2026. There is no good reason for us to do this.</a:t>
            </a:r>
            <a:br>
              <a:rPr lang="en-US" sz="1200" dirty="0">
                <a:solidFill>
                  <a:srgbClr val="16202E"/>
                </a:solidFill>
                <a:latin typeface="Rubik" pitchFamily="34" charset="0"/>
                <a:ea typeface="Rubik" pitchFamily="34" charset="-122"/>
                <a:cs typeface="Rubik" pitchFamily="34" charset="-120"/>
              </a:rPr>
            </a:br>
            <a:r>
              <a:rPr lang="en-US" sz="1200" b="1" dirty="0">
                <a:solidFill>
                  <a:srgbClr val="0F766E"/>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0F766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Willo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0F766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Spark Hire</a:t>
            </a:r>
            <a:endParaRPr lang="en-US" sz="1200" dirty="0"/>
          </a:p>
        </p:txBody>
      </p:sp>
      <p:sp>
        <p:nvSpPr>
          <p:cNvPr id="8" name="Text 6"/>
          <p:cNvSpPr/>
          <p:nvPr/>
        </p:nvSpPr>
        <p:spPr>
          <a:xfrm>
            <a:off x="609567" y="446442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66E"/>
                </a:solidFill>
                <a:latin typeface="Rubik" pitchFamily="34" charset="0"/>
                <a:ea typeface="Rubik" pitchFamily="34" charset="-122"/>
                <a:cs typeface="Rubik" pitchFamily="34" charset="-120"/>
              </a:rPr>
              <a:t>Open source 1/5.</a:t>
            </a:r>
            <a:r>
              <a:rPr lang="en-US" sz="1200" dirty="0">
                <a:solidFill>
                  <a:srgbClr val="16202E"/>
                </a:solidFill>
                <a:latin typeface="Rubik" pitchFamily="34" charset="0"/>
                <a:ea typeface="Rubik" pitchFamily="34" charset="-122"/>
                <a:cs typeface="Rubik" pitchFamily="34" charset="-120"/>
              </a:rPr>
              <a:t> Openness allows bias audits, but ties the project's name to a practice candidates resent.</a:t>
            </a:r>
            <a:endParaRPr lang="en-US" sz="1200" dirty="0"/>
          </a:p>
        </p:txBody>
      </p:sp>
      <p:sp>
        <p:nvSpPr>
          <p:cNvPr id="9" name="Text 7"/>
          <p:cNvSpPr/>
          <p:nvPr/>
        </p:nvSpPr>
        <p:spPr>
          <a:xfrm>
            <a:off x="609567" y="4951981"/>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andidate video"/>
          <p:cNvPicPr>
            <a:picLocks noChangeAspect="1"/>
          </p:cNvPicPr>
          <p:nvPr/>
        </p:nvPicPr>
        <p:blipFill>
          <a:blip r:embed="rId5"/>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Recorded interviews</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Warning"/>
          <p:cNvPicPr>
            <a:picLocks noChangeAspect="1"/>
          </p:cNvPicPr>
          <p:nvPr/>
        </p:nvPicPr>
        <p:blipFill>
          <a:blip r:embed="rId7"/>
          <a:srcRect/>
          <a:stretch/>
        </p:blipFill>
        <p:spPr>
          <a:xfrm>
            <a:off x="9499632" y="1660959"/>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Ranks with evidence</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Shortlist"/>
          <p:cNvPicPr>
            <a:picLocks noChangeAspect="1"/>
          </p:cNvPicPr>
          <p:nvPr/>
        </p:nvPicPr>
        <p:blipFill>
          <a:blip r:embed="rId8"/>
          <a:srcRect/>
          <a:stretch/>
        </p:blipFill>
        <p:spPr>
          <a:xfrm>
            <a:off x="10617292" y="1549177"/>
            <a:ext cx="761939" cy="761939"/>
          </a:xfrm>
          <a:prstGeom prst="rect">
            <a:avLst/>
          </a:prstGeom>
        </p:spPr>
      </p:pic>
      <p:sp>
        <p:nvSpPr>
          <p:cNvPr id="19" name="Text 12"/>
          <p:cNvSpPr/>
          <p:nvPr/>
        </p:nvSpPr>
        <p:spPr>
          <a:xfrm>
            <a:off x="10636097" y="2374565"/>
            <a:ext cx="724329"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Shortlist</a:t>
            </a:r>
            <a:endParaRPr lang="en-US" sz="1200" dirty="0"/>
          </a:p>
        </p:txBody>
      </p:sp>
      <p:sp>
        <p:nvSpPr>
          <p:cNvPr id="20" name="Shape 13"/>
          <p:cNvSpPr/>
          <p:nvPr/>
        </p:nvSpPr>
        <p:spPr>
          <a:xfrm>
            <a:off x="7775659" y="2956632"/>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0F766E"/>
                </a:solidFill>
                <a:latin typeface="Rubik" pitchFamily="34" charset="0"/>
                <a:ea typeface="Rubik" pitchFamily="34" charset="-122"/>
                <a:cs typeface="Rubik" pitchFamily="34" charset="-120"/>
              </a:rPr>
              <a:t>#50</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57"/>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9/30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32"/>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63"/>
            <a:ext cx="3809936" cy="1889107"/>
          </a:xfrm>
          <a:prstGeom prst="roundRect">
            <a:avLst>
              <a:gd name="adj" fmla="val 5257"/>
            </a:avLst>
          </a:prstGeom>
          <a:solidFill>
            <a:srgbClr val="16202E"/>
          </a:solidFill>
          <a:ln/>
        </p:spPr>
        <p:txBody>
          <a:bodyPr/>
          <a:lstStyle/>
          <a:p>
            <a:endParaRPr/>
          </a:p>
        </p:txBody>
      </p:sp>
      <p:sp>
        <p:nvSpPr>
          <p:cNvPr id="42" name="Text 35"/>
          <p:cNvSpPr/>
          <p:nvPr/>
        </p:nvSpPr>
        <p:spPr>
          <a:xfrm>
            <a:off x="7912132" y="456873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small companies with no recruiting team.</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video interview software: $511M in 2024, $1.33B by 2035 (9.2%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Orion Market Research</a:t>
            </a:r>
            <a:endParaRPr lang="en-US" sz="1200" dirty="0"/>
          </a:p>
        </p:txBody>
      </p:sp>
      <p:sp>
        <p:nvSpPr>
          <p:cNvPr id="44" name="Text 37"/>
          <p:cNvSpPr/>
          <p:nvPr/>
        </p:nvSpPr>
        <p:spPr>
          <a:xfrm>
            <a:off x="7912132" y="5635183"/>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technically, problematic publicly. </a:t>
            </a:r>
            <a:r>
              <a:rPr lang="en-US" sz="1200" b="1" dirty="0">
                <a:solidFill>
                  <a:srgbClr val="F7F5F0"/>
                </a:solidFill>
                <a:latin typeface="Rubik" pitchFamily="34" charset="0"/>
                <a:ea typeface="Rubik" pitchFamily="34" charset="-122"/>
                <a:cs typeface="Rubik" pitchFamily="34" charset="-120"/>
              </a:rPr>
              <a:t>Recommendation: keep in the backlog; do not demo.</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1D4ED8"/>
        </a:solidFill>
        <a:effectLst/>
      </p:bgPr>
    </p:bg>
    <p:spTree>
      <p:nvGrpSpPr>
        <p:cNvPr id="1" name=""/>
        <p:cNvGrpSpPr/>
        <p:nvPr/>
      </p:nvGrpSpPr>
      <p:grpSpPr>
        <a:xfrm>
          <a:off x="0" y="0"/>
          <a:ext cx="0" cy="0"/>
          <a:chOff x="0" y="0"/>
          <a:chExt cx="0" cy="0"/>
        </a:xfrm>
      </p:grpSpPr>
      <p:sp>
        <p:nvSpPr>
          <p:cNvPr id="2" name="Text 0"/>
          <p:cNvSpPr/>
          <p:nvPr/>
        </p:nvSpPr>
        <p:spPr>
          <a:xfrm>
            <a:off x="812756" y="812750"/>
            <a:ext cx="10883469" cy="238656"/>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7F5F0"/>
                </a:solidFill>
                <a:latin typeface="Rubik" pitchFamily="34" charset="0"/>
                <a:ea typeface="Rubik" pitchFamily="34" charset="-122"/>
                <a:cs typeface="Rubik" pitchFamily="34" charset="-120"/>
              </a:rPr>
              <a:t>TEAM 2 · LEAD: AMIR · 16 IDEAS · 2 OF THE TOP 10</a:t>
            </a:r>
            <a:endParaRPr lang="en-US" sz="1200" dirty="0"/>
          </a:p>
        </p:txBody>
      </p:sp>
      <p:sp>
        <p:nvSpPr>
          <p:cNvPr id="3" name="Text 1"/>
          <p:cNvSpPr>
            <a:spLocks noGrp="1"/>
          </p:cNvSpPr>
          <p:nvPr>
            <p:ph type="title"/>
          </p:nvPr>
        </p:nvSpPr>
        <p:spPr>
          <a:xfrm>
            <a:off x="812756" y="2398725"/>
            <a:ext cx="10883469" cy="825512"/>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5F0"/>
                </a:solidFill>
                <a:latin typeface="Rubik" pitchFamily="34" charset="0"/>
                <a:ea typeface="Rubik" pitchFamily="34" charset="-122"/>
                <a:cs typeface="Rubik" pitchFamily="34" charset="-120"/>
              </a:rPr>
              <a:t>Media &amp; Sport</a:t>
            </a:r>
            <a:endParaRPr lang="en-US" sz="6000" dirty="0"/>
          </a:p>
        </p:txBody>
      </p:sp>
      <p:sp>
        <p:nvSpPr>
          <p:cNvPr id="4" name="Text 2"/>
          <p:cNvSpPr/>
          <p:nvPr/>
        </p:nvSpPr>
        <p:spPr>
          <a:xfrm>
            <a:off x="812756" y="3402025"/>
            <a:ext cx="10883469" cy="1072995"/>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F7F5F0"/>
                </a:solidFill>
                <a:latin typeface="Rubik" pitchFamily="34" charset="0"/>
                <a:ea typeface="Rubik" pitchFamily="34" charset="-122"/>
                <a:cs typeface="Rubik" pitchFamily="34" charset="-120"/>
              </a:rPr>
              <a:t>Video, audio and group content that people forward, and sport and training, where understanding the video is the product. Every output here is something users show to others.</a:t>
            </a:r>
            <a:endParaRPr lang="en-US" sz="2200" dirty="0"/>
          </a:p>
        </p:txBody>
      </p:sp>
      <p:sp>
        <p:nvSpPr>
          <p:cNvPr id="5" name="Text 3"/>
          <p:cNvSpPr/>
          <p:nvPr/>
        </p:nvSpPr>
        <p:spPr>
          <a:xfrm>
            <a:off x="812756" y="5822342"/>
            <a:ext cx="10883469" cy="2482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5F0"/>
                </a:solidFill>
                <a:latin typeface="Rubik" pitchFamily="34" charset="0"/>
                <a:ea typeface="Rubik" pitchFamily="34" charset="-122"/>
                <a:cs typeface="Rubik" pitchFamily="34" charset="-120"/>
              </a:rPr>
              <a:t>Lead bets: What I Did Today · Watch-Along Commentator · Sport Form Coach · The Gang Edition · The Referee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88"/>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7 of 50</a:t>
            </a:r>
            <a:endParaRPr lang="en-US" sz="1200" dirty="0"/>
          </a:p>
        </p:txBody>
      </p:sp>
      <p:sp>
        <p:nvSpPr>
          <p:cNvPr id="3" name="Text 1"/>
          <p:cNvSpPr>
            <a:spLocks noGrp="1"/>
          </p:cNvSpPr>
          <p:nvPr>
            <p:ph type="title"/>
          </p:nvPr>
        </p:nvSpPr>
        <p:spPr>
          <a:xfrm>
            <a:off x="609567" y="708533"/>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What I Did Today</a:t>
            </a:r>
            <a:endParaRPr lang="en-US" sz="3000" dirty="0"/>
          </a:p>
        </p:txBody>
      </p:sp>
      <p:sp>
        <p:nvSpPr>
          <p:cNvPr id="4" name="Text 2"/>
          <p:cNvSpPr/>
          <p:nvPr/>
        </p:nvSpPr>
        <p:spPr>
          <a:xfrm>
            <a:off x="609567" y="1280009"/>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Pet owners have a home camera and eight hours of footage a day that they never watch. They miss both the funny moments and the warning signs, such as a dog that does not move or eat.</a:t>
            </a:r>
            <a:endParaRPr lang="en-US" sz="1200" dirty="0"/>
          </a:p>
        </p:txBody>
      </p:sp>
      <p:sp>
        <p:nvSpPr>
          <p:cNvPr id="5" name="Text 3"/>
          <p:cNvSpPr/>
          <p:nvPr/>
        </p:nvSpPr>
        <p:spPr>
          <a:xfrm>
            <a:off x="609567" y="1973250"/>
            <a:ext cx="7063919" cy="84814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first-person diary of the pet. The agent watches the camera through the day, detects events in image and sound, picks the moments, edits a funny one-minute recap and narrates it in the pet's regular voice. When behaviour is unusual it sends an alert, not a joke.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video and sound from the home camera.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one-minute daily video and alerts.</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"At ten I barked at the delivery guy. At two I stole a sock." On a day the dog barely moves and skips its food, the owner gets an alert.</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Petlibro Scout camera already ships AI descriptions of each clip and a 30-second daily reel. Novelty: first-person narration in the pet's voice, and a memory of the routine that makes an anomaly detectable. The obstacle: camera makers hold the footage.</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Petlibro Scout</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Furbo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Petcube</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An open version that reads any standard camera stream and runs at home gets around the makers' lock-in.</a:t>
            </a:r>
            <a:endParaRPr lang="en-US" sz="1200" dirty="0"/>
          </a:p>
        </p:txBody>
      </p:sp>
      <p:sp>
        <p:nvSpPr>
          <p:cNvPr id="9" name="Text 7"/>
          <p:cNvSpPr/>
          <p:nvPr/>
        </p:nvSpPr>
        <p:spPr>
          <a:xfrm>
            <a:off x="609567" y="474627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4/5.</a:t>
            </a:r>
            <a:r>
              <a:rPr lang="en-US" sz="1200" dirty="0">
                <a:solidFill>
                  <a:srgbClr val="16202E"/>
                </a:solidFill>
                <a:latin typeface="Rubik" pitchFamily="34" charset="0"/>
                <a:ea typeface="Rubik" pitchFamily="34" charset="-122"/>
                <a:cs typeface="Rubik" pitchFamily="34" charset="-120"/>
              </a:rPr>
              <a:t> A stretch demo in the ATARI deck. It builds event memory: what happened here and when, from hours of video, including one anomaly alert.</a:t>
            </a:r>
            <a:endParaRPr lang="en-US" sz="1200" dirty="0"/>
          </a:p>
        </p:txBody>
      </p:sp>
      <p:sp>
        <p:nvSpPr>
          <p:cNvPr id="10" name="Shape 8"/>
          <p:cNvSpPr/>
          <p:nvPr/>
        </p:nvSpPr>
        <p:spPr>
          <a:xfrm>
            <a:off x="7772484" y="1280009"/>
            <a:ext cx="3809936" cy="1546508"/>
          </a:xfrm>
          <a:prstGeom prst="roundRect">
            <a:avLst>
              <a:gd name="adj" fmla="val 8212"/>
            </a:avLst>
          </a:prstGeom>
          <a:solidFill>
            <a:srgbClr val="ECE8DF"/>
          </a:solidFill>
          <a:ln/>
        </p:spPr>
        <p:txBody>
          <a:bodyPr/>
          <a:lstStyle/>
          <a:p>
            <a:endParaRPr/>
          </a:p>
        </p:txBody>
      </p:sp>
      <p:pic>
        <p:nvPicPr>
          <p:cNvPr id="11" name="Image 0" descr="Home camera"/>
          <p:cNvPicPr>
            <a:picLocks noChangeAspect="1"/>
          </p:cNvPicPr>
          <p:nvPr/>
        </p:nvPicPr>
        <p:blipFill>
          <a:blip r:embed="rId6"/>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Home camera</a:t>
            </a:r>
            <a:endParaRPr lang="en-US" sz="1200" dirty="0"/>
          </a:p>
        </p:txBody>
      </p:sp>
      <p:pic>
        <p:nvPicPr>
          <p:cNvPr id="13" name="Image 1" descr="arrow-right"/>
          <p:cNvPicPr>
            <a:picLocks noChangeAspect="1"/>
          </p:cNvPicPr>
          <p:nvPr/>
        </p:nvPicPr>
        <p:blipFill>
          <a:blip r:embed="rId7"/>
          <a:srcRect l="-21" r="-21"/>
          <a:stretch/>
        </p:blipFill>
        <p:spPr>
          <a:xfrm>
            <a:off x="8902789" y="1989770"/>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Activity"/>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Watches all day</a:t>
            </a:r>
            <a:endParaRPr lang="en-US" sz="1200" dirty="0"/>
          </a:p>
        </p:txBody>
      </p:sp>
      <p:pic>
        <p:nvPicPr>
          <p:cNvPr id="17" name="Image 3" descr="arrow-right"/>
          <p:cNvPicPr>
            <a:picLocks noChangeAspect="1"/>
          </p:cNvPicPr>
          <p:nvPr/>
        </p:nvPicPr>
        <p:blipFill>
          <a:blip r:embed="rId7"/>
          <a:srcRect l="-21" r="-21"/>
          <a:stretch/>
        </p:blipFill>
        <p:spPr>
          <a:xfrm>
            <a:off x="10223639" y="1989770"/>
            <a:ext cx="228557" cy="126923"/>
          </a:xfrm>
          <a:prstGeom prst="rect">
            <a:avLst/>
          </a:prstGeom>
        </p:spPr>
      </p:pic>
      <p:pic>
        <p:nvPicPr>
          <p:cNvPr id="18" name="Image 4" descr="Daily video"/>
          <p:cNvPicPr>
            <a:picLocks noChangeAspect="1"/>
          </p:cNvPicPr>
          <p:nvPr/>
        </p:nvPicPr>
        <p:blipFill>
          <a:blip r:embed="rId9"/>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Daily diary and alert</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#7</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21/30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223435"/>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pet owners with a home camera.</a:t>
            </a:r>
            <a:endParaRPr lang="en-US" sz="1200" dirty="0"/>
          </a:p>
        </p:txBody>
      </p:sp>
      <p:sp>
        <p:nvSpPr>
          <p:cNvPr id="43" name="Text 36"/>
          <p:cNvSpPr/>
          <p:nvPr/>
        </p:nvSpPr>
        <p:spPr>
          <a:xfrm>
            <a:off x="7912132" y="4804854"/>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pet monitoring cameras: $246M in 2025, $645M by 2035 (10.3%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Global Market Insights</a:t>
            </a:r>
            <a:endParaRPr lang="en-US" sz="1200" dirty="0"/>
          </a:p>
        </p:txBody>
      </p:sp>
      <p:sp>
        <p:nvSpPr>
          <p:cNvPr id="44" name="Text 37"/>
          <p:cNvSpPr/>
          <p:nvPr/>
        </p:nvSpPr>
        <p:spPr>
          <a:xfrm>
            <a:off x="7912132" y="5437143"/>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Continuous video understanding over a whole day, editing and narration.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8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Watch-Along Commentator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sports broadcast gives one voice to everyone. The new viewer does not understand the rules and is embarrassed to ask, the expert wants tactics and numbers, and anyone who does not speak the broadcast language gets no commentary at all.</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personal commentator that watches the match with the user. It follows what happens on screen and in the broadcast, comments in the viewer's language and at their level, answers questions aloud ("why did they stop?") and remembers the team and what was already explained. At the end it prepares a personal recap of the moments the viewer reacted to.</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the live match as seen and heard on the screen.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spoken commentary, answers and a recap.</a:t>
            </a:r>
            <a:endParaRPr lang="en-US" sz="1200" dirty="0"/>
          </a:p>
        </p:txBody>
      </p:sp>
      <p:sp>
        <p:nvSpPr>
          <p:cNvPr id="6" name="Text 4"/>
          <p:cNvSpPr/>
          <p:nvPr/>
        </p:nvSpPr>
        <p:spPr>
          <a:xfrm>
            <a:off x="609567" y="328355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girl watching her first basketball game asks why they stopped. It explains the foul in one sentence, in Hebrew, and remembers her team for next week.</a:t>
            </a:r>
            <a:endParaRPr lang="en-US" sz="1200" dirty="0"/>
          </a:p>
        </p:txBody>
      </p:sp>
      <p:sp>
        <p:nvSpPr>
          <p:cNvPr id="7" name="Text 5"/>
          <p:cNvSpPr/>
          <p:nvPr/>
        </p:nvSpPr>
        <p:spPr>
          <a:xfrm>
            <a:off x="609567" y="3771119"/>
            <a:ext cx="7063919" cy="105388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search turned up a small product, Buzzr Sports, and hackathon projects around the 2026 World Cup; I found no leading player. Novelty: adapting to the viewer's level and language, and two-way conversation. Open risks: broadcast rights and latency.</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Buzzr Sports</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CAMB.AI</a:t>
            </a:r>
            <a:endParaRPr lang="en-US" sz="1200" dirty="0"/>
          </a:p>
        </p:txBody>
      </p:sp>
      <p:sp>
        <p:nvSpPr>
          <p:cNvPr id="8" name="Text 6"/>
          <p:cNvSpPr/>
          <p:nvPr/>
        </p:nvSpPr>
        <p:spPr>
          <a:xfrm>
            <a:off x="609567" y="487578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Rule packs per sport and commentator personas as community plugins. Fans of each sport write their own.</a:t>
            </a:r>
            <a:endParaRPr lang="en-US" sz="1200" dirty="0"/>
          </a:p>
        </p:txBody>
      </p:sp>
      <p:sp>
        <p:nvSpPr>
          <p:cNvPr id="9" name="Text 7"/>
          <p:cNvSpPr/>
          <p:nvPr/>
        </p:nvSpPr>
        <p:spPr>
          <a:xfrm>
            <a:off x="609567" y="536334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3/5.</a:t>
            </a:r>
            <a:r>
              <a:rPr lang="en-US" sz="1200" dirty="0">
                <a:solidFill>
                  <a:srgbClr val="16202E"/>
                </a:solidFill>
                <a:latin typeface="Rubik" pitchFamily="34" charset="0"/>
                <a:ea typeface="Rubik" pitchFamily="34" charset="-122"/>
                <a:cs typeface="Rubik" pitchFamily="34" charset="-120"/>
              </a:rPr>
              <a:t> Builds live video and audio ingest into events within a latency budget, ATARI's first work item. The space is a broadcast, not a room.</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Match on a screen"/>
          <p:cNvPicPr>
            <a:picLocks noChangeAspect="1"/>
          </p:cNvPicPr>
          <p:nvPr/>
        </p:nvPicPr>
        <p:blipFill>
          <a:blip r:embed="rId5"/>
          <a:srcRect/>
          <a:stretch/>
        </p:blipFill>
        <p:spPr>
          <a:xfrm>
            <a:off x="7975593" y="1549164"/>
            <a:ext cx="761939" cy="761939"/>
          </a:xfrm>
          <a:prstGeom prst="rect">
            <a:avLst/>
          </a:prstGeom>
        </p:spPr>
      </p:pic>
      <p:sp>
        <p:nvSpPr>
          <p:cNvPr id="12" name="Text 9"/>
          <p:cNvSpPr/>
          <p:nvPr/>
        </p:nvSpPr>
        <p:spPr>
          <a:xfrm>
            <a:off x="7887311" y="2374565"/>
            <a:ext cx="938584"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Live match</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Chat"/>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Watches with you</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Spoken commentary"/>
          <p:cNvPicPr>
            <a:picLocks noChangeAspect="1"/>
          </p:cNvPicPr>
          <p:nvPr/>
        </p:nvPicPr>
        <p:blipFill>
          <a:blip r:embed="rId8"/>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Personal commentary</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#8</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21/30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3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sports fans, new viewers, families watching together.</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AI in sports: $1.03B in 2024, $2.61B by 2030 (16.7%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MarketsandMarkets</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Low-latency live video understanding and personal speech.</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88"/>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11 of 50</a:t>
            </a:r>
            <a:endParaRPr lang="en-US" sz="1200" dirty="0"/>
          </a:p>
        </p:txBody>
      </p:sp>
      <p:sp>
        <p:nvSpPr>
          <p:cNvPr id="3" name="Text 1"/>
          <p:cNvSpPr>
            <a:spLocks noGrp="1"/>
          </p:cNvSpPr>
          <p:nvPr>
            <p:ph type="title"/>
          </p:nvPr>
        </p:nvSpPr>
        <p:spPr>
          <a:xfrm>
            <a:off x="609567" y="708533"/>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Sport Form Coach</a:t>
            </a:r>
            <a:endParaRPr lang="en-US" sz="3000" dirty="0"/>
          </a:p>
        </p:txBody>
      </p:sp>
      <p:sp>
        <p:nvSpPr>
          <p:cNvPr id="4" name="Text 2"/>
          <p:cNvSpPr/>
          <p:nvPr/>
        </p:nvSpPr>
        <p:spPr>
          <a:xfrm>
            <a:off x="609567" y="1280009"/>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An amateur athlete trains alone and repeats the same mistakes, because he cannot see himself. A human coach who watches video is expensive and not available after every session, so most amateurs stay stuck at one level.</a:t>
            </a:r>
            <a:endParaRPr lang="en-US" sz="1200" dirty="0"/>
          </a:p>
        </p:txBody>
      </p:sp>
      <p:sp>
        <p:nvSpPr>
          <p:cNvPr id="5" name="Text 3"/>
          <p:cNvSpPr/>
          <p:nvPr/>
        </p:nvSpPr>
        <p:spPr>
          <a:xfrm>
            <a:off x="609567" y="1973250"/>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technique coach that works from a clip filmed on a phone from the side. It samples frames, reads stance, footwork, recovery and stroke types, and returns a report: strengths, the three most important fixes, drills and one focus for next time. It states plainly what it cannot measure, such as spin or ball speed.</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video of a training session.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written report with marked frames and drills.</a:t>
            </a:r>
            <a:endParaRPr lang="en-US" sz="1200" dirty="0"/>
          </a:p>
        </p:txBody>
      </p:sp>
      <p:sp>
        <p:nvSpPr>
          <p:cNvPr id="6" name="Text 4"/>
          <p:cNvSpPr/>
          <p:nvPr/>
        </p:nvSpPr>
        <p:spPr>
          <a:xfrm>
            <a:off x="609567" y="307786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Ten minutes of table tennis: a consistent forehand contact point; weight on the heels, slow recovery after the backhand, planted feet on wide balls. Two footwork drills.</a:t>
            </a:r>
            <a:endParaRPr lang="en-US" sz="1200" dirty="0"/>
          </a:p>
        </p:txBody>
      </p:sp>
      <p:sp>
        <p:nvSpPr>
          <p:cNvPr id="7" name="Text 5"/>
          <p:cNvSpPr/>
          <p:nvPr/>
        </p:nvSpPr>
        <p:spPr>
          <a:xfrm>
            <a:off x="609567" y="356542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SwingVision (tennis) raised $6 million; specialists exist for single sports. A general coach is weaker in each sport than a specialist. Novelty: one core and a separate rubric per sport, which coaches write themselves.</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SwingVision</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Sportsbox 3D Golf</a:t>
            </a:r>
            <a:endParaRPr lang="en-US" sz="1200" dirty="0"/>
          </a:p>
        </p:txBody>
      </p:sp>
      <p:sp>
        <p:nvSpPr>
          <p:cNvPr id="8" name="Text 6"/>
          <p:cNvSpPr/>
          <p:nvPr/>
        </p:nvSpPr>
        <p:spPr>
          <a:xfrm>
            <a:off x="609567" y="446440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A rubric file per sport is a clear unit of contribution for coaches and clubs, and that is how a general coach catches up with specialists.</a:t>
            </a:r>
            <a:endParaRPr lang="en-US" sz="1200" dirty="0"/>
          </a:p>
        </p:txBody>
      </p:sp>
      <p:sp>
        <p:nvSpPr>
          <p:cNvPr id="9" name="Text 7"/>
          <p:cNvSpPr/>
          <p:nvPr/>
        </p:nvSpPr>
        <p:spPr>
          <a:xfrm>
            <a:off x="609567" y="495196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3/5.</a:t>
            </a:r>
            <a:r>
              <a:rPr lang="en-US" sz="1200" dirty="0">
                <a:solidFill>
                  <a:srgbClr val="16202E"/>
                </a:solidFill>
                <a:latin typeface="Rubik" pitchFamily="34" charset="0"/>
                <a:ea typeface="Rubik" pitchFamily="34" charset="-122"/>
                <a:cs typeface="Rubik" pitchFamily="34" charset="-120"/>
              </a:rPr>
              <a:t> Builds motion understanding from video and the judgment "was the action done correctly", which is ATARI's execution monitoring. Works on a recording, not a live stream.</a:t>
            </a:r>
            <a:endParaRPr lang="en-US" sz="1200" dirty="0"/>
          </a:p>
        </p:txBody>
      </p:sp>
      <p:sp>
        <p:nvSpPr>
          <p:cNvPr id="10" name="Shape 8"/>
          <p:cNvSpPr/>
          <p:nvPr/>
        </p:nvSpPr>
        <p:spPr>
          <a:xfrm>
            <a:off x="7772484" y="1280009"/>
            <a:ext cx="3809936" cy="1546508"/>
          </a:xfrm>
          <a:prstGeom prst="roundRect">
            <a:avLst>
              <a:gd name="adj" fmla="val 8212"/>
            </a:avLst>
          </a:prstGeom>
          <a:solidFill>
            <a:srgbClr val="ECE8DF"/>
          </a:solidFill>
          <a:ln/>
        </p:spPr>
        <p:txBody>
          <a:bodyPr/>
          <a:lstStyle/>
          <a:p>
            <a:endParaRPr/>
          </a:p>
        </p:txBody>
      </p:sp>
      <p:pic>
        <p:nvPicPr>
          <p:cNvPr id="11" name="Image 0" descr="Player in motion"/>
          <p:cNvPicPr>
            <a:picLocks noChangeAspect="1"/>
          </p:cNvPicPr>
          <p:nvPr/>
        </p:nvPicPr>
        <p:blipFill>
          <a:blip r:embed="rId5"/>
          <a:srcRect/>
          <a:stretch/>
        </p:blipFill>
        <p:spPr>
          <a:xfrm>
            <a:off x="7975593" y="1457759"/>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Training video</a:t>
            </a:r>
            <a:endParaRPr lang="en-US" sz="1200" dirty="0"/>
          </a:p>
        </p:txBody>
      </p:sp>
      <p:pic>
        <p:nvPicPr>
          <p:cNvPr id="13" name="Image 1" descr="arrow-right"/>
          <p:cNvPicPr>
            <a:picLocks noChangeAspect="1"/>
          </p:cNvPicPr>
          <p:nvPr/>
        </p:nvPicPr>
        <p:blipFill>
          <a:blip r:embed="rId6"/>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Search"/>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Reads your form</a:t>
            </a:r>
            <a:endParaRPr lang="en-US" sz="1200" dirty="0"/>
          </a:p>
        </p:txBody>
      </p:sp>
      <p:pic>
        <p:nvPicPr>
          <p:cNvPr id="17" name="Image 3" descr="arrow-right"/>
          <p:cNvPicPr>
            <a:picLocks noChangeAspect="1"/>
          </p:cNvPicPr>
          <p:nvPr/>
        </p:nvPicPr>
        <p:blipFill>
          <a:blip r:embed="rId6"/>
          <a:srcRect l="-21" r="-21"/>
          <a:stretch/>
        </p:blipFill>
        <p:spPr>
          <a:xfrm>
            <a:off x="10223639" y="1989770"/>
            <a:ext cx="228557" cy="126923"/>
          </a:xfrm>
          <a:prstGeom prst="rect">
            <a:avLst/>
          </a:prstGeom>
        </p:spPr>
      </p:pic>
      <p:pic>
        <p:nvPicPr>
          <p:cNvPr id="18" name="Image 4" descr="Coaching report"/>
          <p:cNvPicPr>
            <a:picLocks noChangeAspect="1"/>
          </p:cNvPicPr>
          <p:nvPr/>
        </p:nvPicPr>
        <p:blipFill>
          <a:blip r:embed="rId8"/>
          <a:srcRect/>
          <a:stretch/>
        </p:blipFill>
        <p:spPr>
          <a:xfrm>
            <a:off x="10617292" y="1457759"/>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Fixes and drills</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#11</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21/30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amateur athletes, clubs and youth coaches.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sports coaching platforms: $273M in 2024, $444M by 2031 (7.6%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QYResearch</a:t>
            </a:r>
            <a:endParaRPr lang="en-US" sz="1200" dirty="0"/>
          </a:p>
        </p:txBody>
      </p:sp>
      <p:sp>
        <p:nvSpPr>
          <p:cNvPr id="44" name="Text 37"/>
          <p:cNvSpPr/>
          <p:nvPr/>
        </p:nvSpPr>
        <p:spPr>
          <a:xfrm>
            <a:off x="7912132" y="563517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Understanding body motion from video and explaining it in words.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14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The Gang Edition</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group chat produces hundreds of messages a week, and its best moments scroll away. Whoever was offline misses the joke, and nobody holds the group's shared story.</a:t>
            </a:r>
            <a:endParaRPr lang="en-US" sz="1200" dirty="0"/>
          </a:p>
        </p:txBody>
      </p:sp>
      <p:sp>
        <p:nvSpPr>
          <p:cNvPr id="5" name="Text 3"/>
          <p:cNvSpPr/>
          <p:nvPr/>
        </p:nvSpPr>
        <p:spPr>
          <a:xfrm>
            <a:off x="609567" y="1767582"/>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weekly paper for the gang. The agent reads the text, images and voice messages, picks the moments of the week and produces a comic page or an illustrated news edition in which the friends are the characters, with the same look from week to week. Every member of the group must consent.</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text, images and voice messages from the group.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weekly comic or video.</a:t>
            </a:r>
            <a:endParaRPr lang="en-US" sz="1200" dirty="0"/>
          </a:p>
        </p:txBody>
      </p:sp>
      <p:sp>
        <p:nvSpPr>
          <p:cNvPr id="6" name="Text 4"/>
          <p:cNvSpPr/>
          <p:nvPr/>
        </p:nvSpPr>
        <p:spPr>
          <a:xfrm>
            <a:off x="609567" y="287219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On Friday a group of school friends gets a one-page edition. The headline: the friend who booked the wrong restaurant, as a cartoon. Two forward it.</a:t>
            </a:r>
            <a:endParaRPr lang="en-US" sz="1200" dirty="0"/>
          </a:p>
        </p:txBody>
      </p:sp>
      <p:sp>
        <p:nvSpPr>
          <p:cNvPr id="7" name="Text 5"/>
          <p:cNvSpPr/>
          <p:nvPr/>
        </p:nvSpPr>
        <p:spPr>
          <a:xfrm>
            <a:off x="609567" y="3359745"/>
            <a:ext cx="7063919" cy="105388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One small product was found, Chat Comics, from April 2026, which needs a manual chat export. WhatsApp is testing its own AI recaps. Novelty: consistent characters and a memory of the group across weeks, and local running that answers the privacy worry.</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Chat Comics</a:t>
            </a:r>
            <a:endParaRPr lang="en-US" sz="1200" dirty="0"/>
          </a:p>
        </p:txBody>
      </p:sp>
      <p:sp>
        <p:nvSpPr>
          <p:cNvPr id="8" name="Text 6"/>
          <p:cNvSpPr/>
          <p:nvPr/>
        </p:nvSpPr>
        <p:spPr>
          <a:xfrm>
            <a:off x="609567" y="446442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An open chat-export parser and comic layout engine that run locally. Open code is the answer to the privacy worry.</a:t>
            </a:r>
            <a:endParaRPr lang="en-US" sz="1200" dirty="0"/>
          </a:p>
        </p:txBody>
      </p:sp>
      <p:sp>
        <p:nvSpPr>
          <p:cNvPr id="9" name="Text 7"/>
          <p:cNvSpPr/>
          <p:nvPr/>
        </p:nvSpPr>
        <p:spPr>
          <a:xfrm>
            <a:off x="609567" y="495196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Group chat"/>
          <p:cNvPicPr>
            <a:picLocks noChangeAspect="1"/>
          </p:cNvPicPr>
          <p:nvPr/>
        </p:nvPicPr>
        <p:blipFill>
          <a:blip r:embed="rId4"/>
          <a:srcRect/>
          <a:stretch/>
        </p:blipFill>
        <p:spPr>
          <a:xfrm>
            <a:off x="7975593" y="1549164"/>
            <a:ext cx="761939" cy="761939"/>
          </a:xfrm>
          <a:prstGeom prst="rect">
            <a:avLst/>
          </a:prstGeom>
        </p:spPr>
      </p:pic>
      <p:sp>
        <p:nvSpPr>
          <p:cNvPr id="12" name="Text 9"/>
          <p:cNvSpPr/>
          <p:nvPr/>
        </p:nvSpPr>
        <p:spPr>
          <a:xfrm>
            <a:off x="7884218" y="2374565"/>
            <a:ext cx="944769"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Group chat</a:t>
            </a:r>
            <a:endParaRPr lang="en-US" sz="1200" dirty="0"/>
          </a:p>
        </p:txBody>
      </p:sp>
      <p:pic>
        <p:nvPicPr>
          <p:cNvPr id="13" name="Image 1" descr="arrow-right"/>
          <p:cNvPicPr>
            <a:picLocks noChangeAspect="1"/>
          </p:cNvPicPr>
          <p:nvPr/>
        </p:nvPicPr>
        <p:blipFill>
          <a:blip r:embed="rId5"/>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Star"/>
          <p:cNvPicPr>
            <a:picLocks noChangeAspect="1"/>
          </p:cNvPicPr>
          <p:nvPr/>
        </p:nvPicPr>
        <p:blipFill>
          <a:blip r:embed="rId6"/>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Picks the moments</a:t>
            </a:r>
            <a:endParaRPr lang="en-US" sz="1200" dirty="0"/>
          </a:p>
        </p:txBody>
      </p:sp>
      <p:pic>
        <p:nvPicPr>
          <p:cNvPr id="17" name="Image 3" descr="arrow-right"/>
          <p:cNvPicPr>
            <a:picLocks noChangeAspect="1"/>
          </p:cNvPicPr>
          <p:nvPr/>
        </p:nvPicPr>
        <p:blipFill>
          <a:blip r:embed="rId5"/>
          <a:srcRect l="-21" r="-21"/>
          <a:stretch/>
        </p:blipFill>
        <p:spPr>
          <a:xfrm>
            <a:off x="10223639" y="1989770"/>
            <a:ext cx="228557" cy="126923"/>
          </a:xfrm>
          <a:prstGeom prst="rect">
            <a:avLst/>
          </a:prstGeom>
        </p:spPr>
      </p:pic>
      <p:pic>
        <p:nvPicPr>
          <p:cNvPr id="18" name="Image 4" descr="Comic page"/>
          <p:cNvPicPr>
            <a:picLocks noChangeAspect="1"/>
          </p:cNvPicPr>
          <p:nvPr/>
        </p:nvPicPr>
        <p:blipFill>
          <a:blip r:embed="rId7"/>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Weekly comic</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#14</a:t>
            </a:r>
            <a:endParaRPr lang="en-US" sz="2000" dirty="0"/>
          </a:p>
        </p:txBody>
      </p:sp>
      <p:sp>
        <p:nvSpPr>
          <p:cNvPr id="22" name="Text 15"/>
          <p:cNvSpPr/>
          <p:nvPr/>
        </p:nvSpPr>
        <p:spPr>
          <a:xfrm>
            <a:off x="7777607"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20/30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92"/>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67"/>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889107"/>
          </a:xfrm>
          <a:prstGeom prst="roundRect">
            <a:avLst>
              <a:gd name="adj" fmla="val 5257"/>
            </a:avLst>
          </a:prstGeom>
          <a:solidFill>
            <a:srgbClr val="16202E"/>
          </a:solidFill>
          <a:ln/>
        </p:spPr>
        <p:txBody>
          <a:bodyPr/>
          <a:lstStyle/>
          <a:p>
            <a:endParaRPr/>
          </a:p>
        </p:txBody>
      </p:sp>
      <p:sp>
        <p:nvSpPr>
          <p:cNvPr id="42" name="Text 35"/>
          <p:cNvSpPr/>
          <p:nvPr/>
        </p:nvSpPr>
        <p:spPr>
          <a:xfrm>
            <a:off x="7912132" y="456873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groups of friends and families on WhatsApp.</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comic generators: $2.5B in 2024, $20.5B by 2034 (23.4% CAGR); estimates vary widely. Source: </a:t>
            </a:r>
            <a:r>
              <a:rPr lang="en-US" sz="1200" u="sng" dirty="0">
                <a:solidFill>
                  <a:srgbClr val="F2B880"/>
                </a:solidFill>
                <a:latin typeface="Rubik" pitchFamily="34" charset="0"/>
                <a:ea typeface="Rubik" pitchFamily="34" charset="-122"/>
                <a:cs typeface="Rubik" pitchFamily="34" charset="-120"/>
                <a:hlinkClick r:id="rId8">
                  <a:extLst>
                    <a:ext uri="{A12FA001-AC4F-418D-AE19-62706E023703}">
                      <ahyp:hlinkClr xmlns:ahyp="http://schemas.microsoft.com/office/drawing/2018/hyperlinkcolor" val="tx"/>
                    </a:ext>
                  </a:extLst>
                </a:hlinkClick>
              </a:rPr>
              <a:t>Market.us</a:t>
            </a:r>
            <a:endParaRPr lang="en-US" sz="1200" dirty="0"/>
          </a:p>
        </p:txBody>
      </p:sp>
      <p:sp>
        <p:nvSpPr>
          <p:cNvPr id="44" name="Text 37"/>
          <p:cNvSpPr/>
          <p:nvPr/>
        </p:nvSpPr>
        <p:spPr>
          <a:xfrm>
            <a:off x="7912132" y="5635183"/>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Understanding humour and group context, and drawing consistent characters.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88"/>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15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The Referee</a:t>
            </a:r>
            <a:endParaRPr lang="en-US" sz="3000" dirty="0"/>
          </a:p>
        </p:txBody>
      </p:sp>
      <p:sp>
        <p:nvSpPr>
          <p:cNvPr id="4" name="Text 2"/>
          <p:cNvSpPr/>
          <p:nvPr/>
        </p:nvSpPr>
        <p:spPr>
          <a:xfrm>
            <a:off x="609567" y="1280009"/>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Neighbourhood games have no referee, no statistics and no highlights. Every week ends in an argument about whether the ball crossed the line, and no player knows how many he scored this season. Dedicated cameras cost too much for a group of friends.</a:t>
            </a:r>
            <a:endParaRPr lang="en-US" sz="1200" dirty="0"/>
          </a:p>
        </p:txBody>
      </p:sp>
      <p:sp>
        <p:nvSpPr>
          <p:cNvPr id="5" name="Text 3"/>
          <p:cNvSpPr/>
          <p:nvPr/>
        </p:nvSpPr>
        <p:spPr>
          <a:xfrm>
            <a:off x="609567" y="1973263"/>
            <a:ext cx="7063919" cy="84814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VAR for the neighbourhood pitch, from one phone on a tripod. The agent follows the game, counts goals, rules on disputed plays, keeps statistics for each player through the season and edits a highlight reel with a commentator and titles. The league table updates for next week.</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phone video of a game.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the score, per-player statistics and a narrated highlight reel.</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phone stands beside the football pitch. The agent counts the goals, rules on whether the ball crossed the line and sends a reel with an enthusiastic commentator.</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Veo and XbotGo sell AI cameras for amateur football. They film; refereeing calls and a neighbourhood league table are less covered. Novelty: an ordinary phone in place of a dedicated camera, and judging, not only filming.</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Veo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XbotGo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Trace</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Single-camera tracking as an open benchmark problem. It is the hard part, and the kind of challenge researchers contribute to.</a:t>
            </a:r>
            <a:endParaRPr lang="en-US" sz="1200" dirty="0"/>
          </a:p>
        </p:txBody>
      </p:sp>
      <p:sp>
        <p:nvSpPr>
          <p:cNvPr id="9" name="Text 7"/>
          <p:cNvSpPr/>
          <p:nvPr/>
        </p:nvSpPr>
        <p:spPr>
          <a:xfrm>
            <a:off x="609567" y="47462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4/5.</a:t>
            </a:r>
            <a:r>
              <a:rPr lang="en-US" sz="1200" dirty="0">
                <a:solidFill>
                  <a:srgbClr val="16202E"/>
                </a:solidFill>
                <a:latin typeface="Rubik" pitchFamily="34" charset="0"/>
                <a:ea typeface="Rubik" pitchFamily="34" charset="-122"/>
                <a:cs typeface="Rubik" pitchFamily="34" charset="-120"/>
              </a:rPr>
              <a:t> Tracking objects and people in physical space from one camera, with event memory across a season. These are ATARI's spatial understanding and event memory.</a:t>
            </a:r>
            <a:endParaRPr lang="en-US" sz="1200" dirty="0"/>
          </a:p>
        </p:txBody>
      </p:sp>
      <p:sp>
        <p:nvSpPr>
          <p:cNvPr id="10" name="Shape 8"/>
          <p:cNvSpPr/>
          <p:nvPr/>
        </p:nvSpPr>
        <p:spPr>
          <a:xfrm>
            <a:off x="7772484" y="1280009"/>
            <a:ext cx="3809936" cy="1546508"/>
          </a:xfrm>
          <a:prstGeom prst="roundRect">
            <a:avLst>
              <a:gd name="adj" fmla="val 8212"/>
            </a:avLst>
          </a:prstGeom>
          <a:solidFill>
            <a:srgbClr val="ECE8DF"/>
          </a:solidFill>
          <a:ln/>
        </p:spPr>
        <p:txBody>
          <a:bodyPr/>
          <a:lstStyle/>
          <a:p>
            <a:endParaRPr/>
          </a:p>
        </p:txBody>
      </p:sp>
      <p:pic>
        <p:nvPicPr>
          <p:cNvPr id="11" name="Image 0" descr="Football"/>
          <p:cNvPicPr>
            <a:picLocks noChangeAspect="1"/>
          </p:cNvPicPr>
          <p:nvPr/>
        </p:nvPicPr>
        <p:blipFill>
          <a:blip r:embed="rId6"/>
          <a:srcRect/>
          <a:stretch/>
        </p:blipFill>
        <p:spPr>
          <a:xfrm>
            <a:off x="7975593" y="1457759"/>
            <a:ext cx="761939" cy="761939"/>
          </a:xfrm>
          <a:prstGeom prst="rect">
            <a:avLst/>
          </a:prstGeom>
        </p:spPr>
      </p:pic>
      <p:sp>
        <p:nvSpPr>
          <p:cNvPr id="12" name="Text 9"/>
          <p:cNvSpPr/>
          <p:nvPr/>
        </p:nvSpPr>
        <p:spPr>
          <a:xfrm>
            <a:off x="787400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Phone by the pitch</a:t>
            </a:r>
            <a:endParaRPr lang="en-US" sz="1200" dirty="0"/>
          </a:p>
        </p:txBody>
      </p:sp>
      <p:pic>
        <p:nvPicPr>
          <p:cNvPr id="13" name="Image 1" descr="arrow-right"/>
          <p:cNvPicPr>
            <a:picLocks noChangeAspect="1"/>
          </p:cNvPicPr>
          <p:nvPr/>
        </p:nvPicPr>
        <p:blipFill>
          <a:blip r:embed="rId7"/>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Trust"/>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Follows the game</a:t>
            </a:r>
            <a:endParaRPr lang="en-US" sz="1200" dirty="0"/>
          </a:p>
        </p:txBody>
      </p:sp>
      <p:pic>
        <p:nvPicPr>
          <p:cNvPr id="17" name="Image 3" descr="arrow-right"/>
          <p:cNvPicPr>
            <a:picLocks noChangeAspect="1"/>
          </p:cNvPicPr>
          <p:nvPr/>
        </p:nvPicPr>
        <p:blipFill>
          <a:blip r:embed="rId7"/>
          <a:srcRect l="-21" r="-21"/>
          <a:stretch/>
        </p:blipFill>
        <p:spPr>
          <a:xfrm>
            <a:off x="10223639" y="1989770"/>
            <a:ext cx="228557" cy="126923"/>
          </a:xfrm>
          <a:prstGeom prst="rect">
            <a:avLst/>
          </a:prstGeom>
        </p:spPr>
      </p:pic>
      <p:pic>
        <p:nvPicPr>
          <p:cNvPr id="18" name="Image 4" descr="League table"/>
          <p:cNvPicPr>
            <a:picLocks noChangeAspect="1"/>
          </p:cNvPicPr>
          <p:nvPr/>
        </p:nvPicPr>
        <p:blipFill>
          <a:blip r:embed="rId9"/>
          <a:srcRect/>
          <a:stretch/>
        </p:blipFill>
        <p:spPr>
          <a:xfrm>
            <a:off x="10617292" y="1457759"/>
            <a:ext cx="761939" cy="761939"/>
          </a:xfrm>
          <a:prstGeom prst="rect">
            <a:avLst/>
          </a:prstGeom>
        </p:spPr>
      </p:pic>
      <p:sp>
        <p:nvSpPr>
          <p:cNvPr id="19" name="Text 12"/>
          <p:cNvSpPr/>
          <p:nvPr/>
        </p:nvSpPr>
        <p:spPr>
          <a:xfrm>
            <a:off x="10515706"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Score, stats, reel</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#15</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32"/>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20/30</a:t>
            </a:r>
            <a:endParaRPr lang="en-US" sz="2000" dirty="0"/>
          </a:p>
        </p:txBody>
      </p:sp>
      <p:sp>
        <p:nvSpPr>
          <p:cNvPr id="25" name="Text 18"/>
          <p:cNvSpPr/>
          <p:nvPr/>
        </p:nvSpPr>
        <p:spPr>
          <a:xfrm>
            <a:off x="8738865" y="3309007"/>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4" name="Text 27"/>
          <p:cNvSpPr/>
          <p:nvPr/>
        </p:nvSpPr>
        <p:spPr>
          <a:xfrm>
            <a:off x="8745956"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97"/>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57"/>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40" name="Text 33"/>
          <p:cNvSpPr/>
          <p:nvPr/>
        </p:nvSpPr>
        <p:spPr>
          <a:xfrm>
            <a:off x="10682655" y="4032932"/>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neighbourhood leagues, amateur teams and youth teams.</a:t>
            </a:r>
            <a:endParaRPr lang="en-US" sz="1200" dirty="0"/>
          </a:p>
        </p:txBody>
      </p:sp>
      <p:sp>
        <p:nvSpPr>
          <p:cNvPr id="43" name="Text 36"/>
          <p:cNvSpPr/>
          <p:nvPr/>
        </p:nvSpPr>
        <p:spPr>
          <a:xfrm>
            <a:off x="7912132" y="5002895"/>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sports analytics: $22.2B forecast for 2031 (25.3%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Meticulous Research</a:t>
            </a:r>
            <a:endParaRPr lang="en-US" sz="1200" dirty="0"/>
          </a:p>
        </p:txBody>
      </p:sp>
      <p:sp>
        <p:nvSpPr>
          <p:cNvPr id="44" name="Text 37"/>
          <p:cNvSpPr/>
          <p:nvPr/>
        </p:nvSpPr>
        <p:spPr>
          <a:xfrm>
            <a:off x="7912132" y="563517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Tracking players and ball from one camera is a research challenge.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16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Rep Counter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People who train at home lose count, stop logging after two weeks, and have nobody to say their back is rounding on the last reps. Without tracking there is no progress, and with poor form there are injuries.</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workout companion that sees the user through the phone camera. It counts reps aloud, gives a short cue the moment form breaks, and logs the workout without the user touching the phone. It remembers earlier workouts and compares against them. It does not give medical advice.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live phone camera on the exercise and the user's voice.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spoken count, form cues and a log.</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"Eight, nine, hips are dropping, ten." After the set: three sets of ten logged, one more rep than last Tuesday.</a:t>
            </a:r>
            <a:endParaRPr lang="en-US" sz="1200" dirty="0"/>
          </a:p>
        </p:txBody>
      </p:sp>
      <p:sp>
        <p:nvSpPr>
          <p:cNvPr id="7" name="Text 5"/>
          <p:cNvSpPr/>
          <p:nvPr/>
        </p:nvSpPr>
        <p:spPr>
          <a:xfrm>
            <a:off x="609567" y="3771131"/>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search turned up several apps: RepSquad, Pushup AI and Form Coach. The idea exists. Novelty: an open definition file per exercise, voice conversation, and a motion core shared with Sport Form Coach and Choreographer.</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RepSquad</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Pushup AI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Form Coach</a:t>
            </a:r>
            <a:endParaRPr lang="en-US" sz="1200" dirty="0"/>
          </a:p>
        </p:txBody>
      </p:sp>
      <p:sp>
        <p:nvSpPr>
          <p:cNvPr id="8" name="Text 6"/>
          <p:cNvSpPr/>
          <p:nvPr/>
        </p:nvSpPr>
        <p:spPr>
          <a:xfrm>
            <a:off x="609567" y="467011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Trainers add exercises as files on an open pose model. A small, clear unit of contribution.</a:t>
            </a:r>
            <a:endParaRPr lang="en-US" sz="1200" dirty="0"/>
          </a:p>
        </p:txBody>
      </p:sp>
      <p:sp>
        <p:nvSpPr>
          <p:cNvPr id="9" name="Text 7"/>
          <p:cNvSpPr/>
          <p:nvPr/>
        </p:nvSpPr>
        <p:spPr>
          <a:xfrm>
            <a:off x="609567" y="5157649"/>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3/5.</a:t>
            </a:r>
            <a:r>
              <a:rPr lang="en-US" sz="1200" dirty="0">
                <a:solidFill>
                  <a:srgbClr val="16202E"/>
                </a:solidFill>
                <a:latin typeface="Rubik" pitchFamily="34" charset="0"/>
                <a:ea typeface="Rubik" pitchFamily="34" charset="-122"/>
                <a:cs typeface="Rubik" pitchFamily="34" charset="-120"/>
              </a:rPr>
              <a:t> A live camera stream, real-time events and execution monitoring of a physical action within a latency budget. Focused on a person, not a room.</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Dumbbell"/>
          <p:cNvPicPr>
            <a:picLocks noChangeAspect="1"/>
          </p:cNvPicPr>
          <p:nvPr/>
        </p:nvPicPr>
        <p:blipFill>
          <a:blip r:embed="rId6"/>
          <a:srcRect/>
          <a:stretch/>
        </p:blipFill>
        <p:spPr>
          <a:xfrm>
            <a:off x="7975593" y="1549164"/>
            <a:ext cx="761939" cy="761939"/>
          </a:xfrm>
          <a:prstGeom prst="rect">
            <a:avLst/>
          </a:prstGeom>
        </p:spPr>
      </p:pic>
      <p:sp>
        <p:nvSpPr>
          <p:cNvPr id="12" name="Text 9"/>
          <p:cNvSpPr/>
          <p:nvPr/>
        </p:nvSpPr>
        <p:spPr>
          <a:xfrm>
            <a:off x="7842574" y="2374578"/>
            <a:ext cx="1027977"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Live camera</a:t>
            </a:r>
            <a:endParaRPr lang="en-US" sz="1200" dirty="0"/>
          </a:p>
        </p:txBody>
      </p:sp>
      <p:pic>
        <p:nvPicPr>
          <p:cNvPr id="13" name="Image 1" descr="arrow-right"/>
          <p:cNvPicPr>
            <a:picLocks noChangeAspect="1"/>
          </p:cNvPicPr>
          <p:nvPr/>
        </p:nvPicPr>
        <p:blipFill>
          <a:blip r:embed="rId7"/>
          <a:srcRect l="-21" r="-21"/>
          <a:stretch/>
        </p:blipFill>
        <p:spPr>
          <a:xfrm>
            <a:off x="8902789" y="1989770"/>
            <a:ext cx="228557" cy="126923"/>
          </a:xfrm>
          <a:prstGeom prst="rect">
            <a:avLst/>
          </a:prstGeom>
        </p:spPr>
      </p:pic>
      <p:sp>
        <p:nvSpPr>
          <p:cNvPr id="14" name="Shape 10"/>
          <p:cNvSpPr/>
          <p:nvPr/>
        </p:nvSpPr>
        <p:spPr>
          <a:xfrm>
            <a:off x="9296443" y="1457759"/>
            <a:ext cx="761939" cy="761939"/>
          </a:xfrm>
          <a:prstGeom prst="roundRect">
            <a:avLst>
              <a:gd name="adj" fmla="val 50000"/>
            </a:avLst>
          </a:prstGeom>
          <a:solidFill>
            <a:srgbClr val="16202E"/>
          </a:solidFill>
          <a:ln/>
        </p:spPr>
        <p:txBody>
          <a:bodyPr/>
          <a:lstStyle/>
          <a:p>
            <a:endParaRPr/>
          </a:p>
        </p:txBody>
      </p:sp>
      <p:pic>
        <p:nvPicPr>
          <p:cNvPr id="15" name="Image 2" descr="Activity"/>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60"/>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Counts and cues</a:t>
            </a:r>
            <a:endParaRPr lang="en-US" sz="1200" dirty="0"/>
          </a:p>
        </p:txBody>
      </p:sp>
      <p:pic>
        <p:nvPicPr>
          <p:cNvPr id="17" name="Image 3" descr="arrow-right"/>
          <p:cNvPicPr>
            <a:picLocks noChangeAspect="1"/>
          </p:cNvPicPr>
          <p:nvPr/>
        </p:nvPicPr>
        <p:blipFill>
          <a:blip r:embed="rId7"/>
          <a:srcRect l="-21" r="-21"/>
          <a:stretch/>
        </p:blipFill>
        <p:spPr>
          <a:xfrm>
            <a:off x="10223639" y="1989770"/>
            <a:ext cx="228557" cy="126923"/>
          </a:xfrm>
          <a:prstGeom prst="rect">
            <a:avLst/>
          </a:prstGeom>
        </p:spPr>
      </p:pic>
      <p:pic>
        <p:nvPicPr>
          <p:cNvPr id="18" name="Image 4" descr="Progress chart"/>
          <p:cNvPicPr>
            <a:picLocks noChangeAspect="1"/>
          </p:cNvPicPr>
          <p:nvPr/>
        </p:nvPicPr>
        <p:blipFill>
          <a:blip r:embed="rId9"/>
          <a:srcRect/>
          <a:stretch/>
        </p:blipFill>
        <p:spPr>
          <a:xfrm>
            <a:off x="10617292" y="1549164"/>
            <a:ext cx="761939" cy="761939"/>
          </a:xfrm>
          <a:prstGeom prst="rect">
            <a:avLst/>
          </a:prstGeom>
        </p:spPr>
      </p:pic>
      <p:sp>
        <p:nvSpPr>
          <p:cNvPr id="19" name="Text 12"/>
          <p:cNvSpPr/>
          <p:nvPr/>
        </p:nvSpPr>
        <p:spPr>
          <a:xfrm>
            <a:off x="10499921" y="2374578"/>
            <a:ext cx="996762"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Workout log</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#16</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20/30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people training at home and gym beginners.</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fitness apps: $16.1B in 2023, $76.4B by 2032 (17.9%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Global Market Insights</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Real-time on-device pose detection and voice feedback.</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18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Repo-to-Launch Video</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Good open-source projects launch with a wall of text. Maintainers are engineers, not video editors, so new releases pass unnoticed and the project gains neither users nor contributors.</a:t>
            </a:r>
            <a:endParaRPr lang="en-US" sz="1200" dirty="0"/>
          </a:p>
        </p:txBody>
      </p:sp>
      <p:sp>
        <p:nvSpPr>
          <p:cNvPr id="5" name="Text 3"/>
          <p:cNvSpPr/>
          <p:nvPr/>
        </p:nvSpPr>
        <p:spPr>
          <a:xfrm>
            <a:off x="609567" y="1973263"/>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An agent that prepares a release's launch material. It reads the repo and release notes, installs and runs the real software, records the new features in action, writes narration and assembles a video. Everything is delivered as an editable timeline. The footage is of the software itself, not a mock-up.</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repo, its README and release notes.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60-second video, a release post and social clips.</a:t>
            </a:r>
            <a:endParaRPr lang="en-US" sz="1200" dirty="0"/>
          </a:p>
        </p:txBody>
      </p:sp>
      <p:sp>
        <p:nvSpPr>
          <p:cNvPr id="6" name="Text 4"/>
          <p:cNvSpPr/>
          <p:nvPr/>
        </p:nvSpPr>
        <p:spPr>
          <a:xfrm>
            <a:off x="609567" y="307789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maintainer tags version 2.0. The agent runs the three new features, records them, writes narration and returns a video before the announcement.</a:t>
            </a:r>
            <a:endParaRPr lang="en-US" sz="1200" dirty="0"/>
          </a:p>
        </p:txBody>
      </p:sp>
      <p:sp>
        <p:nvSpPr>
          <p:cNvPr id="7" name="Text 5"/>
          <p:cNvSpPr/>
          <p:nvPr/>
        </p:nvSpPr>
        <p:spPr>
          <a:xfrm>
            <a:off x="609567" y="3565451"/>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search turned up RepoClip and DemoGenie, so I lowered buzz from 4 to 3. I did not check whether they actually run the software. Novelty to verify: recording the running software, and an open GitHub Action.</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RepoClip</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DemoGenie</a:t>
            </a:r>
            <a:endParaRPr lang="en-US" sz="1200" dirty="0"/>
          </a:p>
        </p:txBody>
      </p:sp>
      <p:sp>
        <p:nvSpPr>
          <p:cNvPr id="8" name="Text 6"/>
          <p:cNvSpPr/>
          <p:nvPr/>
        </p:nvSpPr>
        <p:spPr>
          <a:xfrm>
            <a:off x="609567" y="446443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5/5.</a:t>
            </a:r>
            <a:r>
              <a:rPr lang="en-US" sz="1200" dirty="0">
                <a:solidFill>
                  <a:srgbClr val="16202E"/>
                </a:solidFill>
                <a:latin typeface="Rubik" pitchFamily="34" charset="0"/>
                <a:ea typeface="Rubik" pitchFamily="34" charset="-122"/>
                <a:cs typeface="Rubik" pitchFamily="34" charset="-120"/>
              </a:rPr>
              <a:t> The users are open-source maintainers. Ship as a GitHub Action and use it for our own weekly demo videos.</a:t>
            </a:r>
            <a:endParaRPr lang="en-US" sz="1200" dirty="0"/>
          </a:p>
        </p:txBody>
      </p:sp>
      <p:sp>
        <p:nvSpPr>
          <p:cNvPr id="9" name="Text 7"/>
          <p:cNvSpPr/>
          <p:nvPr/>
        </p:nvSpPr>
        <p:spPr>
          <a:xfrm>
            <a:off x="609567" y="4951993"/>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 Useful for ATARI's demo videos, not for its technology.</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ode repository"/>
          <p:cNvPicPr>
            <a:picLocks noChangeAspect="1"/>
          </p:cNvPicPr>
          <p:nvPr/>
        </p:nvPicPr>
        <p:blipFill>
          <a:blip r:embed="rId5"/>
          <a:srcRect/>
          <a:stretch/>
        </p:blipFill>
        <p:spPr>
          <a:xfrm>
            <a:off x="7975593" y="1457771"/>
            <a:ext cx="761939" cy="761939"/>
          </a:xfrm>
          <a:prstGeom prst="rect">
            <a:avLst/>
          </a:prstGeom>
        </p:spPr>
      </p:pic>
      <p:sp>
        <p:nvSpPr>
          <p:cNvPr id="12" name="Text 9"/>
          <p:cNvSpPr/>
          <p:nvPr/>
        </p:nvSpPr>
        <p:spPr>
          <a:xfrm>
            <a:off x="787400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Repo and README</a:t>
            </a:r>
            <a:endParaRPr lang="en-US" sz="1200" dirty="0"/>
          </a:p>
        </p:txBody>
      </p:sp>
      <p:pic>
        <p:nvPicPr>
          <p:cNvPr id="13" name="Image 1" descr="arrow-right"/>
          <p:cNvPicPr>
            <a:picLocks noChangeAspect="1"/>
          </p:cNvPicPr>
          <p:nvPr/>
        </p:nvPicPr>
        <p:blipFill>
          <a:blip r:embed="rId6"/>
          <a:srcRect l="-21" r="-21"/>
          <a:stretch/>
        </p:blipFill>
        <p:spPr>
          <a:xfrm>
            <a:off x="8902789" y="1989782"/>
            <a:ext cx="228557" cy="126923"/>
          </a:xfrm>
          <a:prstGeom prst="rect">
            <a:avLst/>
          </a:prstGeom>
        </p:spPr>
      </p:pic>
      <p:sp>
        <p:nvSpPr>
          <p:cNvPr id="14" name="Shape 10"/>
          <p:cNvSpPr/>
          <p:nvPr/>
        </p:nvSpPr>
        <p:spPr>
          <a:xfrm>
            <a:off x="9296443" y="1457771"/>
            <a:ext cx="761939" cy="761939"/>
          </a:xfrm>
          <a:prstGeom prst="roundRect">
            <a:avLst>
              <a:gd name="adj" fmla="val 50000"/>
            </a:avLst>
          </a:prstGeom>
          <a:solidFill>
            <a:srgbClr val="16202E"/>
          </a:solidFill>
          <a:ln/>
        </p:spPr>
        <p:txBody>
          <a:bodyPr/>
          <a:lstStyle/>
          <a:p>
            <a:endParaRPr/>
          </a:p>
        </p:txBody>
      </p:sp>
      <p:pic>
        <p:nvPicPr>
          <p:cNvPr id="15" name="Image 2" descr="Play"/>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Runs and records</a:t>
            </a:r>
            <a:endParaRPr lang="en-US" sz="1200" dirty="0"/>
          </a:p>
        </p:txBody>
      </p:sp>
      <p:pic>
        <p:nvPicPr>
          <p:cNvPr id="17" name="Image 3" descr="arrow-right"/>
          <p:cNvPicPr>
            <a:picLocks noChangeAspect="1"/>
          </p:cNvPicPr>
          <p:nvPr/>
        </p:nvPicPr>
        <p:blipFill>
          <a:blip r:embed="rId6"/>
          <a:srcRect l="-21" r="-21"/>
          <a:stretch/>
        </p:blipFill>
        <p:spPr>
          <a:xfrm>
            <a:off x="10223639" y="1989782"/>
            <a:ext cx="228557" cy="126923"/>
          </a:xfrm>
          <a:prstGeom prst="rect">
            <a:avLst/>
          </a:prstGeom>
        </p:spPr>
      </p:pic>
      <p:pic>
        <p:nvPicPr>
          <p:cNvPr id="18" name="Image 4" descr="Launch video"/>
          <p:cNvPicPr>
            <a:picLocks noChangeAspect="1"/>
          </p:cNvPicPr>
          <p:nvPr/>
        </p:nvPicPr>
        <p:blipFill>
          <a:blip r:embed="rId8"/>
          <a:srcRect/>
          <a:stretch/>
        </p:blipFill>
        <p:spPr>
          <a:xfrm>
            <a:off x="10617292" y="1457771"/>
            <a:ext cx="761939" cy="761939"/>
          </a:xfrm>
          <a:prstGeom prst="rect">
            <a:avLst/>
          </a:prstGeom>
        </p:spPr>
      </p:pic>
      <p:sp>
        <p:nvSpPr>
          <p:cNvPr id="19" name="Text 12"/>
          <p:cNvSpPr/>
          <p:nvPr/>
        </p:nvSpPr>
        <p:spPr>
          <a:xfrm>
            <a:off x="10515706"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Launch video</a:t>
            </a:r>
            <a:endParaRPr lang="en-US" sz="1200" dirty="0"/>
          </a:p>
        </p:txBody>
      </p:sp>
      <p:sp>
        <p:nvSpPr>
          <p:cNvPr id="20" name="Shape 13"/>
          <p:cNvSpPr/>
          <p:nvPr/>
        </p:nvSpPr>
        <p:spPr>
          <a:xfrm>
            <a:off x="7775659"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#18</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69"/>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20/30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75"/>
            <a:ext cx="3809936" cy="1889107"/>
          </a:xfrm>
          <a:prstGeom prst="roundRect">
            <a:avLst>
              <a:gd name="adj" fmla="val 5257"/>
            </a:avLst>
          </a:prstGeom>
          <a:solidFill>
            <a:srgbClr val="16202E"/>
          </a:solidFill>
          <a:ln/>
        </p:spPr>
        <p:txBody>
          <a:bodyPr/>
          <a:lstStyle/>
          <a:p>
            <a:endParaRPr/>
          </a:p>
        </p:txBody>
      </p:sp>
      <p:sp>
        <p:nvSpPr>
          <p:cNvPr id="42" name="Text 35"/>
          <p:cNvSpPr/>
          <p:nvPr/>
        </p:nvSpPr>
        <p:spPr>
          <a:xfrm>
            <a:off x="7912132" y="456875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open-source maintainers and independent developers; ourselves first.</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AI video generators and editors: $0.6B in 2023, $9.3B by 2033 (30.7%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Allied Market Research</a:t>
            </a:r>
            <a:endParaRPr lang="en-US" sz="1200" dirty="0"/>
          </a:p>
        </p:txBody>
      </p:sp>
      <p:sp>
        <p:nvSpPr>
          <p:cNvPr id="44" name="Text 37"/>
          <p:cNvSpPr/>
          <p:nvPr/>
        </p:nvSpPr>
        <p:spPr>
          <a:xfrm>
            <a:off x="7912132" y="5635183"/>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Understanding code, operating the software and producing video and narration.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75"/>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19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Video Clipper</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The audience is on short video, but creators record long episodes. Finding and cutting the best minute out of 70 takes hours, so most long content never reaches a new audience.</a:t>
            </a:r>
            <a:endParaRPr lang="en-US" sz="1200" dirty="0"/>
          </a:p>
        </p:txBody>
      </p:sp>
      <p:sp>
        <p:nvSpPr>
          <p:cNvPr id="5" name="Text 3"/>
          <p:cNvSpPr/>
          <p:nvPr/>
        </p:nvSpPr>
        <p:spPr>
          <a:xfrm>
            <a:off x="609567" y="1767557"/>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An automatic editor that turns a long recording into clips ready to post. It listens to and watches the whole recording, ranks moments by interest, cuts to vertical format, adds captions and a title and suggests thumbnails. The creator chooses what to post. With memory, it learns which clips did well before.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long video or podcast.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short vertical clips with captions, titles and thumbnails.</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podcaster uploads one episode and gets six clips of 30 to 60 seconds, each with three thumbnails. She posts four.</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OpusClip leads and has many clones. A newcomer competes with it directly. Novelty: self-hosting with no per-minute fee, and a memory of what worked for this creator.</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OpusClip</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Vizard</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 self-hosted clipper interests technical creators; most creators do not contribute code.</a:t>
            </a:r>
            <a:endParaRPr lang="en-US" sz="1200" dirty="0"/>
          </a:p>
        </p:txBody>
      </p:sp>
      <p:sp>
        <p:nvSpPr>
          <p:cNvPr id="9" name="Text 7"/>
          <p:cNvSpPr/>
          <p:nvPr/>
        </p:nvSpPr>
        <p:spPr>
          <a:xfrm>
            <a:off x="609567" y="474628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Partial: detecting events in long video and placing them on a timeline.</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Long video"/>
          <p:cNvPicPr>
            <a:picLocks noChangeAspect="1"/>
          </p:cNvPicPr>
          <p:nvPr/>
        </p:nvPicPr>
        <p:blipFill>
          <a:blip r:embed="rId5"/>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Long recording</a:t>
            </a:r>
            <a:endParaRPr lang="en-US" sz="1200" dirty="0"/>
          </a:p>
        </p:txBody>
      </p:sp>
      <p:pic>
        <p:nvPicPr>
          <p:cNvPr id="13" name="Image 1" descr="arrow-right"/>
          <p:cNvPicPr>
            <a:picLocks noChangeAspect="1"/>
          </p:cNvPicPr>
          <p:nvPr/>
        </p:nvPicPr>
        <p:blipFill>
          <a:blip r:embed="rId6"/>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Star"/>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Finds the moments</a:t>
            </a:r>
            <a:endParaRPr lang="en-US" sz="1200" dirty="0"/>
          </a:p>
        </p:txBody>
      </p:sp>
      <p:pic>
        <p:nvPicPr>
          <p:cNvPr id="17" name="Image 3" descr="arrow-right"/>
          <p:cNvPicPr>
            <a:picLocks noChangeAspect="1"/>
          </p:cNvPicPr>
          <p:nvPr/>
        </p:nvPicPr>
        <p:blipFill>
          <a:blip r:embed="rId6"/>
          <a:srcRect l="-21" r="-21"/>
          <a:stretch/>
        </p:blipFill>
        <p:spPr>
          <a:xfrm>
            <a:off x="10223639" y="1989758"/>
            <a:ext cx="228557" cy="126923"/>
          </a:xfrm>
          <a:prstGeom prst="rect">
            <a:avLst/>
          </a:prstGeom>
        </p:spPr>
      </p:pic>
      <p:pic>
        <p:nvPicPr>
          <p:cNvPr id="18" name="Image 4" descr="Three vertical clips"/>
          <p:cNvPicPr>
            <a:picLocks noChangeAspect="1"/>
          </p:cNvPicPr>
          <p:nvPr/>
        </p:nvPicPr>
        <p:blipFill>
          <a:blip r:embed="rId8"/>
          <a:srcRect/>
          <a:stretch/>
        </p:blipFill>
        <p:spPr>
          <a:xfrm>
            <a:off x="10617292" y="1549152"/>
            <a:ext cx="761939" cy="761939"/>
          </a:xfrm>
          <a:prstGeom prst="rect">
            <a:avLst/>
          </a:prstGeom>
        </p:spPr>
      </p:pic>
      <p:sp>
        <p:nvSpPr>
          <p:cNvPr id="19" name="Text 12"/>
          <p:cNvSpPr/>
          <p:nvPr/>
        </p:nvSpPr>
        <p:spPr>
          <a:xfrm>
            <a:off x="10544472" y="2374553"/>
            <a:ext cx="907658"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Short clips</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#19</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19/30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podcasters, creators, lecturers and sports clubs.</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video generators and editors: $0.6B in 2023, $9.3B by 2033 (30.7%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Allied Market Research</a:t>
            </a:r>
            <a:endParaRPr lang="en-US" sz="1200" dirty="0"/>
          </a:p>
        </p:txBody>
      </p:sp>
      <p:sp>
        <p:nvSpPr>
          <p:cNvPr id="44" name="Text 37"/>
          <p:cNvSpPr/>
          <p:nvPr/>
        </p:nvSpPr>
        <p:spPr>
          <a:xfrm>
            <a:off x="7912132" y="5635159"/>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Spotting a "strong moment" needs content understanding, not only cutting.</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20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Dynamic Training Coach</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fixed training plan ignores how the athlete slept and recovered. Adaptive apps change the plan without saying why, so athletes do not trust them, ignore the recommendation and get injured or burn out.</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training plan that updates after every session and explains itself; a concept by Sagiv Goren. A rule engine chooses the workout, and an agent explains which signals decided it and how confident it is, and asks about discomfort and available time. The athlete approves, shortens or reschedules. The first version works from imported activity files.</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wearable data (activities, sleep, resting heart rate) and a short daily check-in.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specific workout, an explanation and changes to the week.</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marathon runner has a threshold session planned but shows fatigue. The coach proposes an easy run, names the signals, and moves the session only if recovery improves.</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Garmin's Run Coach already adapts daily, and there are several AI running coaches. Proposed novelty: deeper context, visible reasons and athlete control. The source deck marks this as unproven.</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Garmin Run Coach</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Runna</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TrainAsONE</a:t>
            </a:r>
            <a:endParaRPr lang="en-US" sz="1200" dirty="0"/>
          </a:p>
        </p:txBody>
      </p:sp>
      <p:sp>
        <p:nvSpPr>
          <p:cNvPr id="8" name="Text 6"/>
          <p:cNvSpPr/>
          <p:nvPr/>
        </p:nvSpPr>
        <p:spPr>
          <a:xfrm>
            <a:off x="609567" y="46700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An open rule engine that athletes and coaches can read and change. Runners are a data-minded community that contributes.</a:t>
            </a:r>
            <a:endParaRPr lang="en-US" sz="1200" dirty="0"/>
          </a:p>
        </p:txBody>
      </p:sp>
      <p:sp>
        <p:nvSpPr>
          <p:cNvPr id="9" name="Text 7"/>
          <p:cNvSpPr/>
          <p:nvPr/>
        </p:nvSpPr>
        <p:spPr>
          <a:xfrm>
            <a:off x="609567" y="5157649"/>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An architectural likeness: a rule engine decides and the agent only proposes, like ATARI's safety gate. No spatial perception.</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Heart rate trace"/>
          <p:cNvPicPr>
            <a:picLocks noChangeAspect="1"/>
          </p:cNvPicPr>
          <p:nvPr/>
        </p:nvPicPr>
        <p:blipFill>
          <a:blip r:embed="rId6"/>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Wearable data</a:t>
            </a:r>
            <a:endParaRPr lang="en-US" sz="1200" dirty="0"/>
          </a:p>
        </p:txBody>
      </p:sp>
      <p:pic>
        <p:nvPicPr>
          <p:cNvPr id="13" name="Image 1" descr="arrow-right"/>
          <p:cNvPicPr>
            <a:picLocks noChangeAspect="1"/>
          </p:cNvPicPr>
          <p:nvPr/>
        </p:nvPicPr>
        <p:blipFill>
          <a:blip r:embed="rId7"/>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Settings"/>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Rules plus agent</a:t>
            </a:r>
            <a:endParaRPr lang="en-US" sz="1200" dirty="0"/>
          </a:p>
        </p:txBody>
      </p:sp>
      <p:pic>
        <p:nvPicPr>
          <p:cNvPr id="17" name="Image 3" descr="arrow-right"/>
          <p:cNvPicPr>
            <a:picLocks noChangeAspect="1"/>
          </p:cNvPicPr>
          <p:nvPr/>
        </p:nvPicPr>
        <p:blipFill>
          <a:blip r:embed="rId7"/>
          <a:srcRect l="-21" r="-21"/>
          <a:stretch/>
        </p:blipFill>
        <p:spPr>
          <a:xfrm>
            <a:off x="10223639" y="1989758"/>
            <a:ext cx="228557" cy="126923"/>
          </a:xfrm>
          <a:prstGeom prst="rect">
            <a:avLst/>
          </a:prstGeom>
        </p:spPr>
      </p:pic>
      <p:pic>
        <p:nvPicPr>
          <p:cNvPr id="18" name="Image 4" descr="Week plan"/>
          <p:cNvPicPr>
            <a:picLocks noChangeAspect="1"/>
          </p:cNvPicPr>
          <p:nvPr/>
        </p:nvPicPr>
        <p:blipFill>
          <a:blip r:embed="rId9"/>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Today's workout</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#20</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19/30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runners and cyclists with a sports watch and a long-term goal.</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fitness apps: $16.1B in 2023, $76.4B by 2032 (17.9%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Global Market Insights</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medium. The decision is a rule engine; AI explains and collects feedback.</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26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Text-based Video Editor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Learning a timeline editor takes weeks. Most people only want to cut the start, drop the silences and add captions, and they get stuck in front of a professional interface or pay an editor for ten minutes of work.</a:t>
            </a:r>
            <a:endParaRPr lang="en-US" sz="1200" dirty="0"/>
          </a:p>
        </p:txBody>
      </p:sp>
      <p:sp>
        <p:nvSpPr>
          <p:cNvPr id="5" name="Text 3"/>
          <p:cNvSpPr/>
          <p:nvPr/>
        </p:nvSpPr>
        <p:spPr>
          <a:xfrm>
            <a:off x="609567" y="1973263"/>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video editor that takes an instruction in a sentence in place of dragging clips. It understands the video's content (speech, silences, scenes), translates the instruction into editing operations, carries them out and returns the new video together with a list of what was removed, so every cut can be undone.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video and typed or spoken instructions.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the edited video and a change list.</a:t>
            </a:r>
            <a:endParaRPr lang="en-US" sz="1200" dirty="0"/>
          </a:p>
        </p:txBody>
      </p:sp>
      <p:sp>
        <p:nvSpPr>
          <p:cNvPr id="6" name="Text 4"/>
          <p:cNvSpPr/>
          <p:nvPr/>
        </p:nvSpPr>
        <p:spPr>
          <a:xfrm>
            <a:off x="609567" y="307789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"Cut the first 20 seconds, remove long pauses, add captions, and make a 30-second version." The trainer gets both versions.</a:t>
            </a:r>
            <a:endParaRPr lang="en-US" sz="1200" dirty="0"/>
          </a:p>
        </p:txBody>
      </p:sp>
      <p:sp>
        <p:nvSpPr>
          <p:cNvPr id="7" name="Text 5"/>
          <p:cNvSpPr/>
          <p:nvPr/>
        </p:nvSpPr>
        <p:spPr>
          <a:xfrm>
            <a:off x="609567" y="356542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Descript opened its Underlord editing agent to outside tools in August 2026. Novelty: an open version on ffmpeg that other agents call as a tool, not a closed product.</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Descript</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Underlord</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Kapwing</a:t>
            </a:r>
            <a:endParaRPr lang="en-US" sz="1200" dirty="0"/>
          </a:p>
        </p:txBody>
      </p:sp>
      <p:sp>
        <p:nvSpPr>
          <p:cNvPr id="8" name="Text 6"/>
          <p:cNvSpPr/>
          <p:nvPr/>
        </p:nvSpPr>
        <p:spPr>
          <a:xfrm>
            <a:off x="609567" y="446440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The research notes that an open version would interest developers. It is also the shared editing engine for Video Clipper, My Director and Repo-to-Launch.</a:t>
            </a:r>
            <a:endParaRPr lang="en-US" sz="1200" dirty="0"/>
          </a:p>
        </p:txBody>
      </p:sp>
      <p:sp>
        <p:nvSpPr>
          <p:cNvPr id="9" name="Text 7"/>
          <p:cNvSpPr/>
          <p:nvPr/>
        </p:nvSpPr>
        <p:spPr>
          <a:xfrm>
            <a:off x="609567" y="495196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Typed instruction"/>
          <p:cNvPicPr>
            <a:picLocks noChangeAspect="1"/>
          </p:cNvPicPr>
          <p:nvPr/>
        </p:nvPicPr>
        <p:blipFill>
          <a:blip r:embed="rId6"/>
          <a:srcRect/>
          <a:stretch/>
        </p:blipFill>
        <p:spPr>
          <a:xfrm>
            <a:off x="7975593" y="1457771"/>
            <a:ext cx="761939" cy="761939"/>
          </a:xfrm>
          <a:prstGeom prst="rect">
            <a:avLst/>
          </a:prstGeom>
        </p:spPr>
      </p:pic>
      <p:sp>
        <p:nvSpPr>
          <p:cNvPr id="12" name="Text 9"/>
          <p:cNvSpPr/>
          <p:nvPr/>
        </p:nvSpPr>
        <p:spPr>
          <a:xfrm>
            <a:off x="787400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Video and a sentence</a:t>
            </a:r>
            <a:endParaRPr lang="en-US" sz="1200" dirty="0"/>
          </a:p>
        </p:txBody>
      </p:sp>
      <p:pic>
        <p:nvPicPr>
          <p:cNvPr id="13" name="Image 1" descr="arrow-right"/>
          <p:cNvPicPr>
            <a:picLocks noChangeAspect="1"/>
          </p:cNvPicPr>
          <p:nvPr/>
        </p:nvPicPr>
        <p:blipFill>
          <a:blip r:embed="rId7"/>
          <a:srcRect l="-21" r="-21"/>
          <a:stretch/>
        </p:blipFill>
        <p:spPr>
          <a:xfrm>
            <a:off x="8902789" y="1989782"/>
            <a:ext cx="228557" cy="126923"/>
          </a:xfrm>
          <a:prstGeom prst="rect">
            <a:avLst/>
          </a:prstGeom>
        </p:spPr>
      </p:pic>
      <p:sp>
        <p:nvSpPr>
          <p:cNvPr id="14" name="Shape 10"/>
          <p:cNvSpPr/>
          <p:nvPr/>
        </p:nvSpPr>
        <p:spPr>
          <a:xfrm>
            <a:off x="9296443" y="1457771"/>
            <a:ext cx="761939" cy="761939"/>
          </a:xfrm>
          <a:prstGeom prst="roundRect">
            <a:avLst>
              <a:gd name="adj" fmla="val 50000"/>
            </a:avLst>
          </a:prstGeom>
          <a:solidFill>
            <a:srgbClr val="16202E"/>
          </a:solidFill>
          <a:ln/>
        </p:spPr>
        <p:txBody>
          <a:bodyPr/>
          <a:lstStyle/>
          <a:p>
            <a:endParaRPr/>
          </a:p>
        </p:txBody>
      </p:sp>
      <p:pic>
        <p:nvPicPr>
          <p:cNvPr id="15" name="Image 2" descr="Tool"/>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Performs the edit</a:t>
            </a:r>
            <a:endParaRPr lang="en-US" sz="1200" dirty="0"/>
          </a:p>
        </p:txBody>
      </p:sp>
      <p:pic>
        <p:nvPicPr>
          <p:cNvPr id="17" name="Image 3" descr="arrow-right"/>
          <p:cNvPicPr>
            <a:picLocks noChangeAspect="1"/>
          </p:cNvPicPr>
          <p:nvPr/>
        </p:nvPicPr>
        <p:blipFill>
          <a:blip r:embed="rId7"/>
          <a:srcRect l="-21" r="-21"/>
          <a:stretch/>
        </p:blipFill>
        <p:spPr>
          <a:xfrm>
            <a:off x="10223639" y="1989782"/>
            <a:ext cx="228557" cy="126923"/>
          </a:xfrm>
          <a:prstGeom prst="rect">
            <a:avLst/>
          </a:prstGeom>
        </p:spPr>
      </p:pic>
      <p:pic>
        <p:nvPicPr>
          <p:cNvPr id="18" name="Image 4" descr="Edited video"/>
          <p:cNvPicPr>
            <a:picLocks noChangeAspect="1"/>
          </p:cNvPicPr>
          <p:nvPr/>
        </p:nvPicPr>
        <p:blipFill>
          <a:blip r:embed="rId9"/>
          <a:srcRect/>
          <a:stretch/>
        </p:blipFill>
        <p:spPr>
          <a:xfrm>
            <a:off x="10617292" y="1549177"/>
            <a:ext cx="761939" cy="761939"/>
          </a:xfrm>
          <a:prstGeom prst="rect">
            <a:avLst/>
          </a:prstGeom>
        </p:spPr>
      </p:pic>
      <p:sp>
        <p:nvSpPr>
          <p:cNvPr id="19" name="Text 12"/>
          <p:cNvSpPr/>
          <p:nvPr/>
        </p:nvSpPr>
        <p:spPr>
          <a:xfrm>
            <a:off x="10474705" y="2374578"/>
            <a:ext cx="1047112"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Edited video</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#26</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18/30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trainers, lecturers and creators who are not video editors.</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video generators and editors: $0.6B in 2023, $9.3B by 2033 (30.7%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Allied Market Research</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Translating a free sentence into a precise sequence of edits.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28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Choreographer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People try to learn a dance from a full-speed video. The video does not slow down for them, does not break the moves apart and cannot see what they are doing wrong. A private teacher is expensive, and most give up halfway.</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dance teacher that works from any video. The agent analyses the movement in the source video, slows it and breaks it into steps, then watches the learner through the camera and corrects by voice during practice. At the end of each lesson it gives an accuracy score per step, so progress is visible.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reference dance video and a live camera on the learner.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step breakdown, voice corrections and an accuracy score.</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couple uploads their wedding dance. It is split into eight steps and played slowly. "Right hand higher." Each step gets a score.</a:t>
            </a:r>
            <a:endParaRPr lang="en-US" sz="1200" dirty="0"/>
          </a:p>
        </p:txBody>
      </p:sp>
      <p:sp>
        <p:nvSpPr>
          <p:cNvPr id="7" name="Text 5"/>
          <p:cNvSpPr/>
          <p:nvPr/>
        </p:nvSpPr>
        <p:spPr>
          <a:xfrm>
            <a:off x="609567" y="3771131"/>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One dedicated product was found, Dalea, with no usage figures; TikTok has topic pages for such apps. Novelty: accurate real-time movement feedback, which is the part still unsolved.</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Dalea</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STEEZY</a:t>
            </a:r>
            <a:endParaRPr lang="en-US" sz="1200" dirty="0"/>
          </a:p>
        </p:txBody>
      </p:sp>
      <p:sp>
        <p:nvSpPr>
          <p:cNvPr id="8" name="Text 6"/>
          <p:cNvSpPr/>
          <p:nvPr/>
        </p:nvSpPr>
        <p:spPr>
          <a:xfrm>
            <a:off x="609567" y="467011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Shares an open motion-comparison core with Sport Form Coach and Rep Counter. Worth building third, once the core exists.</a:t>
            </a:r>
            <a:endParaRPr lang="en-US" sz="1200" dirty="0"/>
          </a:p>
        </p:txBody>
      </p:sp>
      <p:sp>
        <p:nvSpPr>
          <p:cNvPr id="9" name="Text 7"/>
          <p:cNvSpPr/>
          <p:nvPr/>
        </p:nvSpPr>
        <p:spPr>
          <a:xfrm>
            <a:off x="609567" y="5157673"/>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3/5.</a:t>
            </a:r>
            <a:r>
              <a:rPr lang="en-US" sz="1200" dirty="0">
                <a:solidFill>
                  <a:srgbClr val="16202E"/>
                </a:solidFill>
                <a:latin typeface="Rubik" pitchFamily="34" charset="0"/>
                <a:ea typeface="Rubik" pitchFamily="34" charset="-122"/>
                <a:cs typeface="Rubik" pitchFamily="34" charset="-120"/>
              </a:rPr>
              <a:t> Real-time comparison between performed and desired movement is execution monitoring, and it works on a live camera stream.</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Dance video"/>
          <p:cNvPicPr>
            <a:picLocks noChangeAspect="1"/>
          </p:cNvPicPr>
          <p:nvPr/>
        </p:nvPicPr>
        <p:blipFill>
          <a:blip r:embed="rId5"/>
          <a:srcRect/>
          <a:stretch/>
        </p:blipFill>
        <p:spPr>
          <a:xfrm>
            <a:off x="7975593" y="1457771"/>
            <a:ext cx="761939" cy="761939"/>
          </a:xfrm>
          <a:prstGeom prst="rect">
            <a:avLst/>
          </a:prstGeom>
        </p:spPr>
      </p:pic>
      <p:sp>
        <p:nvSpPr>
          <p:cNvPr id="12" name="Text 9"/>
          <p:cNvSpPr/>
          <p:nvPr/>
        </p:nvSpPr>
        <p:spPr>
          <a:xfrm>
            <a:off x="787400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Reference dance</a:t>
            </a:r>
            <a:endParaRPr lang="en-US" sz="1200" dirty="0"/>
          </a:p>
        </p:txBody>
      </p:sp>
      <p:pic>
        <p:nvPicPr>
          <p:cNvPr id="13" name="Image 1" descr="arrow-right"/>
          <p:cNvPicPr>
            <a:picLocks noChangeAspect="1"/>
          </p:cNvPicPr>
          <p:nvPr/>
        </p:nvPicPr>
        <p:blipFill>
          <a:blip r:embed="rId6"/>
          <a:srcRect l="-21" r="-21"/>
          <a:stretch/>
        </p:blipFill>
        <p:spPr>
          <a:xfrm>
            <a:off x="8902789" y="1989782"/>
            <a:ext cx="228557" cy="126923"/>
          </a:xfrm>
          <a:prstGeom prst="rect">
            <a:avLst/>
          </a:prstGeom>
        </p:spPr>
      </p:pic>
      <p:sp>
        <p:nvSpPr>
          <p:cNvPr id="14" name="Shape 10"/>
          <p:cNvSpPr/>
          <p:nvPr/>
        </p:nvSpPr>
        <p:spPr>
          <a:xfrm>
            <a:off x="9296443" y="1457771"/>
            <a:ext cx="761939" cy="761939"/>
          </a:xfrm>
          <a:prstGeom prst="roundRect">
            <a:avLst>
              <a:gd name="adj" fmla="val 50000"/>
            </a:avLst>
          </a:prstGeom>
          <a:solidFill>
            <a:srgbClr val="16202E"/>
          </a:solidFill>
          <a:ln/>
        </p:spPr>
        <p:txBody>
          <a:bodyPr/>
          <a:lstStyle/>
          <a:p>
            <a:endParaRPr/>
          </a:p>
        </p:txBody>
      </p:sp>
      <p:pic>
        <p:nvPicPr>
          <p:cNvPr id="15" name="Image 2" descr="Activity"/>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Watches you try</a:t>
            </a:r>
            <a:endParaRPr lang="en-US" sz="1200" dirty="0"/>
          </a:p>
        </p:txBody>
      </p:sp>
      <p:pic>
        <p:nvPicPr>
          <p:cNvPr id="17" name="Image 3" descr="arrow-right"/>
          <p:cNvPicPr>
            <a:picLocks noChangeAspect="1"/>
          </p:cNvPicPr>
          <p:nvPr/>
        </p:nvPicPr>
        <p:blipFill>
          <a:blip r:embed="rId6"/>
          <a:srcRect l="-21" r="-21"/>
          <a:stretch/>
        </p:blipFill>
        <p:spPr>
          <a:xfrm>
            <a:off x="10223639" y="1989782"/>
            <a:ext cx="228557" cy="126923"/>
          </a:xfrm>
          <a:prstGeom prst="rect">
            <a:avLst/>
          </a:prstGeom>
        </p:spPr>
      </p:pic>
      <p:pic>
        <p:nvPicPr>
          <p:cNvPr id="18" name="Image 4" descr="Dancer"/>
          <p:cNvPicPr>
            <a:picLocks noChangeAspect="1"/>
          </p:cNvPicPr>
          <p:nvPr/>
        </p:nvPicPr>
        <p:blipFill>
          <a:blip r:embed="rId8"/>
          <a:srcRect/>
          <a:stretch/>
        </p:blipFill>
        <p:spPr>
          <a:xfrm>
            <a:off x="10617292" y="1457771"/>
            <a:ext cx="761939" cy="761939"/>
          </a:xfrm>
          <a:prstGeom prst="rect">
            <a:avLst/>
          </a:prstGeom>
        </p:spPr>
      </p:pic>
      <p:sp>
        <p:nvSpPr>
          <p:cNvPr id="19" name="Text 12"/>
          <p:cNvSpPr/>
          <p:nvPr/>
        </p:nvSpPr>
        <p:spPr>
          <a:xfrm>
            <a:off x="10515706"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Steps and score</a:t>
            </a:r>
            <a:endParaRPr lang="en-US" sz="1200" dirty="0"/>
          </a:p>
        </p:txBody>
      </p:sp>
      <p:sp>
        <p:nvSpPr>
          <p:cNvPr id="20" name="Shape 13"/>
          <p:cNvSpPr/>
          <p:nvPr/>
        </p:nvSpPr>
        <p:spPr>
          <a:xfrm>
            <a:off x="7775659"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#28</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69"/>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17/30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75"/>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5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young people learning social-media dances, and couples before a wedding.</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online dance training: $392M in 2024, $1.2B by 2032 (15.2%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Verified Market Research</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Comparing live movement to source movement is an open problem.</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31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News-to-Explainer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Small newsrooms, schools and non-profits have articles but no video team. Their audience is on short video and does not read 1,500 words, so important local information does not reach the people it concerns.</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An agent that turns an article into an explainer video that can be checked. It extracts the main claims, builds scenes with narration and simple animated charts, and shows on screen which paragraph each claim comes from. A human editor approves every claim before publication.</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an article link or document, with its charts and photos.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60-second video with source references.</a:t>
            </a:r>
            <a:endParaRPr lang="en-US" sz="1200" dirty="0"/>
          </a:p>
        </p:txBody>
      </p:sp>
      <p:sp>
        <p:nvSpPr>
          <p:cNvPr id="6" name="Text 4"/>
          <p:cNvSpPr/>
          <p:nvPr/>
        </p:nvSpPr>
        <p:spPr>
          <a:xfrm>
            <a:off x="609567" y="328354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local paper's piece on the new bus routes becomes a one-minute video: the map, three changes and a start date, each tied to a paragraph.</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search turned up a Morphic guide for local newsrooms, and there are many general text-to-video tools. Novelty: a visible link from every claim to its source. AI-generated news video invites scrutiny, so this is a condition.</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Morphic</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Pictory</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InVideo AI</a:t>
            </a:r>
            <a:endParaRPr lang="en-US" sz="1200" dirty="0"/>
          </a:p>
        </p:txBody>
      </p:sp>
      <p:sp>
        <p:nvSpPr>
          <p:cNvPr id="8" name="Text 6"/>
          <p:cNvSpPr/>
          <p:nvPr/>
        </p:nvSpPr>
        <p:spPr>
          <a:xfrm>
            <a:off x="609567" y="46700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An open claim-to-source mechanism and scene templates; newsrooms contribute templates in their own language and style.</a:t>
            </a:r>
            <a:endParaRPr lang="en-US" sz="1200" dirty="0"/>
          </a:p>
        </p:txBody>
      </p:sp>
      <p:sp>
        <p:nvSpPr>
          <p:cNvPr id="9" name="Text 7"/>
          <p:cNvSpPr/>
          <p:nvPr/>
        </p:nvSpPr>
        <p:spPr>
          <a:xfrm>
            <a:off x="609567" y="5157649"/>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Article"/>
          <p:cNvPicPr>
            <a:picLocks noChangeAspect="1"/>
          </p:cNvPicPr>
          <p:nvPr/>
        </p:nvPicPr>
        <p:blipFill>
          <a:blip r:embed="rId6"/>
          <a:srcRect/>
          <a:stretch/>
        </p:blipFill>
        <p:spPr>
          <a:xfrm>
            <a:off x="7975593" y="1549152"/>
            <a:ext cx="761939" cy="761939"/>
          </a:xfrm>
          <a:prstGeom prst="rect">
            <a:avLst/>
          </a:prstGeom>
        </p:spPr>
      </p:pic>
      <p:sp>
        <p:nvSpPr>
          <p:cNvPr id="12" name="Text 9"/>
          <p:cNvSpPr/>
          <p:nvPr/>
        </p:nvSpPr>
        <p:spPr>
          <a:xfrm>
            <a:off x="8078855" y="2374553"/>
            <a:ext cx="555496"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Article</a:t>
            </a:r>
            <a:endParaRPr lang="en-US" sz="1200" dirty="0"/>
          </a:p>
        </p:txBody>
      </p:sp>
      <p:pic>
        <p:nvPicPr>
          <p:cNvPr id="13" name="Image 1" descr="arrow-right"/>
          <p:cNvPicPr>
            <a:picLocks noChangeAspect="1"/>
          </p:cNvPicPr>
          <p:nvPr/>
        </p:nvPicPr>
        <p:blipFill>
          <a:blip r:embed="rId7"/>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Link"/>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Keeps the sources</a:t>
            </a:r>
            <a:endParaRPr lang="en-US" sz="1200" dirty="0"/>
          </a:p>
        </p:txBody>
      </p:sp>
      <p:pic>
        <p:nvPicPr>
          <p:cNvPr id="17" name="Image 3" descr="arrow-right"/>
          <p:cNvPicPr>
            <a:picLocks noChangeAspect="1"/>
          </p:cNvPicPr>
          <p:nvPr/>
        </p:nvPicPr>
        <p:blipFill>
          <a:blip r:embed="rId7"/>
          <a:srcRect l="-21" r="-21"/>
          <a:stretch/>
        </p:blipFill>
        <p:spPr>
          <a:xfrm>
            <a:off x="10223639" y="1989758"/>
            <a:ext cx="228557" cy="126923"/>
          </a:xfrm>
          <a:prstGeom prst="rect">
            <a:avLst/>
          </a:prstGeom>
        </p:spPr>
      </p:pic>
      <p:pic>
        <p:nvPicPr>
          <p:cNvPr id="18" name="Image 4" descr="Vertical explainer video"/>
          <p:cNvPicPr>
            <a:picLocks noChangeAspect="1"/>
          </p:cNvPicPr>
          <p:nvPr/>
        </p:nvPicPr>
        <p:blipFill>
          <a:blip r:embed="rId9"/>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Explainer video</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#31</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17/30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local newsrooms, schools and non-profits.</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text-to-video AI: $0.9B forecast for 2027 (37.1%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MarketsandMarkets</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Generating video from text, with every claim tied to a source.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35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Talking Avatar Reply</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personal video answer builds trust, but recording one for every student or customer question is impossible when there are hundreds. The result is cold text replies, or questions left unanswered.</a:t>
            </a:r>
            <a:endParaRPr lang="en-US" sz="1200" dirty="0"/>
          </a:p>
        </p:txBody>
      </p:sp>
      <p:sp>
        <p:nvSpPr>
          <p:cNvPr id="5" name="Text 3"/>
          <p:cNvSpPr/>
          <p:nvPr/>
        </p:nvSpPr>
        <p:spPr>
          <a:xfrm>
            <a:off x="609567" y="1973263"/>
            <a:ext cx="7063919" cy="84814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tool that turns a typed answer into a short video in which the user's own avatar says it, with lip sync. It uses only a likeness and voice the person has approved, and the video is marked as AI-generated. The user sees the video before forwarding it.</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text message or task.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short lip-synced video.</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course creator types a three-sentence answer about next week's assignment and forwards the student a 20-second video of his avatar saying it.</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HeyGen dominates, with other competitors behind it. Standing out on quality is hard. Possible novelty: a visible consent record and content marking, which are exactly what the category is criticised for.</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HeyGen</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Synthesia</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D-ID</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The consent and marking components suit opening. The avatar model itself is costly, and open code for cloning a likeness invites misuse.</a:t>
            </a:r>
            <a:endParaRPr lang="en-US" sz="1200" dirty="0"/>
          </a:p>
        </p:txBody>
      </p:sp>
      <p:sp>
        <p:nvSpPr>
          <p:cNvPr id="9" name="Text 7"/>
          <p:cNvSpPr/>
          <p:nvPr/>
        </p:nvSpPr>
        <p:spPr>
          <a:xfrm>
            <a:off x="609567" y="474628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Text message"/>
          <p:cNvPicPr>
            <a:picLocks noChangeAspect="1"/>
          </p:cNvPicPr>
          <p:nvPr/>
        </p:nvPicPr>
        <p:blipFill>
          <a:blip r:embed="rId6"/>
          <a:srcRect/>
          <a:stretch/>
        </p:blipFill>
        <p:spPr>
          <a:xfrm>
            <a:off x="7975593" y="1549177"/>
            <a:ext cx="761939" cy="761939"/>
          </a:xfrm>
          <a:prstGeom prst="rect">
            <a:avLst/>
          </a:prstGeom>
        </p:spPr>
      </p:pic>
      <p:sp>
        <p:nvSpPr>
          <p:cNvPr id="12" name="Text 9"/>
          <p:cNvSpPr/>
          <p:nvPr/>
        </p:nvSpPr>
        <p:spPr>
          <a:xfrm>
            <a:off x="7866146" y="2374578"/>
            <a:ext cx="980913"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Typed reply</a:t>
            </a:r>
            <a:endParaRPr lang="en-US" sz="1200" dirty="0"/>
          </a:p>
        </p:txBody>
      </p:sp>
      <p:pic>
        <p:nvPicPr>
          <p:cNvPr id="13" name="Image 1" descr="arrow-right"/>
          <p:cNvPicPr>
            <a:picLocks noChangeAspect="1"/>
          </p:cNvPicPr>
          <p:nvPr/>
        </p:nvPicPr>
        <p:blipFill>
          <a:blip r:embed="rId7"/>
          <a:srcRect l="-21" r="-21"/>
          <a:stretch/>
        </p:blipFill>
        <p:spPr>
          <a:xfrm>
            <a:off x="8902789" y="1989782"/>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Play"/>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Renders avatar</a:t>
            </a:r>
            <a:endParaRPr lang="en-US" sz="1200" dirty="0"/>
          </a:p>
        </p:txBody>
      </p:sp>
      <p:pic>
        <p:nvPicPr>
          <p:cNvPr id="17" name="Image 3" descr="arrow-right"/>
          <p:cNvPicPr>
            <a:picLocks noChangeAspect="1"/>
          </p:cNvPicPr>
          <p:nvPr/>
        </p:nvPicPr>
        <p:blipFill>
          <a:blip r:embed="rId7"/>
          <a:srcRect l="-21" r="-21"/>
          <a:stretch/>
        </p:blipFill>
        <p:spPr>
          <a:xfrm>
            <a:off x="10223639" y="1989782"/>
            <a:ext cx="228557" cy="126923"/>
          </a:xfrm>
          <a:prstGeom prst="rect">
            <a:avLst/>
          </a:prstGeom>
        </p:spPr>
      </p:pic>
      <p:pic>
        <p:nvPicPr>
          <p:cNvPr id="18" name="Image 4" descr="Talking head video"/>
          <p:cNvPicPr>
            <a:picLocks noChangeAspect="1"/>
          </p:cNvPicPr>
          <p:nvPr/>
        </p:nvPicPr>
        <p:blipFill>
          <a:blip r:embed="rId9"/>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Video answer</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#35</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16/30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course creators, coaches and customer-service staff.</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avatars: $6.3B in 2025, $93.4B by 2035 (30.6%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Global Market Insights</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The whole product is AI-generated video and voice.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39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Real-time Voice Translator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small business cannot sell abroad when its owner speaks one language. A machine voice makes the call cold and hurts trust, and dubbing studios cost too much for a single product video.</a:t>
            </a:r>
            <a:endParaRPr lang="en-US" sz="1200" dirty="0"/>
          </a:p>
        </p:txBody>
      </p:sp>
      <p:sp>
        <p:nvSpPr>
          <p:cNvPr id="5" name="Text 3"/>
          <p:cNvSpPr/>
          <p:nvPr/>
        </p:nvSpPr>
        <p:spPr>
          <a:xfrm>
            <a:off x="609567" y="1973263"/>
            <a:ext cx="7063919" cy="84814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voice translator that keeps the speaker's voice. In a live call the other side hears the translation in the user's voice after a short delay; for a recorded video the tool dubs it into another language in the same voice. Voice cloning happens only with the voice owner's consent.</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live speech or a video.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translated speech in the speaker's voice, or a dubbed video.</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shop owner speaks Hebrew with a supplier, who hears English in her voice. Later she dubs her product video into German.</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Apple launched Live Translation on AirPods in September 2025, and there are many dubbing services. Absorbed by platforms. The remaining angle: translation in the speaker's own voice, and small languages such as Hebrew that platforms serve less well.</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Apple Live Translation</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ElevenLabs Dubbing</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Rask AI</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Small languages and on-device use are what the platforms skip; a community adds and tests language pairs.</a:t>
            </a:r>
            <a:endParaRPr lang="en-US" sz="1200" dirty="0"/>
          </a:p>
        </p:txBody>
      </p:sp>
      <p:sp>
        <p:nvSpPr>
          <p:cNvPr id="9" name="Text 7"/>
          <p:cNvSpPr/>
          <p:nvPr/>
        </p:nvSpPr>
        <p:spPr>
          <a:xfrm>
            <a:off x="609567" y="47462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Partial contribution to audio understanding: low-latency live speech, including Hebrew.</a:t>
            </a:r>
            <a:endParaRPr lang="en-US" sz="1200" dirty="0"/>
          </a:p>
        </p:txBody>
      </p:sp>
      <p:sp>
        <p:nvSpPr>
          <p:cNvPr id="10" name="Shape 8"/>
          <p:cNvSpPr/>
          <p:nvPr/>
        </p:nvSpPr>
        <p:spPr>
          <a:xfrm>
            <a:off x="7772484" y="1280021"/>
            <a:ext cx="3809936" cy="1729322"/>
          </a:xfrm>
          <a:prstGeom prst="roundRect">
            <a:avLst>
              <a:gd name="adj" fmla="val 7344"/>
            </a:avLst>
          </a:prstGeom>
          <a:solidFill>
            <a:srgbClr val="ECE8DF"/>
          </a:solidFill>
          <a:ln/>
        </p:spPr>
        <p:txBody>
          <a:bodyPr/>
          <a:lstStyle/>
          <a:p>
            <a:endParaRPr/>
          </a:p>
        </p:txBody>
      </p:sp>
      <p:pic>
        <p:nvPicPr>
          <p:cNvPr id="11" name="Image 0" descr="Speech"/>
          <p:cNvPicPr>
            <a:picLocks noChangeAspect="1"/>
          </p:cNvPicPr>
          <p:nvPr/>
        </p:nvPicPr>
        <p:blipFill>
          <a:blip r:embed="rId6"/>
          <a:srcRect/>
          <a:stretch/>
        </p:blipFill>
        <p:spPr>
          <a:xfrm>
            <a:off x="7975593" y="1640582"/>
            <a:ext cx="761939" cy="761939"/>
          </a:xfrm>
          <a:prstGeom prst="rect">
            <a:avLst/>
          </a:prstGeom>
        </p:spPr>
      </p:pic>
      <p:sp>
        <p:nvSpPr>
          <p:cNvPr id="12" name="Text 9"/>
          <p:cNvSpPr/>
          <p:nvPr/>
        </p:nvSpPr>
        <p:spPr>
          <a:xfrm>
            <a:off x="7832909" y="2465983"/>
            <a:ext cx="1047305"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Your speech</a:t>
            </a:r>
            <a:endParaRPr lang="en-US" sz="1200" dirty="0"/>
          </a:p>
        </p:txBody>
      </p:sp>
      <p:pic>
        <p:nvPicPr>
          <p:cNvPr id="13" name="Image 1" descr="arrow-right"/>
          <p:cNvPicPr>
            <a:picLocks noChangeAspect="1"/>
          </p:cNvPicPr>
          <p:nvPr/>
        </p:nvPicPr>
        <p:blipFill>
          <a:blip r:embed="rId7"/>
          <a:srcRect l="-21" r="-21"/>
          <a:stretch/>
        </p:blipFill>
        <p:spPr>
          <a:xfrm>
            <a:off x="8902789" y="2081188"/>
            <a:ext cx="228557" cy="126923"/>
          </a:xfrm>
          <a:prstGeom prst="rect">
            <a:avLst/>
          </a:prstGeom>
        </p:spPr>
      </p:pic>
      <p:sp>
        <p:nvSpPr>
          <p:cNvPr id="14" name="Shape 10"/>
          <p:cNvSpPr/>
          <p:nvPr/>
        </p:nvSpPr>
        <p:spPr>
          <a:xfrm>
            <a:off x="9296443" y="1549177"/>
            <a:ext cx="761939" cy="761939"/>
          </a:xfrm>
          <a:prstGeom prst="roundRect">
            <a:avLst>
              <a:gd name="adj" fmla="val 50000"/>
            </a:avLst>
          </a:prstGeom>
          <a:solidFill>
            <a:srgbClr val="16202E"/>
          </a:solidFill>
          <a:ln/>
        </p:spPr>
        <p:txBody>
          <a:bodyPr/>
          <a:lstStyle/>
          <a:p>
            <a:endParaRPr/>
          </a:p>
        </p:txBody>
      </p:sp>
      <p:pic>
        <p:nvPicPr>
          <p:cNvPr id="15" name="Image 2" descr="Globe"/>
          <p:cNvPicPr>
            <a:picLocks noChangeAspect="1"/>
          </p:cNvPicPr>
          <p:nvPr/>
        </p:nvPicPr>
        <p:blipFill>
          <a:blip r:embed="rId8"/>
          <a:srcRect/>
          <a:stretch/>
        </p:blipFill>
        <p:spPr>
          <a:xfrm>
            <a:off x="9499632" y="1752352"/>
            <a:ext cx="355561" cy="355561"/>
          </a:xfrm>
          <a:prstGeom prst="rect">
            <a:avLst/>
          </a:prstGeom>
        </p:spPr>
      </p:pic>
      <p:sp>
        <p:nvSpPr>
          <p:cNvPr id="16" name="Text 11"/>
          <p:cNvSpPr/>
          <p:nvPr/>
        </p:nvSpPr>
        <p:spPr>
          <a:xfrm>
            <a:off x="9194857" y="2374578"/>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Translates live</a:t>
            </a:r>
            <a:endParaRPr lang="en-US" sz="1200" dirty="0"/>
          </a:p>
        </p:txBody>
      </p:sp>
      <p:pic>
        <p:nvPicPr>
          <p:cNvPr id="17" name="Image 3" descr="arrow-right"/>
          <p:cNvPicPr>
            <a:picLocks noChangeAspect="1"/>
          </p:cNvPicPr>
          <p:nvPr/>
        </p:nvPicPr>
        <p:blipFill>
          <a:blip r:embed="rId7"/>
          <a:srcRect l="-21" r="-21"/>
          <a:stretch/>
        </p:blipFill>
        <p:spPr>
          <a:xfrm>
            <a:off x="10223639" y="2081188"/>
            <a:ext cx="228557" cy="126923"/>
          </a:xfrm>
          <a:prstGeom prst="rect">
            <a:avLst/>
          </a:prstGeom>
        </p:spPr>
      </p:pic>
      <p:pic>
        <p:nvPicPr>
          <p:cNvPr id="18" name="Image 4" descr="Translated voice"/>
          <p:cNvPicPr>
            <a:picLocks noChangeAspect="1"/>
          </p:cNvPicPr>
          <p:nvPr/>
        </p:nvPicPr>
        <p:blipFill>
          <a:blip r:embed="rId9"/>
          <a:srcRect/>
          <a:stretch/>
        </p:blipFill>
        <p:spPr>
          <a:xfrm>
            <a:off x="10617292" y="1457771"/>
            <a:ext cx="761939" cy="761939"/>
          </a:xfrm>
          <a:prstGeom prst="rect">
            <a:avLst/>
          </a:prstGeom>
        </p:spPr>
      </p:pic>
      <p:sp>
        <p:nvSpPr>
          <p:cNvPr id="19" name="Text 12"/>
          <p:cNvSpPr/>
          <p:nvPr/>
        </p:nvSpPr>
        <p:spPr>
          <a:xfrm>
            <a:off x="10515706" y="2283172"/>
            <a:ext cx="965191" cy="573841"/>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Same voice, new language</a:t>
            </a:r>
            <a:endParaRPr lang="en-US" sz="1200" dirty="0"/>
          </a:p>
        </p:txBody>
      </p:sp>
      <p:sp>
        <p:nvSpPr>
          <p:cNvPr id="20" name="Shape 13"/>
          <p:cNvSpPr/>
          <p:nvPr/>
        </p:nvSpPr>
        <p:spPr>
          <a:xfrm>
            <a:off x="7775659" y="313945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21761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#39</a:t>
            </a:r>
            <a:endParaRPr lang="en-US" sz="2000" dirty="0"/>
          </a:p>
        </p:txBody>
      </p:sp>
      <p:sp>
        <p:nvSpPr>
          <p:cNvPr id="22" name="Text 15"/>
          <p:cNvSpPr/>
          <p:nvPr/>
        </p:nvSpPr>
        <p:spPr>
          <a:xfrm>
            <a:off x="7777607" y="349699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3136280"/>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21245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16/30</a:t>
            </a:r>
            <a:endParaRPr lang="en-US" sz="2000" dirty="0"/>
          </a:p>
        </p:txBody>
      </p:sp>
      <p:sp>
        <p:nvSpPr>
          <p:cNvPr id="25" name="Text 18"/>
          <p:cNvSpPr/>
          <p:nvPr/>
        </p:nvSpPr>
        <p:spPr>
          <a:xfrm>
            <a:off x="8738865" y="349183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313945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21761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49699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637286"/>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75156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small businesses selling abroad, and content creators.</a:t>
            </a:r>
            <a:endParaRPr lang="en-US" sz="1200" dirty="0"/>
          </a:p>
        </p:txBody>
      </p:sp>
      <p:sp>
        <p:nvSpPr>
          <p:cNvPr id="43" name="Text 36"/>
          <p:cNvSpPr/>
          <p:nvPr/>
        </p:nvSpPr>
        <p:spPr>
          <a:xfrm>
            <a:off x="7912132" y="5185718"/>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dubbing tools: $783M in 2023, $1.88B by 2030 (14.2%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Valuates Reports</a:t>
            </a:r>
            <a:endParaRPr lang="en-US" sz="1200" dirty="0"/>
          </a:p>
        </p:txBody>
      </p:sp>
      <p:sp>
        <p:nvSpPr>
          <p:cNvPr id="44" name="Text 37"/>
          <p:cNvSpPr/>
          <p:nvPr/>
        </p:nvSpPr>
        <p:spPr>
          <a:xfrm>
            <a:off x="7912132" y="5817994"/>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Speech recognition, translation and voice cloning at low latency.</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75"/>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40 of 50</a:t>
            </a:r>
            <a:endParaRPr lang="en-US" sz="1200" dirty="0"/>
          </a:p>
        </p:txBody>
      </p:sp>
      <p:sp>
        <p:nvSpPr>
          <p:cNvPr id="3" name="Text 1"/>
          <p:cNvSpPr>
            <a:spLocks noGrp="1"/>
          </p:cNvSpPr>
          <p:nvPr>
            <p:ph type="title"/>
          </p:nvPr>
        </p:nvSpPr>
        <p:spPr>
          <a:xfrm>
            <a:off x="609567" y="708521"/>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My Director</a:t>
            </a:r>
            <a:endParaRPr lang="en-US" sz="3000" dirty="0"/>
          </a:p>
        </p:txBody>
      </p:sp>
      <p:sp>
        <p:nvSpPr>
          <p:cNvPr id="4" name="Text 2"/>
          <p:cNvSpPr/>
          <p:nvPr/>
        </p:nvSpPr>
        <p:spPr>
          <a:xfrm>
            <a:off x="609567" y="1279996"/>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family returns from a trip with 600 photos and clips that nobody will sort, edit or watch again. The memories stay buried in the gallery, and the grandparents never see them.</a:t>
            </a:r>
            <a:endParaRPr lang="en-US" sz="1200" dirty="0"/>
          </a:p>
        </p:txBody>
      </p:sp>
      <p:sp>
        <p:nvSpPr>
          <p:cNvPr id="5" name="Text 3"/>
          <p:cNvSpPr/>
          <p:nvPr/>
        </p:nvSpPr>
        <p:spPr>
          <a:xfrm>
            <a:off x="609567" y="1767557"/>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personal director that turns the gallery into a weekly film. The agent picks the moments, writes a short narration that knows the family members, composes a soundtrack and delivers a 60-second film. The film stays an editable timeline, so a clip can be swapped without starting over.</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the phone's photo and video gallery.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60-second film with narration and soundtrack.</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The agent picks moments from the trip and adds narration and music. The mother swaps one clip and shares it with the grandparents.</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Google Photos already creates AI videos from the library, as do other gallery and editing apps. Differentiation is low. Possible novelty: personal narration with a memory of the family, and private on-device running.</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Google Photos</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A private on-device alternative to cloud galleries, from the same open editing engine; no natural contributor community.</a:t>
            </a:r>
            <a:endParaRPr lang="en-US" sz="1200" dirty="0"/>
          </a:p>
        </p:txBody>
      </p:sp>
      <p:sp>
        <p:nvSpPr>
          <p:cNvPr id="9" name="Text 7"/>
          <p:cNvSpPr/>
          <p:nvPr/>
        </p:nvSpPr>
        <p:spPr>
          <a:xfrm>
            <a:off x="609567" y="4746263"/>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Partial: selecting events from a large amount of video.</a:t>
            </a:r>
            <a:endParaRPr lang="en-US" sz="1200" dirty="0"/>
          </a:p>
        </p:txBody>
      </p:sp>
      <p:sp>
        <p:nvSpPr>
          <p:cNvPr id="10" name="Shape 8"/>
          <p:cNvSpPr/>
          <p:nvPr/>
        </p:nvSpPr>
        <p:spPr>
          <a:xfrm>
            <a:off x="7772484" y="1279996"/>
            <a:ext cx="3809936" cy="1546508"/>
          </a:xfrm>
          <a:prstGeom prst="roundRect">
            <a:avLst>
              <a:gd name="adj" fmla="val 8212"/>
            </a:avLst>
          </a:prstGeom>
          <a:solidFill>
            <a:srgbClr val="ECE8DF"/>
          </a:solidFill>
          <a:ln/>
        </p:spPr>
        <p:txBody>
          <a:bodyPr/>
          <a:lstStyle/>
          <a:p>
            <a:endParaRPr/>
          </a:p>
        </p:txBody>
      </p:sp>
      <p:pic>
        <p:nvPicPr>
          <p:cNvPr id="11" name="Image 0" descr="Photo gallery"/>
          <p:cNvPicPr>
            <a:picLocks noChangeAspect="1"/>
          </p:cNvPicPr>
          <p:nvPr/>
        </p:nvPicPr>
        <p:blipFill>
          <a:blip r:embed="rId4"/>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Phone gallery</a:t>
            </a:r>
            <a:endParaRPr lang="en-US" sz="1200" dirty="0"/>
          </a:p>
        </p:txBody>
      </p:sp>
      <p:pic>
        <p:nvPicPr>
          <p:cNvPr id="13" name="Image 1" descr="arrow-right"/>
          <p:cNvPicPr>
            <a:picLocks noChangeAspect="1"/>
          </p:cNvPicPr>
          <p:nvPr/>
        </p:nvPicPr>
        <p:blipFill>
          <a:blip r:embed="rId5"/>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Star"/>
          <p:cNvPicPr>
            <a:picLocks noChangeAspect="1"/>
          </p:cNvPicPr>
          <p:nvPr/>
        </p:nvPicPr>
        <p:blipFill>
          <a:blip r:embed="rId6"/>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Picks and narrates</a:t>
            </a:r>
            <a:endParaRPr lang="en-US" sz="1200" dirty="0"/>
          </a:p>
        </p:txBody>
      </p:sp>
      <p:pic>
        <p:nvPicPr>
          <p:cNvPr id="17" name="Image 3" descr="arrow-right"/>
          <p:cNvPicPr>
            <a:picLocks noChangeAspect="1"/>
          </p:cNvPicPr>
          <p:nvPr/>
        </p:nvPicPr>
        <p:blipFill>
          <a:blip r:embed="rId5"/>
          <a:srcRect l="-21" r="-21"/>
          <a:stretch/>
        </p:blipFill>
        <p:spPr>
          <a:xfrm>
            <a:off x="10223639" y="1989758"/>
            <a:ext cx="228557" cy="126923"/>
          </a:xfrm>
          <a:prstGeom prst="rect">
            <a:avLst/>
          </a:prstGeom>
        </p:spPr>
      </p:pic>
      <p:pic>
        <p:nvPicPr>
          <p:cNvPr id="18" name="Image 4" descr="Short film"/>
          <p:cNvPicPr>
            <a:picLocks noChangeAspect="1"/>
          </p:cNvPicPr>
          <p:nvPr/>
        </p:nvPicPr>
        <p:blipFill>
          <a:blip r:embed="rId7"/>
          <a:srcRect/>
          <a:stretch/>
        </p:blipFill>
        <p:spPr>
          <a:xfrm>
            <a:off x="10617292" y="1549152"/>
            <a:ext cx="761939" cy="761939"/>
          </a:xfrm>
          <a:prstGeom prst="rect">
            <a:avLst/>
          </a:prstGeom>
        </p:spPr>
      </p:pic>
      <p:sp>
        <p:nvSpPr>
          <p:cNvPr id="19" name="Text 12"/>
          <p:cNvSpPr/>
          <p:nvPr/>
        </p:nvSpPr>
        <p:spPr>
          <a:xfrm>
            <a:off x="10532884" y="2374553"/>
            <a:ext cx="930756"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Weekly film</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#40</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16/30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families and anyone who shoots a lot on the phone.</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AI video generators and editors: $0.6B in 2023, $9.3B by 2033 (30.7% CAGR). Source: </a:t>
            </a:r>
            <a:r>
              <a:rPr lang="en-US" sz="1200" u="sng" dirty="0">
                <a:solidFill>
                  <a:srgbClr val="F2B880"/>
                </a:solidFill>
                <a:latin typeface="Rubik" pitchFamily="34" charset="0"/>
                <a:ea typeface="Rubik" pitchFamily="34" charset="-122"/>
                <a:cs typeface="Rubik" pitchFamily="34" charset="-120"/>
                <a:hlinkClick r:id="rId8">
                  <a:extLst>
                    <a:ext uri="{A12FA001-AC4F-418D-AE19-62706E023703}">
                      <ahyp:hlinkClr xmlns:ahyp="http://schemas.microsoft.com/office/drawing/2018/hyperlinkcolor" val="tx"/>
                    </a:ext>
                  </a:extLst>
                </a:hlinkClick>
              </a:rPr>
              <a:t>Allied Market Research</a:t>
            </a:r>
            <a:endParaRPr lang="en-US" sz="1200" dirty="0"/>
          </a:p>
        </p:txBody>
      </p:sp>
      <p:sp>
        <p:nvSpPr>
          <p:cNvPr id="44" name="Text 37"/>
          <p:cNvSpPr/>
          <p:nvPr/>
        </p:nvSpPr>
        <p:spPr>
          <a:xfrm>
            <a:off x="7912132" y="5635159"/>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Choosing moments, writing narration and composing a soundtrack.</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Rubik" pitchFamily="34" charset="0"/>
                <a:ea typeface="Rubik" pitchFamily="34" charset="-122"/>
                <a:cs typeface="Rubik" pitchFamily="34" charset="-120"/>
              </a:rPr>
              <a:t>Media &amp; Sport · Lead: Amir · Rank 44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Document-to-Podcast</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Long reports arrive on Friday afternoon and stay unread. People have listening time on the way to work, not reading time at the desk, so they arrive at the discussion without knowing what the report says.</a:t>
            </a:r>
            <a:endParaRPr lang="en-US" sz="1200" dirty="0"/>
          </a:p>
        </p:txBody>
      </p:sp>
      <p:sp>
        <p:nvSpPr>
          <p:cNvPr id="5" name="Text 3"/>
          <p:cNvSpPr/>
          <p:nvPr/>
        </p:nvSpPr>
        <p:spPr>
          <a:xfrm>
            <a:off x="609567" y="1973263"/>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tool that rewrites a document as a spoken script and renders an audio episode from it. It selects the main findings, phrases them for the ear, not the eye, and puts a page reference for each finding in the notes, so anything surprising can be checked. It can render in the user's own voice.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PDF report, paper or policy.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spoken episode with page references.</a:t>
            </a:r>
            <a:endParaRPr lang="en-US" sz="1200" dirty="0"/>
          </a:p>
        </p:txBody>
      </p:sp>
      <p:sp>
        <p:nvSpPr>
          <p:cNvPr id="6" name="Text 4"/>
          <p:cNvSpPr/>
          <p:nvPr/>
        </p:nvSpPr>
        <p:spPr>
          <a:xfrm>
            <a:off x="609567" y="307786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40-page industry report becomes a 12-minute episode on its five main findings. The manager listens on the way home and checks one page.</a:t>
            </a:r>
            <a:endParaRPr lang="en-US" sz="1200" dirty="0"/>
          </a:p>
        </p:txBody>
      </p:sp>
      <p:sp>
        <p:nvSpPr>
          <p:cNvPr id="7" name="Text 5"/>
          <p:cNvSpPr/>
          <p:nvPr/>
        </p:nvSpPr>
        <p:spPr>
          <a:xfrm>
            <a:off x="609567" y="356542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NotebookLM's Audio Overviews drew wide attention, and open versions such as Podcastfy already exist. No novelty. Better kept as a narration skill for other apps, not as a product.</a:t>
            </a:r>
            <a:br>
              <a:rPr lang="en-US" sz="1200" dirty="0">
                <a:solidFill>
                  <a:srgbClr val="16202E"/>
                </a:solidFill>
                <a:latin typeface="Rubik" pitchFamily="34" charset="0"/>
                <a:ea typeface="Rubik" pitchFamily="34" charset="-122"/>
                <a:cs typeface="Rubik" pitchFamily="34" charset="-120"/>
              </a:rPr>
            </a:br>
            <a:r>
              <a:rPr lang="en-US" sz="1200" b="1" dirty="0">
                <a:solidFill>
                  <a:srgbClr val="1D4ED8"/>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1D4ED8"/>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NotebookLM</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1D4ED8"/>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Podcastfy</a:t>
            </a:r>
            <a:endParaRPr lang="en-US" sz="1200" dirty="0"/>
          </a:p>
        </p:txBody>
      </p:sp>
      <p:sp>
        <p:nvSpPr>
          <p:cNvPr id="8" name="Text 6"/>
          <p:cNvSpPr/>
          <p:nvPr/>
        </p:nvSpPr>
        <p:spPr>
          <a:xfrm>
            <a:off x="609567" y="446440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D4ED8"/>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Already exists in open source. Better to contribute to an existing project than start a new one.</a:t>
            </a:r>
            <a:endParaRPr lang="en-US" sz="1200" dirty="0"/>
          </a:p>
        </p:txBody>
      </p:sp>
      <p:sp>
        <p:nvSpPr>
          <p:cNvPr id="9" name="Text 7"/>
          <p:cNvSpPr/>
          <p:nvPr/>
        </p:nvSpPr>
        <p:spPr>
          <a:xfrm>
            <a:off x="609567" y="495196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PDF document"/>
          <p:cNvPicPr>
            <a:picLocks noChangeAspect="1"/>
          </p:cNvPicPr>
          <p:nvPr/>
        </p:nvPicPr>
        <p:blipFill>
          <a:blip r:embed="rId5"/>
          <a:srcRect/>
          <a:stretch/>
        </p:blipFill>
        <p:spPr>
          <a:xfrm>
            <a:off x="7975593" y="1549152"/>
            <a:ext cx="761939" cy="761939"/>
          </a:xfrm>
          <a:prstGeom prst="rect">
            <a:avLst/>
          </a:prstGeom>
        </p:spPr>
      </p:pic>
      <p:sp>
        <p:nvSpPr>
          <p:cNvPr id="12" name="Text 9"/>
          <p:cNvSpPr/>
          <p:nvPr/>
        </p:nvSpPr>
        <p:spPr>
          <a:xfrm>
            <a:off x="7946165" y="2374553"/>
            <a:ext cx="820874"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Long PDF</a:t>
            </a:r>
            <a:endParaRPr lang="en-US" sz="1200" dirty="0"/>
          </a:p>
        </p:txBody>
      </p:sp>
      <p:pic>
        <p:nvPicPr>
          <p:cNvPr id="13" name="Image 1" descr="arrow-right"/>
          <p:cNvPicPr>
            <a:picLocks noChangeAspect="1"/>
          </p:cNvPicPr>
          <p:nvPr/>
        </p:nvPicPr>
        <p:blipFill>
          <a:blip r:embed="rId6"/>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Book"/>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Writes a script</a:t>
            </a:r>
            <a:endParaRPr lang="en-US" sz="1200" dirty="0"/>
          </a:p>
        </p:txBody>
      </p:sp>
      <p:pic>
        <p:nvPicPr>
          <p:cNvPr id="17" name="Image 3" descr="arrow-right"/>
          <p:cNvPicPr>
            <a:picLocks noChangeAspect="1"/>
          </p:cNvPicPr>
          <p:nvPr/>
        </p:nvPicPr>
        <p:blipFill>
          <a:blip r:embed="rId6"/>
          <a:srcRect l="-21" r="-21"/>
          <a:stretch/>
        </p:blipFill>
        <p:spPr>
          <a:xfrm>
            <a:off x="10223639" y="1989758"/>
            <a:ext cx="228557" cy="126923"/>
          </a:xfrm>
          <a:prstGeom prst="rect">
            <a:avLst/>
          </a:prstGeom>
        </p:spPr>
      </p:pic>
      <p:pic>
        <p:nvPicPr>
          <p:cNvPr id="18" name="Image 4" descr="Audio episode"/>
          <p:cNvPicPr>
            <a:picLocks noChangeAspect="1"/>
          </p:cNvPicPr>
          <p:nvPr/>
        </p:nvPicPr>
        <p:blipFill>
          <a:blip r:embed="rId8"/>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Audio episode</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D4ED8"/>
                </a:solidFill>
                <a:latin typeface="Rubik" pitchFamily="34" charset="0"/>
                <a:ea typeface="Rubik" pitchFamily="34" charset="-122"/>
                <a:cs typeface="Rubik" pitchFamily="34" charset="-120"/>
              </a:rPr>
              <a:t>#44</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15/30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managers, students and anyone with listening time on the road.</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text-to-speech: $4.0B in 2024, $7.6B by 2029 (13.7%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MarketsandMarkets</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but already a standard feature in study apps.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2">
    <p:bg>
      <p:bgPr>
        <a:solidFill>
          <a:srgbClr val="C2410C"/>
        </a:solidFill>
        <a:effectLst/>
      </p:bgPr>
    </p:bg>
    <p:spTree>
      <p:nvGrpSpPr>
        <p:cNvPr id="1" name=""/>
        <p:cNvGrpSpPr/>
        <p:nvPr/>
      </p:nvGrpSpPr>
      <p:grpSpPr>
        <a:xfrm>
          <a:off x="0" y="0"/>
          <a:ext cx="0" cy="0"/>
          <a:chOff x="0" y="0"/>
          <a:chExt cx="0" cy="0"/>
        </a:xfrm>
      </p:grpSpPr>
      <p:sp>
        <p:nvSpPr>
          <p:cNvPr id="2" name="Text 0"/>
          <p:cNvSpPr/>
          <p:nvPr/>
        </p:nvSpPr>
        <p:spPr>
          <a:xfrm>
            <a:off x="812756" y="812750"/>
            <a:ext cx="10883469" cy="238656"/>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7F5F0"/>
                </a:solidFill>
                <a:latin typeface="Rubik" pitchFamily="34" charset="0"/>
                <a:ea typeface="Rubik" pitchFamily="34" charset="-122"/>
                <a:cs typeface="Rubik" pitchFamily="34" charset="-120"/>
              </a:rPr>
              <a:t>TEAM 3 · LEAD: NIZZAN · 19 IDEAS · 4 OF THE TOP 10</a:t>
            </a:r>
            <a:endParaRPr lang="en-US" sz="1200" dirty="0"/>
          </a:p>
        </p:txBody>
      </p:sp>
      <p:sp>
        <p:nvSpPr>
          <p:cNvPr id="3" name="Text 1"/>
          <p:cNvSpPr>
            <a:spLocks noGrp="1"/>
          </p:cNvSpPr>
          <p:nvPr>
            <p:ph type="title"/>
          </p:nvPr>
        </p:nvSpPr>
        <p:spPr>
          <a:xfrm>
            <a:off x="812756" y="2398737"/>
            <a:ext cx="10883469" cy="825512"/>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5F0"/>
                </a:solidFill>
                <a:latin typeface="Rubik" pitchFamily="34" charset="0"/>
                <a:ea typeface="Rubik" pitchFamily="34" charset="-122"/>
                <a:cs typeface="Rubik" pitchFamily="34" charset="-120"/>
              </a:rPr>
              <a:t>Family &amp; Learning</a:t>
            </a:r>
            <a:endParaRPr lang="en-US" sz="6000" dirty="0"/>
          </a:p>
        </p:txBody>
      </p:sp>
      <p:sp>
        <p:nvSpPr>
          <p:cNvPr id="4" name="Text 2"/>
          <p:cNvSpPr/>
          <p:nvPr/>
        </p:nvSpPr>
        <p:spPr>
          <a:xfrm>
            <a:off x="812756" y="3402037"/>
            <a:ext cx="10883469" cy="1072995"/>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F7F5F0"/>
                </a:solidFill>
                <a:latin typeface="Rubik" pitchFamily="34" charset="0"/>
                <a:ea typeface="Rubik" pitchFamily="34" charset="-122"/>
                <a:cs typeface="Rubik" pitchFamily="34" charset="-120"/>
              </a:rPr>
              <a:t>Children, parents, grandparents, the home and the classroom. ATARI's three core demos sit here, so this team builds the spatial memory and the consent and privacy work.</a:t>
            </a:r>
            <a:endParaRPr lang="en-US" sz="2200" dirty="0"/>
          </a:p>
        </p:txBody>
      </p:sp>
      <p:sp>
        <p:nvSpPr>
          <p:cNvPr id="5" name="Text 3"/>
          <p:cNvSpPr/>
          <p:nvPr/>
        </p:nvSpPr>
        <p:spPr>
          <a:xfrm>
            <a:off x="812756" y="5822330"/>
            <a:ext cx="10883469" cy="2482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7F5F0"/>
                </a:solidFill>
                <a:latin typeface="Rubik" pitchFamily="34" charset="0"/>
                <a:ea typeface="Rubik" pitchFamily="34" charset="-122"/>
                <a:cs typeface="Rubik" pitchFamily="34" charset="-120"/>
              </a:rPr>
              <a:t>Lead bets: Inkwell (runs first) · Camera Companion · Living Drawing · Listen to the Machine · Fridge-to-Table · Lecture-to-Notes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6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Added idea · Runs first</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Inkwell</a:t>
            </a:r>
            <a:endParaRPr lang="en-US" sz="3000" dirty="0"/>
          </a:p>
        </p:txBody>
      </p:sp>
      <p:sp>
        <p:nvSpPr>
          <p:cNvPr id="4" name="Text 2"/>
          <p:cNvSpPr/>
          <p:nvPr/>
        </p:nvSpPr>
        <p:spPr>
          <a:xfrm>
            <a:off x="609567" y="1280021"/>
            <a:ext cx="7063919" cy="64222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Parents and teachers want a book about this child and this week's subject: a new sibling, the first day at nursery, a lost tooth. Writing and illustrating one takes skills and weeks they do not have, and bought "personalised" books mostly swap in the name.</a:t>
            </a:r>
            <a:endParaRPr lang="en-US" sz="1200" dirty="0"/>
          </a:p>
        </p:txBody>
      </p:sp>
      <p:sp>
        <p:nvSpPr>
          <p:cNvPr id="5" name="Text 3"/>
          <p:cNvSpPr/>
          <p:nvPr/>
        </p:nvSpPr>
        <p:spPr>
          <a:xfrm>
            <a:off x="609567" y="1973026"/>
            <a:ext cx="7063919" cy="12594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book studio that starts from one prompt. The agent writes the story for the child's age, fixes a character sheet so the hero looks the same on every page, illustrates each spread, lays out the pages and checks its own result page by page before export. The parent edits any page by text or voice. Hebrew and right-to-left layout are built in.</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one-line idea, the child's name and age, optionally a photo or a drawing.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an illustrated book as a print-ready PDF and a read-aloud e-book.</a:t>
            </a:r>
            <a:endParaRPr lang="en-US" sz="1200" dirty="0"/>
          </a:p>
        </p:txBody>
      </p:sp>
      <p:sp>
        <p:nvSpPr>
          <p:cNvPr id="6" name="Text 4"/>
          <p:cNvSpPr/>
          <p:nvPr/>
        </p:nvSpPr>
        <p:spPr>
          <a:xfrm>
            <a:off x="609567" y="3283251"/>
            <a:ext cx="7063919" cy="4364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"Noa is afraid of her first day at nursery." A few minutes later: a 12-page book in which Noa and her toy rabbit look the same on every page, ready to print.</a:t>
            </a:r>
            <a:endParaRPr lang="en-US" sz="1200" dirty="0"/>
          </a:p>
        </p:txBody>
      </p:sp>
      <p:sp>
        <p:nvSpPr>
          <p:cNvPr id="7" name="Text 5"/>
          <p:cNvSpPr/>
          <p:nvPr/>
        </p:nvSpPr>
        <p:spPr>
          <a:xfrm>
            <a:off x="609567" y="3770516"/>
            <a:ext cx="7063919" cy="10537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Google's Gemini Storybook makes a short book from a prompt; reviewers found characters changing between pages, and it has no direct page editing. Modular already runs a storybook demo called Inkwell, so the name needs checking. Novelty: consistency checked by the agent, page editing, print-ready layout and Hebrew.</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2">
                  <a:extLst>
                    <a:ext uri="{A12FA001-AC4F-418D-AE19-62706E023703}">
                      <ahyp:hlinkClr xmlns:ahyp="http://schemas.microsoft.com/office/drawing/2018/hyperlinkcolor" val="tx"/>
                    </a:ext>
                  </a:extLst>
                </a:hlinkClick>
              </a:rPr>
              <a:t>Gemini Storybook</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StoryBee</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Childbook.ai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Inkwell by Modular</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6">
                  <a:extLst>
                    <a:ext uri="{A12FA001-AC4F-418D-AE19-62706E023703}">
                      <ahyp:hlinkClr xmlns:ahyp="http://schemas.microsoft.com/office/drawing/2018/hyperlinkcolor" val="tx"/>
                    </a:ext>
                  </a:extLst>
                </a:hlinkClick>
              </a:rPr>
              <a:t>AniSipur</a:t>
            </a:r>
            <a:endParaRPr lang="en-US" sz="1200" dirty="0"/>
          </a:p>
        </p:txBody>
      </p:sp>
      <p:sp>
        <p:nvSpPr>
          <p:cNvPr id="8" name="Text 6"/>
          <p:cNvSpPr/>
          <p:nvPr/>
        </p:nvSpPr>
        <p:spPr>
          <a:xfrm>
            <a:off x="609567" y="4875001"/>
            <a:ext cx="7063919" cy="4364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An open pipeline of story, character sheet, illustration and layout. Parents, teachers and illustrators can contribute styles and languages.</a:t>
            </a:r>
            <a:endParaRPr lang="en-US" sz="1200" dirty="0"/>
          </a:p>
        </p:txBody>
      </p:sp>
      <p:sp>
        <p:nvSpPr>
          <p:cNvPr id="9" name="Text 7"/>
          <p:cNvSpPr/>
          <p:nvPr/>
        </p:nvSpPr>
        <p:spPr>
          <a:xfrm>
            <a:off x="609567" y="5362266"/>
            <a:ext cx="7063919" cy="2307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 Shares the story engine with Living Drawing and Bedtime Story.</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hild"/>
          <p:cNvPicPr>
            <a:picLocks noChangeAspect="1"/>
          </p:cNvPicPr>
          <p:nvPr/>
        </p:nvPicPr>
        <p:blipFill>
          <a:blip r:embed="rId7"/>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One-line idea</a:t>
            </a:r>
            <a:endParaRPr lang="en-US" sz="1200" dirty="0"/>
          </a:p>
        </p:txBody>
      </p:sp>
      <p:pic>
        <p:nvPicPr>
          <p:cNvPr id="13" name="Image 1" descr="arrow-right"/>
          <p:cNvPicPr>
            <a:picLocks noChangeAspect="1"/>
          </p:cNvPicPr>
          <p:nvPr/>
        </p:nvPicPr>
        <p:blipFill>
          <a:blip r:embed="rId8"/>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Star"/>
          <p:cNvPicPr>
            <a:picLocks noChangeAspect="1"/>
          </p:cNvPicPr>
          <p:nvPr/>
        </p:nvPicPr>
        <p:blipFill>
          <a:blip r:embed="rId9"/>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Writes and draws</a:t>
            </a:r>
            <a:endParaRPr lang="en-US" sz="1200" dirty="0"/>
          </a:p>
        </p:txBody>
      </p:sp>
      <p:pic>
        <p:nvPicPr>
          <p:cNvPr id="17" name="Image 3" descr="arrow-right"/>
          <p:cNvPicPr>
            <a:picLocks noChangeAspect="1"/>
          </p:cNvPicPr>
          <p:nvPr/>
        </p:nvPicPr>
        <p:blipFill>
          <a:blip r:embed="rId8"/>
          <a:srcRect l="-21" r="-21"/>
          <a:stretch/>
        </p:blipFill>
        <p:spPr>
          <a:xfrm>
            <a:off x="10223639" y="1989758"/>
            <a:ext cx="228557" cy="126923"/>
          </a:xfrm>
          <a:prstGeom prst="rect">
            <a:avLst/>
          </a:prstGeom>
        </p:spPr>
      </p:pic>
      <p:pic>
        <p:nvPicPr>
          <p:cNvPr id="18" name="Image 4" descr="Story book"/>
          <p:cNvPicPr>
            <a:picLocks noChangeAspect="1"/>
          </p:cNvPicPr>
          <p:nvPr/>
        </p:nvPicPr>
        <p:blipFill>
          <a:blip r:embed="rId10"/>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Illustrated book</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Wk 1</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Starts</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19/30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88919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parents of children aged 2 to 8, nursery and primary teachers, grandparents.</a:t>
            </a:r>
            <a:endParaRPr lang="en-US" sz="1200" dirty="0"/>
          </a:p>
        </p:txBody>
      </p:sp>
      <p:sp>
        <p:nvSpPr>
          <p:cNvPr id="43" name="Text 36"/>
          <p:cNvSpPr/>
          <p:nvPr/>
        </p:nvSpPr>
        <p:spPr>
          <a:xfrm>
            <a:off x="7912132" y="5002882"/>
            <a:ext cx="3636560" cy="81771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children's books: $15.2B in 2024, $24.6B by 2033; US personalised children's books: $661M. Source: </a:t>
            </a:r>
            <a:r>
              <a:rPr lang="en-US" sz="1200" u="sng" dirty="0">
                <a:solidFill>
                  <a:srgbClr val="F2B880"/>
                </a:solidFill>
                <a:latin typeface="Rubik" pitchFamily="34" charset="0"/>
                <a:ea typeface="Rubik" pitchFamily="34" charset="-122"/>
                <a:cs typeface="Rubik" pitchFamily="34" charset="-120"/>
                <a:hlinkClick r:id="rId11">
                  <a:extLst>
                    <a:ext uri="{A12FA001-AC4F-418D-AE19-62706E023703}">
                      <ahyp:hlinkClr xmlns:ahyp="http://schemas.microsoft.com/office/drawing/2018/hyperlinkcolor" val="tx"/>
                    </a:ext>
                  </a:extLst>
                </a:hlinkClick>
              </a:rPr>
              <a:t>DataHorizzon Research</a:t>
            </a:r>
            <a:r>
              <a:rPr lang="en-US" sz="1200" dirty="0">
                <a:solidFill>
                  <a:srgbClr val="F7F5F0"/>
                </a:solidFill>
                <a:latin typeface="Rubik" pitchFamily="34" charset="0"/>
                <a:ea typeface="Rubik" pitchFamily="34" charset="-122"/>
                <a:cs typeface="Rubik" pitchFamily="34" charset="-120"/>
              </a:rPr>
              <a:t>, </a:t>
            </a:r>
            <a:r>
              <a:rPr lang="en-US" sz="1200" u="sng" dirty="0">
                <a:solidFill>
                  <a:srgbClr val="F2B880"/>
                </a:solidFill>
                <a:latin typeface="Rubik" pitchFamily="34" charset="0"/>
                <a:ea typeface="Rubik" pitchFamily="34" charset="-122"/>
                <a:cs typeface="Rubik" pitchFamily="34" charset="-120"/>
                <a:hlinkClick r:id="rId12">
                  <a:extLst>
                    <a:ext uri="{A12FA001-AC4F-418D-AE19-62706E023703}">
                      <ahyp:hlinkClr xmlns:ahyp="http://schemas.microsoft.com/office/drawing/2018/hyperlinkcolor" val="tx"/>
                    </a:ext>
                  </a:extLst>
                </a:hlinkClick>
              </a:rPr>
              <a:t>Data Bridge Market Research</a:t>
            </a:r>
            <a:endParaRPr lang="en-US" sz="1200" dirty="0"/>
          </a:p>
        </p:txBody>
      </p:sp>
      <p:sp>
        <p:nvSpPr>
          <p:cNvPr id="44" name="Text 37"/>
          <p:cNvSpPr/>
          <p:nvPr/>
        </p:nvSpPr>
        <p:spPr>
          <a:xfrm>
            <a:off x="7912132" y="583330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Writing, consistent illustration, layout and self-checking in one agent.</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2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Camera Companion</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person who is blind or has low vision cannot read a bus sign or a price label, or find their way around an unfamiliar room, without asking someone for help. Every trip out of the house depends on another person being available.</a:t>
            </a:r>
            <a:endParaRPr lang="en-US" sz="1200" dirty="0"/>
          </a:p>
        </p:txBody>
      </p:sp>
      <p:sp>
        <p:nvSpPr>
          <p:cNvPr id="5" name="Text 3"/>
          <p:cNvSpPr/>
          <p:nvPr/>
        </p:nvSpPr>
        <p:spPr>
          <a:xfrm>
            <a:off x="609567" y="1973263"/>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Talking eyes on the phone. The user points the camera, and the app describes aloud and in real time what is in front of them: obstacles, signs, text, products and the scene, and it answers follow-up questions. Because people act on what it says, it says so plainly when it is unsure.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live phone camera.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spoken description and answers to questions.</a:t>
            </a:r>
            <a:endParaRPr lang="en-US" sz="1200" dirty="0"/>
          </a:p>
        </p:txBody>
      </p:sp>
      <p:sp>
        <p:nvSpPr>
          <p:cNvPr id="6" name="Text 4"/>
          <p:cNvSpPr/>
          <p:nvPr/>
        </p:nvSpPr>
        <p:spPr>
          <a:xfrm>
            <a:off x="609567" y="307789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"Bus stop on your right. The sign shows line 18, arriving in four minutes. There is a bench with one free seat."</a:t>
            </a:r>
            <a:endParaRPr lang="en-US" sz="1200" dirty="0"/>
          </a:p>
        </p:txBody>
      </p:sp>
      <p:sp>
        <p:nvSpPr>
          <p:cNvPr id="7" name="Text 5"/>
          <p:cNvSpPr/>
          <p:nvPr/>
        </p:nvSpPr>
        <p:spPr>
          <a:xfrm>
            <a:off x="609567" y="3565451"/>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Be My Eyes dominates, and its feature also runs on Ray-Ban Meta glasses. A newcomer would be welcomed and would not replace it. Novelty: Hebrew, Arabic and small languages, and a spatial memory of familiar places such as the home.</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Be My Eyes</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Seeing AI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Envision</a:t>
            </a:r>
            <a:endParaRPr lang="en-US" sz="1200" dirty="0"/>
          </a:p>
        </p:txBody>
      </p:sp>
      <p:sp>
        <p:nvSpPr>
          <p:cNvPr id="8" name="Text 6"/>
          <p:cNvSpPr/>
          <p:nvPr/>
        </p:nvSpPr>
        <p:spPr>
          <a:xfrm>
            <a:off x="609567" y="446443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Accessibility attracts volunteers. A free version with local language packs is a contribution a community joins.</a:t>
            </a:r>
            <a:endParaRPr lang="en-US" sz="1200" dirty="0"/>
          </a:p>
        </p:txBody>
      </p:sp>
      <p:sp>
        <p:nvSpPr>
          <p:cNvPr id="9" name="Text 7"/>
          <p:cNvSpPr/>
          <p:nvPr/>
        </p:nvSpPr>
        <p:spPr>
          <a:xfrm>
            <a:off x="609567" y="495196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5/5.</a:t>
            </a:r>
            <a:r>
              <a:rPr lang="en-US" sz="1200" dirty="0">
                <a:solidFill>
                  <a:srgbClr val="16202E"/>
                </a:solidFill>
                <a:latin typeface="Rubik" pitchFamily="34" charset="0"/>
                <a:ea typeface="Rubik" pitchFamily="34" charset="-122"/>
                <a:cs typeface="Rubik" pitchFamily="34" charset="-120"/>
              </a:rPr>
              <a:t> A core demo in the ATARI deck. It builds perception ingest: see, describe and answer within a latency budget. In 2027 this is the robot's perception.</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Phone camera"/>
          <p:cNvPicPr>
            <a:picLocks noChangeAspect="1"/>
          </p:cNvPicPr>
          <p:nvPr/>
        </p:nvPicPr>
        <p:blipFill>
          <a:blip r:embed="rId6"/>
          <a:srcRect/>
          <a:stretch/>
        </p:blipFill>
        <p:spPr>
          <a:xfrm>
            <a:off x="7975593" y="1457771"/>
            <a:ext cx="761939" cy="761939"/>
          </a:xfrm>
          <a:prstGeom prst="rect">
            <a:avLst/>
          </a:prstGeom>
        </p:spPr>
      </p:pic>
      <p:sp>
        <p:nvSpPr>
          <p:cNvPr id="12" name="Text 9"/>
          <p:cNvSpPr/>
          <p:nvPr/>
        </p:nvSpPr>
        <p:spPr>
          <a:xfrm>
            <a:off x="787400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Phone camera</a:t>
            </a:r>
            <a:endParaRPr lang="en-US" sz="1200" dirty="0"/>
          </a:p>
        </p:txBody>
      </p:sp>
      <p:pic>
        <p:nvPicPr>
          <p:cNvPr id="13" name="Image 1" descr="arrow-right"/>
          <p:cNvPicPr>
            <a:picLocks noChangeAspect="1"/>
          </p:cNvPicPr>
          <p:nvPr/>
        </p:nvPicPr>
        <p:blipFill>
          <a:blip r:embed="rId7"/>
          <a:srcRect l="-21" r="-21"/>
          <a:stretch/>
        </p:blipFill>
        <p:spPr>
          <a:xfrm>
            <a:off x="8902789" y="1989782"/>
            <a:ext cx="228557" cy="126923"/>
          </a:xfrm>
          <a:prstGeom prst="rect">
            <a:avLst/>
          </a:prstGeom>
        </p:spPr>
      </p:pic>
      <p:sp>
        <p:nvSpPr>
          <p:cNvPr id="14" name="Shape 10"/>
          <p:cNvSpPr/>
          <p:nvPr/>
        </p:nvSpPr>
        <p:spPr>
          <a:xfrm>
            <a:off x="9296443" y="1549177"/>
            <a:ext cx="761939" cy="761939"/>
          </a:xfrm>
          <a:prstGeom prst="roundRect">
            <a:avLst>
              <a:gd name="adj" fmla="val 50000"/>
            </a:avLst>
          </a:prstGeom>
          <a:solidFill>
            <a:srgbClr val="16202E"/>
          </a:solidFill>
          <a:ln/>
        </p:spPr>
        <p:txBody>
          <a:bodyPr/>
          <a:lstStyle/>
          <a:p>
            <a:endParaRPr/>
          </a:p>
        </p:txBody>
      </p:sp>
      <p:pic>
        <p:nvPicPr>
          <p:cNvPr id="15" name="Image 2" descr="Search"/>
          <p:cNvPicPr>
            <a:picLocks noChangeAspect="1"/>
          </p:cNvPicPr>
          <p:nvPr/>
        </p:nvPicPr>
        <p:blipFill>
          <a:blip r:embed="rId8"/>
          <a:srcRect/>
          <a:stretch/>
        </p:blipFill>
        <p:spPr>
          <a:xfrm>
            <a:off x="9499632" y="1752352"/>
            <a:ext cx="355561" cy="355561"/>
          </a:xfrm>
          <a:prstGeom prst="rect">
            <a:avLst/>
          </a:prstGeom>
        </p:spPr>
      </p:pic>
      <p:sp>
        <p:nvSpPr>
          <p:cNvPr id="16" name="Text 11"/>
          <p:cNvSpPr/>
          <p:nvPr/>
        </p:nvSpPr>
        <p:spPr>
          <a:xfrm>
            <a:off x="9155209" y="2374578"/>
            <a:ext cx="1044406"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Sees for you</a:t>
            </a:r>
            <a:endParaRPr lang="en-US" sz="1200" dirty="0"/>
          </a:p>
        </p:txBody>
      </p:sp>
      <p:pic>
        <p:nvPicPr>
          <p:cNvPr id="17" name="Image 3" descr="arrow-right"/>
          <p:cNvPicPr>
            <a:picLocks noChangeAspect="1"/>
          </p:cNvPicPr>
          <p:nvPr/>
        </p:nvPicPr>
        <p:blipFill>
          <a:blip r:embed="rId7"/>
          <a:srcRect l="-21" r="-21"/>
          <a:stretch/>
        </p:blipFill>
        <p:spPr>
          <a:xfrm>
            <a:off x="10223639" y="1989782"/>
            <a:ext cx="228557" cy="126923"/>
          </a:xfrm>
          <a:prstGeom prst="rect">
            <a:avLst/>
          </a:prstGeom>
        </p:spPr>
      </p:pic>
      <p:pic>
        <p:nvPicPr>
          <p:cNvPr id="18" name="Image 4" descr="Spoken narration"/>
          <p:cNvPicPr>
            <a:picLocks noChangeAspect="1"/>
          </p:cNvPicPr>
          <p:nvPr/>
        </p:nvPicPr>
        <p:blipFill>
          <a:blip r:embed="rId9"/>
          <a:srcRect/>
          <a:stretch/>
        </p:blipFill>
        <p:spPr>
          <a:xfrm>
            <a:off x="10617292" y="1457771"/>
            <a:ext cx="761939" cy="761939"/>
          </a:xfrm>
          <a:prstGeom prst="rect">
            <a:avLst/>
          </a:prstGeom>
        </p:spPr>
      </p:pic>
      <p:sp>
        <p:nvSpPr>
          <p:cNvPr id="19" name="Text 12"/>
          <p:cNvSpPr/>
          <p:nvPr/>
        </p:nvSpPr>
        <p:spPr>
          <a:xfrm>
            <a:off x="10515706"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Spoken description</a:t>
            </a:r>
            <a:endParaRPr lang="en-US" sz="1200" dirty="0"/>
          </a:p>
        </p:txBody>
      </p:sp>
      <p:sp>
        <p:nvSpPr>
          <p:cNvPr id="20" name="Shape 13"/>
          <p:cNvSpPr/>
          <p:nvPr/>
        </p:nvSpPr>
        <p:spPr>
          <a:xfrm>
            <a:off x="7775659"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#2</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69"/>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23/30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75"/>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5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blind and low-vision people, and the relatives who accompany them.</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assistive tech for the visually impaired: $3.9B in 2024, $11.0B by 2032 (13.8%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Credence Research</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Before vision-language models this needed a human volunteer.</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75"/>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4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Living Drawing</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Children's screen time is passive, and parents feel guilty about it. A drawing goes on the fridge and the story ends there. Existing apps animate the drawing once and forget it, and the child loses interest after a day.</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The character the child drew comes to life and stays. The agent turns the drawing into an animated character with a voice, a personality and a memory of the child, and builds a plot that advances only when the child draws more. So the screen sends the child back to paper and crayons. Parents control the content.</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photo of the drawing and the child's voice.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an animated character that talks, and an ongoing story.</a:t>
            </a:r>
            <a:endParaRPr lang="en-US" sz="1200" dirty="0"/>
          </a:p>
        </p:txBody>
      </p:sp>
      <p:sp>
        <p:nvSpPr>
          <p:cNvPr id="6" name="Text 4"/>
          <p:cNvSpPr/>
          <p:nvPr/>
        </p:nvSpPr>
        <p:spPr>
          <a:xfrm>
            <a:off x="609567" y="328354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girl photographs a dragon she drew. It gets a voice, talks to her and asks her to draw it a house. Next day she draws the house and the dragon moves in.</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One roundup lists seven apps that bring a drawing to life, including Meta's free Animated Drawings and SKETCH. None was found with a character that remembers the child and a story that advances only with a new drawing. That is our opening.</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Animated Drawings</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SKETCH</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SketchPop</a:t>
            </a:r>
            <a:endParaRPr lang="en-US" sz="1200" dirty="0"/>
          </a:p>
        </p:txBody>
      </p:sp>
      <p:sp>
        <p:nvSpPr>
          <p:cNvPr id="8" name="Text 6"/>
          <p:cNvSpPr/>
          <p:nvPr/>
        </p:nvSpPr>
        <p:spPr>
          <a:xfrm>
            <a:off x="609567" y="46700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Build on the open Animated Drawings and publish the missing part: character memory and the story engine, with parental controls that can be inspected in the code.</a:t>
            </a:r>
            <a:endParaRPr lang="en-US" sz="1200" dirty="0"/>
          </a:p>
        </p:txBody>
      </p:sp>
      <p:sp>
        <p:nvSpPr>
          <p:cNvPr id="9" name="Text 7"/>
          <p:cNvSpPr/>
          <p:nvPr/>
        </p:nvSpPr>
        <p:spPr>
          <a:xfrm>
            <a:off x="609567" y="5157649"/>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 The value here is buzz and a demo understood in ten seconds.</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hild's drawing on paper"/>
          <p:cNvPicPr>
            <a:picLocks noChangeAspect="1"/>
          </p:cNvPicPr>
          <p:nvPr/>
        </p:nvPicPr>
        <p:blipFill>
          <a:blip r:embed="rId6"/>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Child's drawing</a:t>
            </a:r>
            <a:endParaRPr lang="en-US" sz="1200" dirty="0"/>
          </a:p>
        </p:txBody>
      </p:sp>
      <p:pic>
        <p:nvPicPr>
          <p:cNvPr id="13" name="Image 1" descr="arrow-right"/>
          <p:cNvPicPr>
            <a:picLocks noChangeAspect="1"/>
          </p:cNvPicPr>
          <p:nvPr/>
        </p:nvPicPr>
        <p:blipFill>
          <a:blip r:embed="rId7"/>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Lightning"/>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Animates, remembers</a:t>
            </a:r>
            <a:endParaRPr lang="en-US" sz="1200" dirty="0"/>
          </a:p>
        </p:txBody>
      </p:sp>
      <p:pic>
        <p:nvPicPr>
          <p:cNvPr id="17" name="Image 3" descr="arrow-right"/>
          <p:cNvPicPr>
            <a:picLocks noChangeAspect="1"/>
          </p:cNvPicPr>
          <p:nvPr/>
        </p:nvPicPr>
        <p:blipFill>
          <a:blip r:embed="rId7"/>
          <a:srcRect l="-21" r="-21"/>
          <a:stretch/>
        </p:blipFill>
        <p:spPr>
          <a:xfrm>
            <a:off x="10223639" y="1989758"/>
            <a:ext cx="228557" cy="126923"/>
          </a:xfrm>
          <a:prstGeom prst="rect">
            <a:avLst/>
          </a:prstGeom>
        </p:spPr>
      </p:pic>
      <p:pic>
        <p:nvPicPr>
          <p:cNvPr id="18" name="Image 4" descr="Talking character"/>
          <p:cNvPicPr>
            <a:picLocks noChangeAspect="1"/>
          </p:cNvPicPr>
          <p:nvPr/>
        </p:nvPicPr>
        <p:blipFill>
          <a:blip r:embed="rId9"/>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Talking character</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#4</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22/30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70288" cy="223435"/>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children aged 4 to 9 and their parents.</a:t>
            </a:r>
            <a:endParaRPr lang="en-US" sz="1200" dirty="0"/>
          </a:p>
        </p:txBody>
      </p:sp>
      <p:sp>
        <p:nvSpPr>
          <p:cNvPr id="43" name="Text 36"/>
          <p:cNvSpPr/>
          <p:nvPr/>
        </p:nvSpPr>
        <p:spPr>
          <a:xfrm>
            <a:off x="7912132" y="480484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kids' educational apps: $2.3B in 2025, $3.8B by 2033 (6.3%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Dataintelo</a:t>
            </a:r>
            <a:endParaRPr lang="en-US" sz="1200" dirty="0"/>
          </a:p>
        </p:txBody>
      </p:sp>
      <p:sp>
        <p:nvSpPr>
          <p:cNvPr id="44" name="Text 37"/>
          <p:cNvSpPr/>
          <p:nvPr/>
        </p:nvSpPr>
        <p:spPr>
          <a:xfrm>
            <a:off x="7912132" y="5437143"/>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Reading children's drawings, animation, voice and a personality with memory.</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6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Listen to the Machine</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home appliance starts making a strange noise. The owner cannot describe it over the phone, and a technician's visit costs money before anyone knows what the fault is. Sometimes it is a five-minute fix.</a:t>
            </a:r>
            <a:endParaRPr lang="en-US" sz="1200" dirty="0"/>
          </a:p>
        </p:txBody>
      </p:sp>
      <p:sp>
        <p:nvSpPr>
          <p:cNvPr id="5" name="Text 3"/>
          <p:cNvSpPr/>
          <p:nvPr/>
        </p:nvSpPr>
        <p:spPr>
          <a:xfrm>
            <a:off x="609567" y="1973263"/>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Film and record a fault, and it gets handled. The agent diagnoses from the sound and the image together, guides the repair by voice while watching through the camera, and checks after each step whether the noise is gone. For a dangerous or complex fault (electricity, gas) it does not guide; it books a technician and sends the diagnosis ahead.</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recorded sound, photos and live camera.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diagnosis and spoken step-by-step guidance.</a:t>
            </a:r>
            <a:endParaRPr lang="en-US" sz="1200" dirty="0"/>
          </a:p>
        </p:txBody>
      </p:sp>
      <p:sp>
        <p:nvSpPr>
          <p:cNvPr id="6" name="Text 4"/>
          <p:cNvSpPr/>
          <p:nvPr/>
        </p:nvSpPr>
        <p:spPr>
          <a:xfrm>
            <a:off x="609567" y="307786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noisy washing machine: it guides opening the pump filter. The noise continues and points to a worn bearing, so it books a technician.</a:t>
            </a:r>
            <a:endParaRPr lang="en-US" sz="1200" dirty="0"/>
          </a:p>
        </p:txBody>
      </p:sp>
      <p:sp>
        <p:nvSpPr>
          <p:cNvPr id="7" name="Text 5"/>
          <p:cNvSpPr/>
          <p:nvPr/>
        </p:nvSpPr>
        <p:spPr>
          <a:xfrm>
            <a:off x="609567" y="356542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A comparison of five AI home repair tools, including iFixit's FixBot, describes all of them as working from photos, video or text. None diagnoses from sound. That is the novelty, and also the reason to do it.</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FixBot</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FixBot Pro</a:t>
            </a:r>
            <a:endParaRPr lang="en-US" sz="1200" dirty="0"/>
          </a:p>
        </p:txBody>
      </p:sp>
      <p:sp>
        <p:nvSpPr>
          <p:cNvPr id="8" name="Text 6"/>
          <p:cNvSpPr/>
          <p:nvPr/>
        </p:nvSpPr>
        <p:spPr>
          <a:xfrm>
            <a:off x="609567" y="446440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An open dataset of labelled fault sounds; none was found. Fits the right-to-repair community.</a:t>
            </a:r>
            <a:endParaRPr lang="en-US" sz="1200" dirty="0"/>
          </a:p>
        </p:txBody>
      </p:sp>
      <p:sp>
        <p:nvSpPr>
          <p:cNvPr id="9" name="Text 7"/>
          <p:cNvSpPr/>
          <p:nvPr/>
        </p:nvSpPr>
        <p:spPr>
          <a:xfrm>
            <a:off x="609567" y="4951968"/>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5/5.</a:t>
            </a:r>
            <a:r>
              <a:rPr lang="en-US" sz="1200" dirty="0">
                <a:solidFill>
                  <a:srgbClr val="16202E"/>
                </a:solidFill>
                <a:latin typeface="Rubik" pitchFamily="34" charset="0"/>
                <a:ea typeface="Rubik" pitchFamily="34" charset="-122"/>
                <a:cs typeface="Rubik" pitchFamily="34" charset="-120"/>
              </a:rPr>
              <a:t> A core demo in the ATARI deck, and the example that opens it ("does not hear the machine rattling"). It builds audio-video fusion on one timeline, which carries on to the factory inspection round.</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Washing machine"/>
          <p:cNvPicPr>
            <a:picLocks noChangeAspect="1"/>
          </p:cNvPicPr>
          <p:nvPr/>
        </p:nvPicPr>
        <p:blipFill>
          <a:blip r:embed="rId5"/>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Noise and photo</a:t>
            </a:r>
            <a:endParaRPr lang="en-US" sz="1200" dirty="0"/>
          </a:p>
        </p:txBody>
      </p:sp>
      <p:pic>
        <p:nvPicPr>
          <p:cNvPr id="13" name="Image 1" descr="arrow-right"/>
          <p:cNvPicPr>
            <a:picLocks noChangeAspect="1"/>
          </p:cNvPicPr>
          <p:nvPr/>
        </p:nvPicPr>
        <p:blipFill>
          <a:blip r:embed="rId6"/>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Wrench"/>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Diagnoses by ear</a:t>
            </a:r>
            <a:endParaRPr lang="en-US" sz="1200" dirty="0"/>
          </a:p>
        </p:txBody>
      </p:sp>
      <p:pic>
        <p:nvPicPr>
          <p:cNvPr id="17" name="Image 3" descr="arrow-right"/>
          <p:cNvPicPr>
            <a:picLocks noChangeAspect="1"/>
          </p:cNvPicPr>
          <p:nvPr/>
        </p:nvPicPr>
        <p:blipFill>
          <a:blip r:embed="rId6"/>
          <a:srcRect l="-21" r="-21"/>
          <a:stretch/>
        </p:blipFill>
        <p:spPr>
          <a:xfrm>
            <a:off x="10223639" y="1989758"/>
            <a:ext cx="228557" cy="126923"/>
          </a:xfrm>
          <a:prstGeom prst="rect">
            <a:avLst/>
          </a:prstGeom>
        </p:spPr>
      </p:pic>
      <p:pic>
        <p:nvPicPr>
          <p:cNvPr id="18" name="Image 4" descr="Repair steps"/>
          <p:cNvPicPr>
            <a:picLocks noChangeAspect="1"/>
          </p:cNvPicPr>
          <p:nvPr/>
        </p:nvPicPr>
        <p:blipFill>
          <a:blip r:embed="rId8"/>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Guided repair</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#6</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22/30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homeowners and renters; later technicians, factories and server rooms.</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home appliance repair services: $10.2B in 2023, $15.6B by 2030 (9.6%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Report Ocean</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Fusing sound and image for diagnosis is a new ability.</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10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Fridge-to-Table</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"What's for dinner?" is asked every day. Families buy food that gets thrown away, cook the same five dishes, and discover mid-cooking that an ingredient is missing. The planning falls on one parent, at the end of a working day.</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kitchen agent that knows what is in the house. It identifies the stock from photos of the fridge and pantry, builds a weekly menu from what exists, makes a shopping list only for what is missing, and during cooking guides by voice while watching the pan through the camera. It remembers what the family ate and what the children left on the plate.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photos of the fridge and pantry, and a spoken request.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weekly menu, a shopping list and cook-along guidance.</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Sunday's fridge photo yields five dinners and a nine-item list. On Tuesday: "flip it now". And it remembers the children left the aubergine.</a:t>
            </a:r>
            <a:endParaRPr lang="en-US" sz="1200" dirty="0"/>
          </a:p>
        </p:txBody>
      </p:sp>
      <p:sp>
        <p:nvSpPr>
          <p:cNvPr id="7" name="Text 5"/>
          <p:cNvSpPr/>
          <p:nvPr/>
        </p:nvSpPr>
        <p:spPr>
          <a:xfrm>
            <a:off x="609567" y="3771131"/>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The search turned up several small fridge-photo recipe apps: FridgeSmart, CookAI and PicMeal. They give a one-off recipe. Novelty: a weekly memory of stock and preferences, and live guidance through the camera.</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FridgeSmart</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CookAI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PicMeal</a:t>
            </a:r>
            <a:endParaRPr lang="en-US" sz="1200" dirty="0"/>
          </a:p>
        </p:txBody>
      </p:sp>
      <p:sp>
        <p:nvSpPr>
          <p:cNvPr id="8" name="Text 6"/>
          <p:cNvSpPr/>
          <p:nvPr/>
        </p:nvSpPr>
        <p:spPr>
          <a:xfrm>
            <a:off x="609567" y="467011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Open recipe and product data; communities add cuisines and dietary rules such as kosher or vegan.</a:t>
            </a:r>
            <a:endParaRPr lang="en-US" sz="1200" dirty="0"/>
          </a:p>
        </p:txBody>
      </p:sp>
      <p:sp>
        <p:nvSpPr>
          <p:cNvPr id="9" name="Text 7"/>
          <p:cNvSpPr/>
          <p:nvPr/>
        </p:nvSpPr>
        <p:spPr>
          <a:xfrm>
            <a:off x="609567" y="5157673"/>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4/5.</a:t>
            </a:r>
            <a:r>
              <a:rPr lang="en-US" sz="1200" dirty="0">
                <a:solidFill>
                  <a:srgbClr val="16202E"/>
                </a:solidFill>
                <a:latin typeface="Rubik" pitchFamily="34" charset="0"/>
                <a:ea typeface="Rubik" pitchFamily="34" charset="-122"/>
                <a:cs typeface="Rubik" pitchFamily="34" charset="-120"/>
              </a:rPr>
              <a:t> What is where in this kitchen, now: exactly ATARI's spatial memory. It is also the first stage of the Chef agent from the ATARI deck, before there is a robot.</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Fridge"/>
          <p:cNvPicPr>
            <a:picLocks noChangeAspect="1"/>
          </p:cNvPicPr>
          <p:nvPr/>
        </p:nvPicPr>
        <p:blipFill>
          <a:blip r:embed="rId6"/>
          <a:srcRect/>
          <a:stretch/>
        </p:blipFill>
        <p:spPr>
          <a:xfrm>
            <a:off x="7975593" y="1549177"/>
            <a:ext cx="761939" cy="761939"/>
          </a:xfrm>
          <a:prstGeom prst="rect">
            <a:avLst/>
          </a:prstGeom>
        </p:spPr>
      </p:pic>
      <p:sp>
        <p:nvSpPr>
          <p:cNvPr id="12" name="Text 9"/>
          <p:cNvSpPr/>
          <p:nvPr/>
        </p:nvSpPr>
        <p:spPr>
          <a:xfrm>
            <a:off x="7814636" y="2374578"/>
            <a:ext cx="1083933"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Fridge photo</a:t>
            </a:r>
            <a:endParaRPr lang="en-US" sz="1200" dirty="0"/>
          </a:p>
        </p:txBody>
      </p:sp>
      <p:pic>
        <p:nvPicPr>
          <p:cNvPr id="13" name="Image 1" descr="arrow-right"/>
          <p:cNvPicPr>
            <a:picLocks noChangeAspect="1"/>
          </p:cNvPicPr>
          <p:nvPr/>
        </p:nvPicPr>
        <p:blipFill>
          <a:blip r:embed="rId7"/>
          <a:srcRect l="-21" r="-21"/>
          <a:stretch/>
        </p:blipFill>
        <p:spPr>
          <a:xfrm>
            <a:off x="8902789" y="1989782"/>
            <a:ext cx="228557" cy="126923"/>
          </a:xfrm>
          <a:prstGeom prst="rect">
            <a:avLst/>
          </a:prstGeom>
        </p:spPr>
      </p:pic>
      <p:sp>
        <p:nvSpPr>
          <p:cNvPr id="14" name="Shape 10"/>
          <p:cNvSpPr/>
          <p:nvPr/>
        </p:nvSpPr>
        <p:spPr>
          <a:xfrm>
            <a:off x="9296443" y="1457771"/>
            <a:ext cx="761939" cy="761939"/>
          </a:xfrm>
          <a:prstGeom prst="roundRect">
            <a:avLst>
              <a:gd name="adj" fmla="val 50000"/>
            </a:avLst>
          </a:prstGeom>
          <a:solidFill>
            <a:srgbClr val="16202E"/>
          </a:solidFill>
          <a:ln/>
        </p:spPr>
        <p:txBody>
          <a:bodyPr/>
          <a:lstStyle/>
          <a:p>
            <a:endParaRPr/>
          </a:p>
        </p:txBody>
      </p:sp>
      <p:pic>
        <p:nvPicPr>
          <p:cNvPr id="15" name="Image 2" descr="Home"/>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Knows your kitchen</a:t>
            </a:r>
            <a:endParaRPr lang="en-US" sz="1200" dirty="0"/>
          </a:p>
        </p:txBody>
      </p:sp>
      <p:pic>
        <p:nvPicPr>
          <p:cNvPr id="17" name="Image 3" descr="arrow-right"/>
          <p:cNvPicPr>
            <a:picLocks noChangeAspect="1"/>
          </p:cNvPicPr>
          <p:nvPr/>
        </p:nvPicPr>
        <p:blipFill>
          <a:blip r:embed="rId7"/>
          <a:srcRect l="-21" r="-21"/>
          <a:stretch/>
        </p:blipFill>
        <p:spPr>
          <a:xfrm>
            <a:off x="10223639" y="1989782"/>
            <a:ext cx="228557" cy="126923"/>
          </a:xfrm>
          <a:prstGeom prst="rect">
            <a:avLst/>
          </a:prstGeom>
        </p:spPr>
      </p:pic>
      <p:pic>
        <p:nvPicPr>
          <p:cNvPr id="18" name="Image 4" descr="Week menu"/>
          <p:cNvPicPr>
            <a:picLocks noChangeAspect="1"/>
          </p:cNvPicPr>
          <p:nvPr/>
        </p:nvPicPr>
        <p:blipFill>
          <a:blip r:embed="rId9"/>
          <a:srcRect/>
          <a:stretch/>
        </p:blipFill>
        <p:spPr>
          <a:xfrm>
            <a:off x="10617292" y="1457771"/>
            <a:ext cx="761939" cy="761939"/>
          </a:xfrm>
          <a:prstGeom prst="rect">
            <a:avLst/>
          </a:prstGeom>
        </p:spPr>
      </p:pic>
      <p:sp>
        <p:nvSpPr>
          <p:cNvPr id="19" name="Text 12"/>
          <p:cNvSpPr/>
          <p:nvPr/>
        </p:nvSpPr>
        <p:spPr>
          <a:xfrm>
            <a:off x="10515706"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Menu and cook-along</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#10</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21/30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families and working parents who cook every day.</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meal-planning apps: $972M in 2024, $11.6B by 2034 (28%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Market.us Scoop</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Recognising stock from a photo and guiding cooking through a camera.</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22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Lecture-to-Notes</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student cannot listen, understand and write at the same time. His notes are partial, recordings pile up unheard, and before the exam he finds whole lessons missing.</a:t>
            </a:r>
            <a:endParaRPr lang="en-US" sz="1200" dirty="0"/>
          </a:p>
        </p:txBody>
      </p:sp>
      <p:sp>
        <p:nvSpPr>
          <p:cNvPr id="5" name="Text 3"/>
          <p:cNvSpPr/>
          <p:nvPr/>
        </p:nvSpPr>
        <p:spPr>
          <a:xfrm>
            <a:off x="609567" y="1767582"/>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study assistant that turns a lecture recording into learning material. It listens to the speech, reads the slides on screen, and produces structured notes by topic, a short self-test quiz and an audio recap for the commute. With memory across the semester it becomes a study plan that returns to the topics the student got wrong.</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lecture's audio or video.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structured notes, a quiz and an audio recap.</a:t>
            </a:r>
            <a:endParaRPr lang="en-US" sz="1200" dirty="0"/>
          </a:p>
        </p:txBody>
      </p:sp>
      <p:sp>
        <p:nvSpPr>
          <p:cNvPr id="6" name="Text 4"/>
          <p:cNvSpPr/>
          <p:nvPr/>
        </p:nvSpPr>
        <p:spPr>
          <a:xfrm>
            <a:off x="609567" y="2872209"/>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50-minute lecture on cell respiration becomes notes in five parts, an eight-question quiz and a six-minute recap for the bus.</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Turbo AI leads, and roundups list ten competitors. Demand is huge and so is competition. Novelty: running locally on the student's computer, for universities that forbid cloud recording, and Hebrew.</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Turbo AI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Coconote</a:t>
            </a:r>
            <a:endParaRPr lang="en-US" sz="1200" dirty="0"/>
          </a:p>
        </p:txBody>
      </p:sp>
      <p:sp>
        <p:nvSpPr>
          <p:cNvPr id="8" name="Text 6"/>
          <p:cNvSpPr/>
          <p:nvPr/>
        </p:nvSpPr>
        <p:spPr>
          <a:xfrm>
            <a:off x="609567" y="425875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 local version with export to Anki and Markdown. Computer-science students are natural contributors.</a:t>
            </a:r>
            <a:endParaRPr lang="en-US" sz="1200" dirty="0"/>
          </a:p>
        </p:txBody>
      </p:sp>
      <p:sp>
        <p:nvSpPr>
          <p:cNvPr id="9" name="Text 7"/>
          <p:cNvSpPr/>
          <p:nvPr/>
        </p:nvSpPr>
        <p:spPr>
          <a:xfrm>
            <a:off x="609567" y="474628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A weak link: understanding long speech in Hebrew, with no physical space.</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Lecture recording"/>
          <p:cNvPicPr>
            <a:picLocks noChangeAspect="1"/>
          </p:cNvPicPr>
          <p:nvPr/>
        </p:nvPicPr>
        <p:blipFill>
          <a:blip r:embed="rId5"/>
          <a:srcRect/>
          <a:stretch/>
        </p:blipFill>
        <p:spPr>
          <a:xfrm>
            <a:off x="7975593" y="1457771"/>
            <a:ext cx="761939" cy="761939"/>
          </a:xfrm>
          <a:prstGeom prst="rect">
            <a:avLst/>
          </a:prstGeom>
        </p:spPr>
      </p:pic>
      <p:sp>
        <p:nvSpPr>
          <p:cNvPr id="12" name="Text 9"/>
          <p:cNvSpPr/>
          <p:nvPr/>
        </p:nvSpPr>
        <p:spPr>
          <a:xfrm>
            <a:off x="787400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Lecture recording</a:t>
            </a:r>
            <a:endParaRPr lang="en-US" sz="1200" dirty="0"/>
          </a:p>
        </p:txBody>
      </p:sp>
      <p:pic>
        <p:nvPicPr>
          <p:cNvPr id="13" name="Image 1" descr="arrow-right"/>
          <p:cNvPicPr>
            <a:picLocks noChangeAspect="1"/>
          </p:cNvPicPr>
          <p:nvPr/>
        </p:nvPicPr>
        <p:blipFill>
          <a:blip r:embed="rId6"/>
          <a:srcRect l="-21" r="-21"/>
          <a:stretch/>
        </p:blipFill>
        <p:spPr>
          <a:xfrm>
            <a:off x="8902789" y="1989782"/>
            <a:ext cx="228557" cy="126923"/>
          </a:xfrm>
          <a:prstGeom prst="rect">
            <a:avLst/>
          </a:prstGeom>
        </p:spPr>
      </p:pic>
      <p:sp>
        <p:nvSpPr>
          <p:cNvPr id="14" name="Shape 10"/>
          <p:cNvSpPr/>
          <p:nvPr/>
        </p:nvSpPr>
        <p:spPr>
          <a:xfrm>
            <a:off x="9296443" y="1549177"/>
            <a:ext cx="761939" cy="761939"/>
          </a:xfrm>
          <a:prstGeom prst="roundRect">
            <a:avLst>
              <a:gd name="adj" fmla="val 50000"/>
            </a:avLst>
          </a:prstGeom>
          <a:solidFill>
            <a:srgbClr val="16202E"/>
          </a:solidFill>
          <a:ln/>
        </p:spPr>
        <p:txBody>
          <a:bodyPr/>
          <a:lstStyle/>
          <a:p>
            <a:endParaRPr/>
          </a:p>
        </p:txBody>
      </p:sp>
      <p:pic>
        <p:nvPicPr>
          <p:cNvPr id="15" name="Image 2" descr="GraduationCap"/>
          <p:cNvPicPr>
            <a:picLocks noChangeAspect="1"/>
          </p:cNvPicPr>
          <p:nvPr/>
        </p:nvPicPr>
        <p:blipFill>
          <a:blip r:embed="rId7"/>
          <a:srcRect/>
          <a:stretch/>
        </p:blipFill>
        <p:spPr>
          <a:xfrm>
            <a:off x="9499632" y="1752377"/>
            <a:ext cx="355561" cy="355561"/>
          </a:xfrm>
          <a:prstGeom prst="rect">
            <a:avLst/>
          </a:prstGeom>
        </p:spPr>
      </p:pic>
      <p:sp>
        <p:nvSpPr>
          <p:cNvPr id="16" name="Text 11"/>
          <p:cNvSpPr/>
          <p:nvPr/>
        </p:nvSpPr>
        <p:spPr>
          <a:xfrm>
            <a:off x="9141872" y="2374578"/>
            <a:ext cx="1071079"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Structures it</a:t>
            </a:r>
            <a:endParaRPr lang="en-US" sz="1200" dirty="0"/>
          </a:p>
        </p:txBody>
      </p:sp>
      <p:pic>
        <p:nvPicPr>
          <p:cNvPr id="17" name="Image 3" descr="arrow-right"/>
          <p:cNvPicPr>
            <a:picLocks noChangeAspect="1"/>
          </p:cNvPicPr>
          <p:nvPr/>
        </p:nvPicPr>
        <p:blipFill>
          <a:blip r:embed="rId6"/>
          <a:srcRect l="-21" r="-21"/>
          <a:stretch/>
        </p:blipFill>
        <p:spPr>
          <a:xfrm>
            <a:off x="10223639" y="1989782"/>
            <a:ext cx="228557" cy="126923"/>
          </a:xfrm>
          <a:prstGeom prst="rect">
            <a:avLst/>
          </a:prstGeom>
        </p:spPr>
      </p:pic>
      <p:pic>
        <p:nvPicPr>
          <p:cNvPr id="18" name="Image 4" descr="Notes and quiz"/>
          <p:cNvPicPr>
            <a:picLocks noChangeAspect="1"/>
          </p:cNvPicPr>
          <p:nvPr/>
        </p:nvPicPr>
        <p:blipFill>
          <a:blip r:embed="rId8"/>
          <a:srcRect/>
          <a:stretch/>
        </p:blipFill>
        <p:spPr>
          <a:xfrm>
            <a:off x="10617292" y="1457771"/>
            <a:ext cx="761939" cy="761939"/>
          </a:xfrm>
          <a:prstGeom prst="rect">
            <a:avLst/>
          </a:prstGeom>
        </p:spPr>
      </p:pic>
      <p:sp>
        <p:nvSpPr>
          <p:cNvPr id="19" name="Text 12"/>
          <p:cNvSpPr/>
          <p:nvPr/>
        </p:nvSpPr>
        <p:spPr>
          <a:xfrm>
            <a:off x="10515706"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Notes, quiz, recap</a:t>
            </a:r>
            <a:endParaRPr lang="en-US" sz="1200" dirty="0"/>
          </a:p>
        </p:txBody>
      </p:sp>
      <p:sp>
        <p:nvSpPr>
          <p:cNvPr id="20" name="Shape 13"/>
          <p:cNvSpPr/>
          <p:nvPr/>
        </p:nvSpPr>
        <p:spPr>
          <a:xfrm>
            <a:off x="7775659"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#22</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69"/>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19/30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75"/>
            <a:ext cx="3809936" cy="1492952"/>
          </a:xfrm>
          <a:prstGeom prst="roundRect">
            <a:avLst>
              <a:gd name="adj" fmla="val 5955"/>
            </a:avLst>
          </a:prstGeom>
          <a:solidFill>
            <a:srgbClr val="16202E"/>
          </a:solidFill>
          <a:ln/>
        </p:spPr>
        <p:txBody>
          <a:bodyPr/>
          <a:lstStyle/>
          <a:p>
            <a:endParaRPr/>
          </a:p>
        </p:txBody>
      </p:sp>
      <p:sp>
        <p:nvSpPr>
          <p:cNvPr id="42" name="Text 35"/>
          <p:cNvSpPr/>
          <p:nvPr/>
        </p:nvSpPr>
        <p:spPr>
          <a:xfrm>
            <a:off x="7912132" y="456875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university and high-school students; lecture and conference attendees.</a:t>
            </a:r>
            <a:endParaRPr lang="en-US" sz="1200" dirty="0"/>
          </a:p>
        </p:txBody>
      </p:sp>
      <p:sp>
        <p:nvSpPr>
          <p:cNvPr id="43" name="Text 36"/>
          <p:cNvSpPr/>
          <p:nvPr/>
        </p:nvSpPr>
        <p:spPr>
          <a:xfrm>
            <a:off x="7912132" y="5002907"/>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note-taking: $451M in 2023, $2.55B by 2033 (18.9%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Market.us</a:t>
            </a:r>
            <a:endParaRPr lang="en-US" sz="1200" dirty="0"/>
          </a:p>
        </p:txBody>
      </p:sp>
      <p:sp>
        <p:nvSpPr>
          <p:cNvPr id="44" name="Text 37"/>
          <p:cNvSpPr/>
          <p:nvPr/>
        </p:nvSpPr>
        <p:spPr>
          <a:xfrm>
            <a:off x="7912132" y="543706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but already standard: ten competing products in roundups.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23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Classroom Assistant</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teacher with thirty handwritten worksheets marks right and wrong, but has no time to find the misconception behind each pupil's errors. The pupil gets a mark and does not understand what to fix.</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marking assistant for the teacher. It reads the handwriting, marks the answers, and looks for the pattern common to the errors so it can name the misconception. It writes specific feedback and produces a short lesson or diagram for the concept the pupil missed. The teacher checks the marking before the sheet goes back.</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photo of handwritten work.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marked-up image, written feedback and an explanatory diagram.</a:t>
            </a:r>
            <a:endParaRPr lang="en-US" sz="1200" dirty="0"/>
          </a:p>
        </p:txBody>
      </p:sp>
      <p:sp>
        <p:nvSpPr>
          <p:cNvPr id="6" name="Text 4"/>
          <p:cNvSpPr/>
          <p:nvPr/>
        </p:nvSpPr>
        <p:spPr>
          <a:xfrm>
            <a:off x="609567" y="328354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Seven of ten fraction answers are right. The three wrong ones share one error: the pupil added the denominators. A small diagram shows why the denominator stays.</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MagicSchool, GradingPal and newer tools grade handwriting and show the evidence for each score. Whether teachers should grade with AI is disputed. Novelty: diagnosing the misconception, not only a grade, and Hebrew.</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MagicSchool</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GradingPal</a:t>
            </a:r>
            <a:endParaRPr lang="en-US" sz="1200" dirty="0"/>
          </a:p>
        </p:txBody>
      </p:sp>
      <p:sp>
        <p:nvSpPr>
          <p:cNvPr id="8" name="Text 6"/>
          <p:cNvSpPr/>
          <p:nvPr/>
        </p:nvSpPr>
        <p:spPr>
          <a:xfrm>
            <a:off x="609567" y="46700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4/5.</a:t>
            </a:r>
            <a:r>
              <a:rPr lang="en-US" sz="1200" dirty="0">
                <a:solidFill>
                  <a:srgbClr val="16202E"/>
                </a:solidFill>
                <a:latin typeface="Rubik" pitchFamily="34" charset="0"/>
                <a:ea typeface="Rubik" pitchFamily="34" charset="-122"/>
                <a:cs typeface="Rubik" pitchFamily="34" charset="-120"/>
              </a:rPr>
              <a:t> An open library of misconceptions by subject and grade. Teachers contribute entries in their own language and curriculum.</a:t>
            </a:r>
            <a:endParaRPr lang="en-US" sz="1200" dirty="0"/>
          </a:p>
        </p:txBody>
      </p:sp>
      <p:sp>
        <p:nvSpPr>
          <p:cNvPr id="9" name="Text 7"/>
          <p:cNvSpPr/>
          <p:nvPr/>
        </p:nvSpPr>
        <p:spPr>
          <a:xfrm>
            <a:off x="609567" y="5157649"/>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Handwritten worksheet"/>
          <p:cNvPicPr>
            <a:picLocks noChangeAspect="1"/>
          </p:cNvPicPr>
          <p:nvPr/>
        </p:nvPicPr>
        <p:blipFill>
          <a:blip r:embed="rId5"/>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Worksheet photo</a:t>
            </a:r>
            <a:endParaRPr lang="en-US" sz="1200" dirty="0"/>
          </a:p>
        </p:txBody>
      </p:sp>
      <p:pic>
        <p:nvPicPr>
          <p:cNvPr id="13" name="Image 1" descr="arrow-right"/>
          <p:cNvPicPr>
            <a:picLocks noChangeAspect="1"/>
          </p:cNvPicPr>
          <p:nvPr/>
        </p:nvPicPr>
        <p:blipFill>
          <a:blip r:embed="rId6"/>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CheckCircle"/>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Marks and explains</a:t>
            </a:r>
            <a:endParaRPr lang="en-US" sz="1200" dirty="0"/>
          </a:p>
        </p:txBody>
      </p:sp>
      <p:pic>
        <p:nvPicPr>
          <p:cNvPr id="17" name="Image 3" descr="arrow-right"/>
          <p:cNvPicPr>
            <a:picLocks noChangeAspect="1"/>
          </p:cNvPicPr>
          <p:nvPr/>
        </p:nvPicPr>
        <p:blipFill>
          <a:blip r:embed="rId6"/>
          <a:srcRect l="-21" r="-21"/>
          <a:stretch/>
        </p:blipFill>
        <p:spPr>
          <a:xfrm>
            <a:off x="10223639" y="1989758"/>
            <a:ext cx="228557" cy="126923"/>
          </a:xfrm>
          <a:prstGeom prst="rect">
            <a:avLst/>
          </a:prstGeom>
        </p:spPr>
      </p:pic>
      <p:pic>
        <p:nvPicPr>
          <p:cNvPr id="18" name="Image 4" descr="Marked worksheet"/>
          <p:cNvPicPr>
            <a:picLocks noChangeAspect="1"/>
          </p:cNvPicPr>
          <p:nvPr/>
        </p:nvPicPr>
        <p:blipFill>
          <a:blip r:embed="rId8"/>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Feedback sheet</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#23</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19/30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primary and middle-school teachers; one use reaches 30 pupils.</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AI in education: $2.2B in 2024, $5.8B by 2030 (17.5%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MarketsandMarkets</a:t>
            </a:r>
            <a:endParaRPr lang="en-US" sz="1200" dirty="0"/>
          </a:p>
        </p:txBody>
      </p:sp>
      <p:sp>
        <p:nvSpPr>
          <p:cNvPr id="44" name="Text 37"/>
          <p:cNvSpPr/>
          <p:nvPr/>
        </p:nvSpPr>
        <p:spPr>
          <a:xfrm>
            <a:off x="7912132" y="5635159"/>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Reading children's handwriting and spotting the error pattern.</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25 of 50 · New idea</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Homework Buddy</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Children photograph homework and get the answer from a chatbot. They finish faster and learn nothing, and parents cannot tell whether the child understood or copied until the test comes.</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homework friend that does not reveal answers. The child photographs the exercise and explains aloud where they are stuck; the agent works out what the child already knows and gives one hint at a time, as a guiding question, until the child solves it alone. Once a week the parent gets a short message about what was hard.</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photo of the exercise and the child's spoken explanation.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spoken hints and a weekly report to the parent.</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boy is stuck on a word problem. "What does the question ask you to find?" After three hints he solves it. Friday's message to mum: units of measure are the weak spot.</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Khan Academy's Khanmigo does exactly Socratic tutoring, and there are many AI tutors. Possible novelty: Hebrew and the local curriculum, entry by photo and voice, and a report to the parent.</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Khanmigo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Photomath</a:t>
            </a:r>
            <a:endParaRPr lang="en-US" sz="1200" dirty="0"/>
          </a:p>
        </p:txBody>
      </p:sp>
      <p:sp>
        <p:nvSpPr>
          <p:cNvPr id="8" name="Text 6"/>
          <p:cNvSpPr/>
          <p:nvPr/>
        </p:nvSpPr>
        <p:spPr>
          <a:xfrm>
            <a:off x="609567" y="46700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Parents and schools need to inspect a tutor for children; an open hint policy, and a library shared with Classroom Assistant.</a:t>
            </a:r>
            <a:endParaRPr lang="en-US" sz="1200" dirty="0"/>
          </a:p>
        </p:txBody>
      </p:sp>
      <p:sp>
        <p:nvSpPr>
          <p:cNvPr id="9" name="Text 7"/>
          <p:cNvSpPr/>
          <p:nvPr/>
        </p:nvSpPr>
        <p:spPr>
          <a:xfrm>
            <a:off x="609567" y="5157649"/>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729322"/>
          </a:xfrm>
          <a:prstGeom prst="roundRect">
            <a:avLst>
              <a:gd name="adj" fmla="val 7344"/>
            </a:avLst>
          </a:prstGeom>
          <a:solidFill>
            <a:srgbClr val="ECE8DF"/>
          </a:solidFill>
          <a:ln/>
        </p:spPr>
        <p:txBody>
          <a:bodyPr/>
          <a:lstStyle/>
          <a:p>
            <a:endParaRPr/>
          </a:p>
        </p:txBody>
      </p:sp>
      <p:pic>
        <p:nvPicPr>
          <p:cNvPr id="11" name="Image 0" descr="Open exercise book"/>
          <p:cNvPicPr>
            <a:picLocks noChangeAspect="1"/>
          </p:cNvPicPr>
          <p:nvPr/>
        </p:nvPicPr>
        <p:blipFill>
          <a:blip r:embed="rId5"/>
          <a:srcRect/>
          <a:stretch/>
        </p:blipFill>
        <p:spPr>
          <a:xfrm>
            <a:off x="7975593" y="1549177"/>
            <a:ext cx="761939" cy="761939"/>
          </a:xfrm>
          <a:prstGeom prst="rect">
            <a:avLst/>
          </a:prstGeom>
        </p:spPr>
      </p:pic>
      <p:sp>
        <p:nvSpPr>
          <p:cNvPr id="12" name="Text 9"/>
          <p:cNvSpPr/>
          <p:nvPr/>
        </p:nvSpPr>
        <p:spPr>
          <a:xfrm>
            <a:off x="7874007" y="2374553"/>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Homework and voice</a:t>
            </a:r>
            <a:endParaRPr lang="en-US" sz="1200" dirty="0"/>
          </a:p>
        </p:txBody>
      </p:sp>
      <p:pic>
        <p:nvPicPr>
          <p:cNvPr id="13" name="Image 1" descr="arrow-right"/>
          <p:cNvPicPr>
            <a:picLocks noChangeAspect="1"/>
          </p:cNvPicPr>
          <p:nvPr/>
        </p:nvPicPr>
        <p:blipFill>
          <a:blip r:embed="rId6"/>
          <a:srcRect l="-21" r="-21"/>
          <a:stretch/>
        </p:blipFill>
        <p:spPr>
          <a:xfrm>
            <a:off x="8902789" y="2081188"/>
            <a:ext cx="228557" cy="126923"/>
          </a:xfrm>
          <a:prstGeom prst="rect">
            <a:avLst/>
          </a:prstGeom>
        </p:spPr>
      </p:pic>
      <p:sp>
        <p:nvSpPr>
          <p:cNvPr id="14" name="Shape 10"/>
          <p:cNvSpPr/>
          <p:nvPr/>
        </p:nvSpPr>
        <p:spPr>
          <a:xfrm>
            <a:off x="9296443" y="1549177"/>
            <a:ext cx="761939" cy="761939"/>
          </a:xfrm>
          <a:prstGeom prst="roundRect">
            <a:avLst>
              <a:gd name="adj" fmla="val 50000"/>
            </a:avLst>
          </a:prstGeom>
          <a:solidFill>
            <a:srgbClr val="16202E"/>
          </a:solidFill>
          <a:ln/>
        </p:spPr>
        <p:txBody>
          <a:bodyPr/>
          <a:lstStyle/>
          <a:p>
            <a:endParaRPr/>
          </a:p>
        </p:txBody>
      </p:sp>
      <p:pic>
        <p:nvPicPr>
          <p:cNvPr id="15" name="Image 2" descr="Lightbulb"/>
          <p:cNvPicPr>
            <a:picLocks noChangeAspect="1"/>
          </p:cNvPicPr>
          <p:nvPr/>
        </p:nvPicPr>
        <p:blipFill>
          <a:blip r:embed="rId7"/>
          <a:srcRect/>
          <a:stretch/>
        </p:blipFill>
        <p:spPr>
          <a:xfrm>
            <a:off x="9499632" y="1752352"/>
            <a:ext cx="355561" cy="355561"/>
          </a:xfrm>
          <a:prstGeom prst="rect">
            <a:avLst/>
          </a:prstGeom>
        </p:spPr>
      </p:pic>
      <p:sp>
        <p:nvSpPr>
          <p:cNvPr id="16" name="Text 11"/>
          <p:cNvSpPr/>
          <p:nvPr/>
        </p:nvSpPr>
        <p:spPr>
          <a:xfrm>
            <a:off x="9194857" y="2374553"/>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Hints, not answers</a:t>
            </a:r>
            <a:endParaRPr lang="en-US" sz="1200" dirty="0"/>
          </a:p>
        </p:txBody>
      </p:sp>
      <p:pic>
        <p:nvPicPr>
          <p:cNvPr id="17" name="Image 3" descr="arrow-right"/>
          <p:cNvPicPr>
            <a:picLocks noChangeAspect="1"/>
          </p:cNvPicPr>
          <p:nvPr/>
        </p:nvPicPr>
        <p:blipFill>
          <a:blip r:embed="rId6"/>
          <a:srcRect l="-21" r="-21"/>
          <a:stretch/>
        </p:blipFill>
        <p:spPr>
          <a:xfrm>
            <a:off x="10223639" y="2081188"/>
            <a:ext cx="228557" cy="126923"/>
          </a:xfrm>
          <a:prstGeom prst="rect">
            <a:avLst/>
          </a:prstGeom>
        </p:spPr>
      </p:pic>
      <p:pic>
        <p:nvPicPr>
          <p:cNvPr id="18" name="Image 4" descr="Note to parent"/>
          <p:cNvPicPr>
            <a:picLocks noChangeAspect="1"/>
          </p:cNvPicPr>
          <p:nvPr/>
        </p:nvPicPr>
        <p:blipFill>
          <a:blip r:embed="rId8"/>
          <a:srcRect/>
          <a:stretch/>
        </p:blipFill>
        <p:spPr>
          <a:xfrm>
            <a:off x="10617292" y="1457747"/>
            <a:ext cx="761939" cy="761939"/>
          </a:xfrm>
          <a:prstGeom prst="rect">
            <a:avLst/>
          </a:prstGeom>
        </p:spPr>
      </p:pic>
      <p:sp>
        <p:nvSpPr>
          <p:cNvPr id="19" name="Text 12"/>
          <p:cNvSpPr/>
          <p:nvPr/>
        </p:nvSpPr>
        <p:spPr>
          <a:xfrm>
            <a:off x="10515706" y="2283147"/>
            <a:ext cx="965191" cy="573841"/>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Weekly parent report</a:t>
            </a:r>
            <a:endParaRPr lang="en-US" sz="1200" dirty="0"/>
          </a:p>
        </p:txBody>
      </p:sp>
      <p:sp>
        <p:nvSpPr>
          <p:cNvPr id="20" name="Shape 13"/>
          <p:cNvSpPr/>
          <p:nvPr/>
        </p:nvSpPr>
        <p:spPr>
          <a:xfrm>
            <a:off x="7775659" y="313943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21759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#25</a:t>
            </a:r>
            <a:endParaRPr lang="en-US" sz="2000" dirty="0"/>
          </a:p>
        </p:txBody>
      </p:sp>
      <p:sp>
        <p:nvSpPr>
          <p:cNvPr id="22" name="Text 15"/>
          <p:cNvSpPr/>
          <p:nvPr/>
        </p:nvSpPr>
        <p:spPr>
          <a:xfrm>
            <a:off x="7777607" y="349696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313625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21245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18/30</a:t>
            </a:r>
            <a:endParaRPr lang="en-US" sz="2000" dirty="0"/>
          </a:p>
        </p:txBody>
      </p:sp>
      <p:sp>
        <p:nvSpPr>
          <p:cNvPr id="25" name="Text 18"/>
          <p:cNvSpPr/>
          <p:nvPr/>
        </p:nvSpPr>
        <p:spPr>
          <a:xfrm>
            <a:off x="8738865" y="349183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313943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21759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49696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637261"/>
            <a:ext cx="3809936" cy="1690987"/>
          </a:xfrm>
          <a:prstGeom prst="roundRect">
            <a:avLst>
              <a:gd name="adj" fmla="val 5257"/>
            </a:avLst>
          </a:prstGeom>
          <a:solidFill>
            <a:srgbClr val="16202E"/>
          </a:solidFill>
          <a:ln/>
        </p:spPr>
        <p:txBody>
          <a:bodyPr/>
          <a:lstStyle/>
          <a:p>
            <a:endParaRPr/>
          </a:p>
        </p:txBody>
      </p:sp>
      <p:sp>
        <p:nvSpPr>
          <p:cNvPr id="42" name="Text 35"/>
          <p:cNvSpPr/>
          <p:nvPr/>
        </p:nvSpPr>
        <p:spPr>
          <a:xfrm>
            <a:off x="7912132" y="475153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primary and middle-school pupils; the parents are the ones who pay.</a:t>
            </a:r>
            <a:endParaRPr lang="en-US" sz="1200" dirty="0"/>
          </a:p>
        </p:txBody>
      </p:sp>
      <p:sp>
        <p:nvSpPr>
          <p:cNvPr id="43" name="Text 36"/>
          <p:cNvSpPr/>
          <p:nvPr/>
        </p:nvSpPr>
        <p:spPr>
          <a:xfrm>
            <a:off x="7912132" y="518571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tutors: $3.55B in 2025, $6.45B by 2030 (12.7%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Mordor Intelligence</a:t>
            </a:r>
            <a:endParaRPr lang="en-US" sz="1200" dirty="0"/>
          </a:p>
        </p:txBody>
      </p:sp>
      <p:sp>
        <p:nvSpPr>
          <p:cNvPr id="44" name="Text 37"/>
          <p:cNvSpPr/>
          <p:nvPr/>
        </p:nvSpPr>
        <p:spPr>
          <a:xfrm>
            <a:off x="7912132" y="5619874"/>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Understanding the exercise from a photo and the difficulty from spoken explanation.</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27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My Closet</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People wear a small part of what they own and buy duplicates, because they do not remember what is in the closet. Each morning's decision ignores the weather and the calendar, and ends with the same three combinations.</a:t>
            </a:r>
            <a:endParaRPr lang="en-US" sz="1200" dirty="0"/>
          </a:p>
        </p:txBody>
      </p:sp>
      <p:sp>
        <p:nvSpPr>
          <p:cNvPr id="5" name="Text 3"/>
          <p:cNvSpPr/>
          <p:nvPr/>
        </p:nvSpPr>
        <p:spPr>
          <a:xfrm>
            <a:off x="609567" y="1973263"/>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stylist that knows the user's clothes. It maps the items from photos, puts together combinations for the weather and the meetings in the calendar, shows the suggestion on the user's own photo, and recommends what is really missing, without pushing purchases. The barrier: the whole closet must be photographed once.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photos of the clothes and of the user.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daily outfit suggestion on the user's own body.</a:t>
            </a:r>
            <a:endParaRPr lang="en-US" sz="1200" dirty="0"/>
          </a:p>
        </p:txBody>
      </p:sp>
      <p:sp>
        <p:nvSpPr>
          <p:cNvPr id="6" name="Text 4"/>
          <p:cNvSpPr/>
          <p:nvPr/>
        </p:nvSpPr>
        <p:spPr>
          <a:xfrm>
            <a:off x="609567" y="307789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rainy Tuesday with a client meeting: navy trousers, a grey knit and a raincoat, on her photo. On Friday: a plain white shirt would complete several combinations.</a:t>
            </a:r>
            <a:endParaRPr lang="en-US" sz="1200" dirty="0"/>
          </a:p>
        </p:txBody>
      </p:sp>
      <p:sp>
        <p:nvSpPr>
          <p:cNvPr id="7" name="Text 5"/>
          <p:cNvSpPr/>
          <p:nvPr/>
        </p:nvSpPr>
        <p:spPr>
          <a:xfrm>
            <a:off x="609567" y="356542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Alta and ten more closet apps. A full market with a high entry barrier. Possible novelty: a video scan of the closet in place of item-by-item photos, built on ATARI's spatial scanning.</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Alta</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Indyx</a:t>
            </a:r>
            <a:endParaRPr lang="en-US" sz="1200" dirty="0"/>
          </a:p>
        </p:txBody>
      </p:sp>
      <p:sp>
        <p:nvSpPr>
          <p:cNvPr id="8" name="Text 6"/>
          <p:cNvSpPr/>
          <p:nvPr/>
        </p:nvSpPr>
        <p:spPr>
          <a:xfrm>
            <a:off x="609567" y="446443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Limited. Open try-on models exist, but the barrier is photographing the closet, and openness does not lower it.</a:t>
            </a:r>
            <a:endParaRPr lang="en-US" sz="1200" dirty="0"/>
          </a:p>
        </p:txBody>
      </p:sp>
      <p:sp>
        <p:nvSpPr>
          <p:cNvPr id="9" name="Text 7"/>
          <p:cNvSpPr/>
          <p:nvPr/>
        </p:nvSpPr>
        <p:spPr>
          <a:xfrm>
            <a:off x="609567" y="495196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3/5.</a:t>
            </a:r>
            <a:r>
              <a:rPr lang="en-US" sz="1200" dirty="0">
                <a:solidFill>
                  <a:srgbClr val="16202E"/>
                </a:solidFill>
                <a:latin typeface="Rubik" pitchFamily="34" charset="0"/>
                <a:ea typeface="Rubik" pitchFamily="34" charset="-122"/>
                <a:cs typeface="Rubik" pitchFamily="34" charset="-120"/>
              </a:rPr>
              <a:t> An inventory of physical objects at home from video is a case of "find anything" in the ATARI deck. The link depends on building it on the spatial scan.</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Shirt"/>
          <p:cNvPicPr>
            <a:picLocks noChangeAspect="1"/>
          </p:cNvPicPr>
          <p:nvPr/>
        </p:nvPicPr>
        <p:blipFill>
          <a:blip r:embed="rId5"/>
          <a:srcRect/>
          <a:stretch/>
        </p:blipFill>
        <p:spPr>
          <a:xfrm>
            <a:off x="7975593" y="1457771"/>
            <a:ext cx="761939" cy="761939"/>
          </a:xfrm>
          <a:prstGeom prst="rect">
            <a:avLst/>
          </a:prstGeom>
        </p:spPr>
      </p:pic>
      <p:sp>
        <p:nvSpPr>
          <p:cNvPr id="12" name="Text 9"/>
          <p:cNvSpPr/>
          <p:nvPr/>
        </p:nvSpPr>
        <p:spPr>
          <a:xfrm>
            <a:off x="787400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Closet photos</a:t>
            </a:r>
            <a:endParaRPr lang="en-US" sz="1200" dirty="0"/>
          </a:p>
        </p:txBody>
      </p:sp>
      <p:pic>
        <p:nvPicPr>
          <p:cNvPr id="13" name="Image 1" descr="arrow-right"/>
          <p:cNvPicPr>
            <a:picLocks noChangeAspect="1"/>
          </p:cNvPicPr>
          <p:nvPr/>
        </p:nvPicPr>
        <p:blipFill>
          <a:blip r:embed="rId6"/>
          <a:srcRect l="-21" r="-21"/>
          <a:stretch/>
        </p:blipFill>
        <p:spPr>
          <a:xfrm>
            <a:off x="8902789" y="1989782"/>
            <a:ext cx="228557" cy="126923"/>
          </a:xfrm>
          <a:prstGeom prst="rect">
            <a:avLst/>
          </a:prstGeom>
        </p:spPr>
      </p:pic>
      <p:sp>
        <p:nvSpPr>
          <p:cNvPr id="14" name="Shape 10"/>
          <p:cNvSpPr/>
          <p:nvPr/>
        </p:nvSpPr>
        <p:spPr>
          <a:xfrm>
            <a:off x="9296443" y="1457771"/>
            <a:ext cx="761939" cy="761939"/>
          </a:xfrm>
          <a:prstGeom prst="roundRect">
            <a:avLst>
              <a:gd name="adj" fmla="val 50000"/>
            </a:avLst>
          </a:prstGeom>
          <a:solidFill>
            <a:srgbClr val="16202E"/>
          </a:solidFill>
          <a:ln/>
        </p:spPr>
        <p:txBody>
          <a:bodyPr/>
          <a:lstStyle/>
          <a:p>
            <a:endParaRPr/>
          </a:p>
        </p:txBody>
      </p:sp>
      <p:pic>
        <p:nvPicPr>
          <p:cNvPr id="15" name="Image 2" descr="Cloud"/>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Weather and diary</a:t>
            </a:r>
            <a:endParaRPr lang="en-US" sz="1200" dirty="0"/>
          </a:p>
        </p:txBody>
      </p:sp>
      <p:pic>
        <p:nvPicPr>
          <p:cNvPr id="17" name="Image 3" descr="arrow-right"/>
          <p:cNvPicPr>
            <a:picLocks noChangeAspect="1"/>
          </p:cNvPicPr>
          <p:nvPr/>
        </p:nvPicPr>
        <p:blipFill>
          <a:blip r:embed="rId6"/>
          <a:srcRect l="-21" r="-21"/>
          <a:stretch/>
        </p:blipFill>
        <p:spPr>
          <a:xfrm>
            <a:off x="10223639" y="1989782"/>
            <a:ext cx="228557" cy="126923"/>
          </a:xfrm>
          <a:prstGeom prst="rect">
            <a:avLst/>
          </a:prstGeom>
        </p:spPr>
      </p:pic>
      <p:pic>
        <p:nvPicPr>
          <p:cNvPr id="18" name="Image 4" descr="Person wearing outfit"/>
          <p:cNvPicPr>
            <a:picLocks noChangeAspect="1"/>
          </p:cNvPicPr>
          <p:nvPr/>
        </p:nvPicPr>
        <p:blipFill>
          <a:blip r:embed="rId8"/>
          <a:srcRect/>
          <a:stretch/>
        </p:blipFill>
        <p:spPr>
          <a:xfrm>
            <a:off x="10617292" y="1457771"/>
            <a:ext cx="761939" cy="761939"/>
          </a:xfrm>
          <a:prstGeom prst="rect">
            <a:avLst/>
          </a:prstGeom>
        </p:spPr>
      </p:pic>
      <p:sp>
        <p:nvSpPr>
          <p:cNvPr id="19" name="Text 12"/>
          <p:cNvSpPr/>
          <p:nvPr/>
        </p:nvSpPr>
        <p:spPr>
          <a:xfrm>
            <a:off x="10515706"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Today's outfit</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#27</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17/30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5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working people who dress every morning in front of a full closet.</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virtual fitting rooms: $8.5B in 2025, $52.6B by 2034 (21.8%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IMARC Group</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Recognising items from photos and virtual try-on on the body.</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75"/>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29 of 50</a:t>
            </a:r>
            <a:endParaRPr lang="en-US" sz="1200" dirty="0"/>
          </a:p>
        </p:txBody>
      </p:sp>
      <p:sp>
        <p:nvSpPr>
          <p:cNvPr id="3" name="Text 1"/>
          <p:cNvSpPr>
            <a:spLocks noGrp="1"/>
          </p:cNvSpPr>
          <p:nvPr>
            <p:ph type="title"/>
          </p:nvPr>
        </p:nvSpPr>
        <p:spPr>
          <a:xfrm>
            <a:off x="609567" y="708521"/>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Dress Rehearsal</a:t>
            </a:r>
            <a:endParaRPr lang="en-US" sz="3000" dirty="0"/>
          </a:p>
        </p:txBody>
      </p:sp>
      <p:sp>
        <p:nvSpPr>
          <p:cNvPr id="4" name="Text 2"/>
          <p:cNvSpPr/>
          <p:nvPr/>
        </p:nvSpPr>
        <p:spPr>
          <a:xfrm>
            <a:off x="609567" y="1279996"/>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salary talk, a job interview or a breakup happens once, with no rehearsal. People practise in their heads, freeze in the room, and only afterwards think of what they should have said. Practising with a real person needs a patient friend or a paid coach.</a:t>
            </a:r>
            <a:endParaRPr lang="en-US" sz="1200" dirty="0"/>
          </a:p>
        </p:txBody>
      </p:sp>
      <p:sp>
        <p:nvSpPr>
          <p:cNvPr id="5" name="Text 3"/>
          <p:cNvSpPr/>
          <p:nvPr/>
        </p:nvSpPr>
        <p:spPr>
          <a:xfrm>
            <a:off x="609567" y="1973238"/>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dress rehearsal for a hard conversation. The agent plays the other side in voice and video, reacts to what is said, reads tone, pace and body language, and raises the difficulty from round to round. After each round it gives an analysis: where there was hesitation, when the gaze drifted and which sentence worked.</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the user's voice and video.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an avatar playing the other side, and an analysis.</a:t>
            </a:r>
            <a:endParaRPr lang="en-US" sz="1200" dirty="0"/>
          </a:p>
        </p:txBody>
      </p:sp>
      <p:sp>
        <p:nvSpPr>
          <p:cNvPr id="6" name="Text 4"/>
          <p:cNvSpPr/>
          <p:nvPr/>
        </p:nvSpPr>
        <p:spPr>
          <a:xfrm>
            <a:off x="609567" y="307786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candidate practises against a tough-interviewer avatar. Afterwards: where he hesitated, when his gaze drifted, and which sentence worked best. He runs a second round.</a:t>
            </a:r>
            <a:endParaRPr lang="en-US" sz="1200" dirty="0"/>
          </a:p>
        </p:txBody>
      </p:sp>
      <p:sp>
        <p:nvSpPr>
          <p:cNvPr id="7" name="Text 5"/>
          <p:cNvSpPr/>
          <p:nvPr/>
        </p:nvSpPr>
        <p:spPr>
          <a:xfrm>
            <a:off x="609567" y="356542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Many tools exist; Yoodli gets positive feedback on Reddit. Most focus on job interviews. Possible novelty: hard personal conversations beyond the interview, and scenarios fitted to the local culture and language.</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Yoodli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Interview Warmup</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Final Round AI</a:t>
            </a:r>
            <a:endParaRPr lang="en-US" sz="1200" dirty="0"/>
          </a:p>
        </p:txBody>
      </p:sp>
      <p:sp>
        <p:nvSpPr>
          <p:cNvPr id="8" name="Text 6"/>
          <p:cNvSpPr/>
          <p:nvPr/>
        </p:nvSpPr>
        <p:spPr>
          <a:xfrm>
            <a:off x="609567" y="446440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An open scenario library (interviewer, landlord, manager) that a community extends by country and profession.</a:t>
            </a:r>
            <a:endParaRPr lang="en-US" sz="1200" dirty="0"/>
          </a:p>
        </p:txBody>
      </p:sp>
      <p:sp>
        <p:nvSpPr>
          <p:cNvPr id="9" name="Text 7"/>
          <p:cNvSpPr/>
          <p:nvPr/>
        </p:nvSpPr>
        <p:spPr>
          <a:xfrm>
            <a:off x="609567" y="4951968"/>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2/5.</a:t>
            </a:r>
            <a:r>
              <a:rPr lang="en-US" sz="1200" dirty="0">
                <a:solidFill>
                  <a:srgbClr val="16202E"/>
                </a:solidFill>
                <a:latin typeface="Rubik" pitchFamily="34" charset="0"/>
                <a:ea typeface="Rubik" pitchFamily="34" charset="-122"/>
                <a:cs typeface="Rubik" pitchFamily="34" charset="-120"/>
              </a:rPr>
              <a:t> Partial: fusing live audio and video of one person, with no space.</a:t>
            </a:r>
            <a:endParaRPr lang="en-US" sz="1200" dirty="0"/>
          </a:p>
        </p:txBody>
      </p:sp>
      <p:sp>
        <p:nvSpPr>
          <p:cNvPr id="10" name="Shape 8"/>
          <p:cNvSpPr/>
          <p:nvPr/>
        </p:nvSpPr>
        <p:spPr>
          <a:xfrm>
            <a:off x="7772484" y="1279996"/>
            <a:ext cx="3809936" cy="1546508"/>
          </a:xfrm>
          <a:prstGeom prst="roundRect">
            <a:avLst>
              <a:gd name="adj" fmla="val 8212"/>
            </a:avLst>
          </a:prstGeom>
          <a:solidFill>
            <a:srgbClr val="ECE8DF"/>
          </a:solidFill>
          <a:ln/>
        </p:spPr>
        <p:txBody>
          <a:bodyPr/>
          <a:lstStyle/>
          <a:p>
            <a:endParaRPr/>
          </a:p>
        </p:txBody>
      </p:sp>
      <p:pic>
        <p:nvPicPr>
          <p:cNvPr id="11" name="Image 0" descr="Person speaking"/>
          <p:cNvPicPr>
            <a:picLocks noChangeAspect="1"/>
          </p:cNvPicPr>
          <p:nvPr/>
        </p:nvPicPr>
        <p:blipFill>
          <a:blip r:embed="rId6"/>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You, on camera</a:t>
            </a:r>
            <a:endParaRPr lang="en-US" sz="1200" dirty="0"/>
          </a:p>
        </p:txBody>
      </p:sp>
      <p:pic>
        <p:nvPicPr>
          <p:cNvPr id="13" name="Image 1" descr="arrow-right"/>
          <p:cNvPicPr>
            <a:picLocks noChangeAspect="1"/>
          </p:cNvPicPr>
          <p:nvPr/>
        </p:nvPicPr>
        <p:blipFill>
          <a:blip r:embed="rId7"/>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Users"/>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Plays the other side</a:t>
            </a:r>
            <a:endParaRPr lang="en-US" sz="1200" dirty="0"/>
          </a:p>
        </p:txBody>
      </p:sp>
      <p:pic>
        <p:nvPicPr>
          <p:cNvPr id="17" name="Image 3" descr="arrow-right"/>
          <p:cNvPicPr>
            <a:picLocks noChangeAspect="1"/>
          </p:cNvPicPr>
          <p:nvPr/>
        </p:nvPicPr>
        <p:blipFill>
          <a:blip r:embed="rId7"/>
          <a:srcRect l="-21" r="-21"/>
          <a:stretch/>
        </p:blipFill>
        <p:spPr>
          <a:xfrm>
            <a:off x="10223639" y="1989758"/>
            <a:ext cx="228557" cy="126923"/>
          </a:xfrm>
          <a:prstGeom prst="rect">
            <a:avLst/>
          </a:prstGeom>
        </p:spPr>
      </p:pic>
      <p:pic>
        <p:nvPicPr>
          <p:cNvPr id="18" name="Image 4" descr="Analysis chart"/>
          <p:cNvPicPr>
            <a:picLocks noChangeAspect="1"/>
          </p:cNvPicPr>
          <p:nvPr/>
        </p:nvPicPr>
        <p:blipFill>
          <a:blip r:embed="rId9"/>
          <a:srcRect/>
          <a:stretch/>
        </p:blipFill>
        <p:spPr>
          <a:xfrm>
            <a:off x="10617292" y="1549152"/>
            <a:ext cx="761939" cy="761939"/>
          </a:xfrm>
          <a:prstGeom prst="rect">
            <a:avLst/>
          </a:prstGeom>
        </p:spPr>
      </p:pic>
      <p:sp>
        <p:nvSpPr>
          <p:cNvPr id="19" name="Text 12"/>
          <p:cNvSpPr/>
          <p:nvPr/>
        </p:nvSpPr>
        <p:spPr>
          <a:xfrm>
            <a:off x="10644601" y="2374553"/>
            <a:ext cx="707320"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Analysis</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#29</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17/30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job seekers, and employees before a salary talk or a hard conversation.</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interview preparation tools: $2.5B in 2023, $6.3B by 2031 (11.8%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Verified Market Research</a:t>
            </a:r>
            <a:endParaRPr lang="en-US" sz="1200" dirty="0"/>
          </a:p>
        </p:txBody>
      </p:sp>
      <p:sp>
        <p:nvSpPr>
          <p:cNvPr id="44" name="Text 37"/>
          <p:cNvSpPr/>
          <p:nvPr/>
        </p:nvSpPr>
        <p:spPr>
          <a:xfrm>
            <a:off x="7912132" y="5635159"/>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Live voice conversation and reading tone, pace and body language.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30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Voices of Home</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Grandparents' stories live in their heads and in boxes of uncaptioned photos. The family means to record them, puts it off, and often leaves it too late. Afterwards nobody knows who the people in the photos are.</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family documenter that does the work the family postpones. The agent phones Grandma once a week, asks about one scanned photo, records the story, and cross-references it with photos, documents and old recordings. Her answers build a family film in her own voice and a family tree that all the grandchildren add to.</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voice interviews, scanned photos, documents and recordings.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family film and an interactive family tree.</a:t>
            </a:r>
            <a:endParaRPr lang="en-US" sz="1200" dirty="0"/>
          </a:p>
        </p:txBody>
      </p:sp>
      <p:sp>
        <p:nvSpPr>
          <p:cNvPr id="6" name="Text 4"/>
          <p:cNvSpPr/>
          <p:nvPr/>
        </p:nvSpPr>
        <p:spPr>
          <a:xfrm>
            <a:off x="609567" y="328354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The agent calls Grandma and asks about an old photo. She tells the story of the day it was taken, and the people she names appear on the tree.</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Remento works with written prompts. An agent that calls by voice every week is a clear step beyond that, and that is the novelty. Growth is slow because it depends on an older person agreeing to take part.</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Remento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Storyworth</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Storii</a:t>
            </a:r>
            <a:endParaRPr lang="en-US" sz="1200" dirty="0"/>
          </a:p>
        </p:txBody>
      </p:sp>
      <p:sp>
        <p:nvSpPr>
          <p:cNvPr id="8" name="Text 6"/>
          <p:cNvSpPr/>
          <p:nvPr/>
        </p:nvSpPr>
        <p:spPr>
          <a:xfrm>
            <a:off x="609567" y="46700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A family archive should outlive any company: local data and export to the open GEDCOM format. The genealogy community is active.</a:t>
            </a:r>
            <a:endParaRPr lang="en-US" sz="1200" dirty="0"/>
          </a:p>
        </p:txBody>
      </p:sp>
      <p:sp>
        <p:nvSpPr>
          <p:cNvPr id="9" name="Text 7"/>
          <p:cNvSpPr/>
          <p:nvPr/>
        </p:nvSpPr>
        <p:spPr>
          <a:xfrm>
            <a:off x="609567" y="5157649"/>
            <a:ext cx="7162917"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 Close in spirit to the Care companion, but with no spatial perception.</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Old photo"/>
          <p:cNvPicPr>
            <a:picLocks noChangeAspect="1"/>
          </p:cNvPicPr>
          <p:nvPr/>
        </p:nvPicPr>
        <p:blipFill>
          <a:blip r:embed="rId6"/>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Stories and photos</a:t>
            </a:r>
            <a:endParaRPr lang="en-US" sz="1200" dirty="0"/>
          </a:p>
        </p:txBody>
      </p:sp>
      <p:pic>
        <p:nvPicPr>
          <p:cNvPr id="13" name="Image 1" descr="arrow-right"/>
          <p:cNvPicPr>
            <a:picLocks noChangeAspect="1"/>
          </p:cNvPicPr>
          <p:nvPr/>
        </p:nvPicPr>
        <p:blipFill>
          <a:blip r:embed="rId7"/>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Chat"/>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Weekly interview</a:t>
            </a:r>
            <a:endParaRPr lang="en-US" sz="1200" dirty="0"/>
          </a:p>
        </p:txBody>
      </p:sp>
      <p:pic>
        <p:nvPicPr>
          <p:cNvPr id="17" name="Image 3" descr="arrow-right"/>
          <p:cNvPicPr>
            <a:picLocks noChangeAspect="1"/>
          </p:cNvPicPr>
          <p:nvPr/>
        </p:nvPicPr>
        <p:blipFill>
          <a:blip r:embed="rId7"/>
          <a:srcRect l="-21" r="-21"/>
          <a:stretch/>
        </p:blipFill>
        <p:spPr>
          <a:xfrm>
            <a:off x="10223639" y="1989758"/>
            <a:ext cx="228557" cy="126923"/>
          </a:xfrm>
          <a:prstGeom prst="rect">
            <a:avLst/>
          </a:prstGeom>
        </p:spPr>
      </p:pic>
      <p:pic>
        <p:nvPicPr>
          <p:cNvPr id="18" name="Image 4" descr="Family tree"/>
          <p:cNvPicPr>
            <a:picLocks noChangeAspect="1"/>
          </p:cNvPicPr>
          <p:nvPr/>
        </p:nvPicPr>
        <p:blipFill>
          <a:blip r:embed="rId9"/>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Film and family tree</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#30</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17/30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families with grandparents; the children and grandchildren pay.</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genealogy products and services: $6.6B in 2024, 12% CAGR to 2032.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Kings Research</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Natural voice interviewing, cross-referenced with photos and documents.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33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New Room</a:t>
            </a:r>
            <a:endParaRPr lang="en-US" sz="3000" dirty="0"/>
          </a:p>
        </p:txBody>
      </p:sp>
      <p:sp>
        <p:nvSpPr>
          <p:cNvPr id="4" name="Text 2"/>
          <p:cNvSpPr/>
          <p:nvPr/>
        </p:nvSpPr>
        <p:spPr>
          <a:xfrm>
            <a:off x="609567" y="1280021"/>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People want a nicer room and cannot picture it. Design renderings look good but ignore the real dimensions and the budget, and then the sofa that was ordered does not fit.</a:t>
            </a:r>
            <a:endParaRPr lang="en-US" sz="1200" dirty="0"/>
          </a:p>
        </p:txBody>
      </p:sp>
      <p:sp>
        <p:nvSpPr>
          <p:cNvPr id="5" name="Text 3"/>
          <p:cNvSpPr/>
          <p:nvPr/>
        </p:nvSpPr>
        <p:spPr>
          <a:xfrm>
            <a:off x="609567" y="1767582"/>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From a video scan to a redesign on a budget. The agent builds a measured model of the room from the scan (what is where, and at what size), proposes versions, fits real furniture at the right dimensions and can order it. The room model is kept, and can be asked later where the chair is and what moved.</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video scan of the room and a spoken brief.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renderings and a shopping list.</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couple walks around the living room with the camera and says "warmer, up to 5,000 shekels". They get two renderings and a list of real items that fit.</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Fifteen AI interior design tools. As a design product there is no reason to enter. Why do it: the scan stage alone is ATARI's shared spatial memory, so we build only that.</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Planner 5D</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Room Planner</a:t>
            </a:r>
            <a:endParaRPr lang="en-US" sz="1200" dirty="0"/>
          </a:p>
        </p:txBody>
      </p:sp>
      <p:sp>
        <p:nvSpPr>
          <p:cNvPr id="8" name="Text 6"/>
          <p:cNvSpPr/>
          <p:nvPr/>
        </p:nvSpPr>
        <p:spPr>
          <a:xfrm>
            <a:off x="609567" y="425872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The scene graph as an open MCP tool that other agents query; furniture catalogues are not open.</a:t>
            </a:r>
            <a:endParaRPr lang="en-US" sz="1200" dirty="0"/>
          </a:p>
        </p:txBody>
      </p:sp>
      <p:sp>
        <p:nvSpPr>
          <p:cNvPr id="9" name="Text 7"/>
          <p:cNvSpPr/>
          <p:nvPr/>
        </p:nvSpPr>
        <p:spPr>
          <a:xfrm>
            <a:off x="609567" y="47462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5/5.</a:t>
            </a:r>
            <a:r>
              <a:rPr lang="en-US" sz="1200" dirty="0">
                <a:solidFill>
                  <a:srgbClr val="16202E"/>
                </a:solidFill>
                <a:latin typeface="Rubik" pitchFamily="34" charset="0"/>
                <a:ea typeface="Rubik" pitchFamily="34" charset="-122"/>
                <a:cs typeface="Rubik" pitchFamily="34" charset="-120"/>
              </a:rPr>
              <a:t> A core demo in the ATARI deck, as "scan only", and first in the build order. The room model is the world state the robot will plan against in 2027.</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Room"/>
          <p:cNvPicPr>
            <a:picLocks noChangeAspect="1"/>
          </p:cNvPicPr>
          <p:nvPr/>
        </p:nvPicPr>
        <p:blipFill>
          <a:blip r:embed="rId5"/>
          <a:srcRect/>
          <a:stretch/>
        </p:blipFill>
        <p:spPr>
          <a:xfrm>
            <a:off x="7975593" y="1549177"/>
            <a:ext cx="761939" cy="761939"/>
          </a:xfrm>
          <a:prstGeom prst="rect">
            <a:avLst/>
          </a:prstGeom>
        </p:spPr>
      </p:pic>
      <p:sp>
        <p:nvSpPr>
          <p:cNvPr id="12" name="Text 9"/>
          <p:cNvSpPr/>
          <p:nvPr/>
        </p:nvSpPr>
        <p:spPr>
          <a:xfrm>
            <a:off x="7891563" y="2374578"/>
            <a:ext cx="930079"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Video scan</a:t>
            </a:r>
            <a:endParaRPr lang="en-US" sz="1200" dirty="0"/>
          </a:p>
        </p:txBody>
      </p:sp>
      <p:pic>
        <p:nvPicPr>
          <p:cNvPr id="13" name="Image 1" descr="arrow-right"/>
          <p:cNvPicPr>
            <a:picLocks noChangeAspect="1"/>
          </p:cNvPicPr>
          <p:nvPr/>
        </p:nvPicPr>
        <p:blipFill>
          <a:blip r:embed="rId6"/>
          <a:srcRect l="-21" r="-21"/>
          <a:stretch/>
        </p:blipFill>
        <p:spPr>
          <a:xfrm>
            <a:off x="8902789" y="1989782"/>
            <a:ext cx="228557" cy="126923"/>
          </a:xfrm>
          <a:prstGeom prst="rect">
            <a:avLst/>
          </a:prstGeom>
        </p:spPr>
      </p:pic>
      <p:sp>
        <p:nvSpPr>
          <p:cNvPr id="14" name="Shape 10"/>
          <p:cNvSpPr/>
          <p:nvPr/>
        </p:nvSpPr>
        <p:spPr>
          <a:xfrm>
            <a:off x="9296443" y="1457771"/>
            <a:ext cx="761939" cy="761939"/>
          </a:xfrm>
          <a:prstGeom prst="roundRect">
            <a:avLst>
              <a:gd name="adj" fmla="val 50000"/>
            </a:avLst>
          </a:prstGeom>
          <a:solidFill>
            <a:srgbClr val="16202E"/>
          </a:solidFill>
          <a:ln/>
        </p:spPr>
        <p:txBody>
          <a:bodyPr/>
          <a:lstStyle/>
          <a:p>
            <a:endParaRPr/>
          </a:p>
        </p:txBody>
      </p:sp>
      <p:pic>
        <p:nvPicPr>
          <p:cNvPr id="15" name="Image 2" descr="Home"/>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Builds a room model</a:t>
            </a:r>
            <a:endParaRPr lang="en-US" sz="1200" dirty="0"/>
          </a:p>
        </p:txBody>
      </p:sp>
      <p:pic>
        <p:nvPicPr>
          <p:cNvPr id="17" name="Image 3" descr="arrow-right"/>
          <p:cNvPicPr>
            <a:picLocks noChangeAspect="1"/>
          </p:cNvPicPr>
          <p:nvPr/>
        </p:nvPicPr>
        <p:blipFill>
          <a:blip r:embed="rId6"/>
          <a:srcRect l="-21" r="-21"/>
          <a:stretch/>
        </p:blipFill>
        <p:spPr>
          <a:xfrm>
            <a:off x="10223639" y="1989782"/>
            <a:ext cx="228557" cy="126923"/>
          </a:xfrm>
          <a:prstGeom prst="rect">
            <a:avLst/>
          </a:prstGeom>
        </p:spPr>
      </p:pic>
      <p:pic>
        <p:nvPicPr>
          <p:cNvPr id="18" name="Image 4" descr="Shopping cart"/>
          <p:cNvPicPr>
            <a:picLocks noChangeAspect="1"/>
          </p:cNvPicPr>
          <p:nvPr/>
        </p:nvPicPr>
        <p:blipFill>
          <a:blip r:embed="rId8"/>
          <a:srcRect/>
          <a:stretch/>
        </p:blipFill>
        <p:spPr>
          <a:xfrm>
            <a:off x="10617292" y="1457771"/>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Renderings and list</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#33</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17/30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couples and families refreshing a room; furniture retailers.</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AI in interior design: $1.09B in 2024, $2.83B by 2028 (27%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The Business Research Company</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Turning video into a measured room model is the core of spatial AI.</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34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Second-Hand Inspector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buyer of a used car, bicycle or phone stands next to the item without the knowledge to judge it, and the seller knows it. A garage inspection costs money and time, so he skips it and overpays or buys a fault.</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An expert in the pocket before buying. The agent directs the inspection step by step: what to photograph, what to record, what to switch on. From the images and the sound it compiles a list of defects, compares with market prices and drafts haggling arguments. For a large deal it still recommends a garage check before paying.</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photos and sound recordings of the item.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list of defects, a fair price range and haggling arguments.</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Tyre photos and the engine at idle: uneven wear, a ticking noise, a fair price range and three points to raise with the seller.</a:t>
            </a:r>
            <a:endParaRPr lang="en-US" sz="1200" dirty="0"/>
          </a:p>
        </p:txBody>
      </p:sp>
      <p:sp>
        <p:nvSpPr>
          <p:cNvPr id="7" name="Text 5"/>
          <p:cNvSpPr/>
          <p:nvPr/>
        </p:nvSpPr>
        <p:spPr>
          <a:xfrm>
            <a:off x="609567" y="3771131"/>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A few small apps such as AutoScan, and dealerships starting to use AI that listens to engines. Novelty: interactive direction of the inspection, and combining sound with image. Risk: one wrong diagnosis in an expensive deal damages trust at once.</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AutoScan</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ACV AMP</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DeGould</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6">
                  <a:extLst>
                    <a:ext uri="{A12FA001-AC4F-418D-AE19-62706E023703}">
                      <ahyp:hlinkClr xmlns:ahyp="http://schemas.microsoft.com/office/drawing/2018/hyperlinkcolor" val="tx"/>
                    </a:ext>
                  </a:extLst>
                </a:hlinkClick>
              </a:rPr>
              <a:t>Inspectrai</a:t>
            </a:r>
            <a:endParaRPr lang="en-US" sz="1200" dirty="0"/>
          </a:p>
        </p:txBody>
      </p:sp>
      <p:sp>
        <p:nvSpPr>
          <p:cNvPr id="8" name="Text 6"/>
          <p:cNvSpPr/>
          <p:nvPr/>
        </p:nvSpPr>
        <p:spPr>
          <a:xfrm>
            <a:off x="609567" y="467011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Uses the open fault-sound dataset of Listen to the Machine, plus community checklists per model.</a:t>
            </a:r>
            <a:endParaRPr lang="en-US" sz="1200" dirty="0"/>
          </a:p>
        </p:txBody>
      </p:sp>
      <p:sp>
        <p:nvSpPr>
          <p:cNvPr id="9" name="Text 7"/>
          <p:cNvSpPr/>
          <p:nvPr/>
        </p:nvSpPr>
        <p:spPr>
          <a:xfrm>
            <a:off x="609567" y="5157673"/>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4/5.</a:t>
            </a:r>
            <a:r>
              <a:rPr lang="en-US" sz="1200" dirty="0">
                <a:solidFill>
                  <a:srgbClr val="16202E"/>
                </a:solidFill>
                <a:latin typeface="Rubik" pitchFamily="34" charset="0"/>
                <a:ea typeface="Rubik" pitchFamily="34" charset="-122"/>
                <a:cs typeface="Rubik" pitchFamily="34" charset="-120"/>
              </a:rPr>
              <a:t> The same sound-image fusion core as Listen to the Machine, on a different object. It extends that demo with no new perception work.</a:t>
            </a:r>
            <a:endParaRPr lang="en-US" sz="1200" dirty="0"/>
          </a:p>
        </p:txBody>
      </p:sp>
      <p:sp>
        <p:nvSpPr>
          <p:cNvPr id="10" name="Shape 8"/>
          <p:cNvSpPr/>
          <p:nvPr/>
        </p:nvSpPr>
        <p:spPr>
          <a:xfrm>
            <a:off x="7772484" y="1280021"/>
            <a:ext cx="3809936" cy="1729322"/>
          </a:xfrm>
          <a:prstGeom prst="roundRect">
            <a:avLst>
              <a:gd name="adj" fmla="val 7344"/>
            </a:avLst>
          </a:prstGeom>
          <a:solidFill>
            <a:srgbClr val="ECE8DF"/>
          </a:solidFill>
          <a:ln/>
        </p:spPr>
        <p:txBody>
          <a:bodyPr/>
          <a:lstStyle/>
          <a:p>
            <a:endParaRPr/>
          </a:p>
        </p:txBody>
      </p:sp>
      <p:pic>
        <p:nvPicPr>
          <p:cNvPr id="11" name="Image 0" descr="Used car"/>
          <p:cNvPicPr>
            <a:picLocks noChangeAspect="1"/>
          </p:cNvPicPr>
          <p:nvPr/>
        </p:nvPicPr>
        <p:blipFill>
          <a:blip r:embed="rId7"/>
          <a:srcRect/>
          <a:stretch/>
        </p:blipFill>
        <p:spPr>
          <a:xfrm>
            <a:off x="7975593" y="1457771"/>
            <a:ext cx="761939" cy="761939"/>
          </a:xfrm>
          <a:prstGeom prst="rect">
            <a:avLst/>
          </a:prstGeom>
        </p:spPr>
      </p:pic>
      <p:sp>
        <p:nvSpPr>
          <p:cNvPr id="12" name="Text 9"/>
          <p:cNvSpPr/>
          <p:nvPr/>
        </p:nvSpPr>
        <p:spPr>
          <a:xfrm>
            <a:off x="7874007" y="2283172"/>
            <a:ext cx="965191" cy="573841"/>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Photos, engine sound</a:t>
            </a:r>
            <a:endParaRPr lang="en-US" sz="1200" dirty="0"/>
          </a:p>
        </p:txBody>
      </p:sp>
      <p:pic>
        <p:nvPicPr>
          <p:cNvPr id="13" name="Image 1" descr="arrow-right"/>
          <p:cNvPicPr>
            <a:picLocks noChangeAspect="1"/>
          </p:cNvPicPr>
          <p:nvPr/>
        </p:nvPicPr>
        <p:blipFill>
          <a:blip r:embed="rId8"/>
          <a:srcRect l="-21" r="-21"/>
          <a:stretch/>
        </p:blipFill>
        <p:spPr>
          <a:xfrm>
            <a:off x="8902789" y="2081188"/>
            <a:ext cx="228557" cy="126923"/>
          </a:xfrm>
          <a:prstGeom prst="rect">
            <a:avLst/>
          </a:prstGeom>
        </p:spPr>
      </p:pic>
      <p:sp>
        <p:nvSpPr>
          <p:cNvPr id="14" name="Shape 10"/>
          <p:cNvSpPr/>
          <p:nvPr/>
        </p:nvSpPr>
        <p:spPr>
          <a:xfrm>
            <a:off x="9296443" y="1549177"/>
            <a:ext cx="761939" cy="761939"/>
          </a:xfrm>
          <a:prstGeom prst="roundRect">
            <a:avLst>
              <a:gd name="adj" fmla="val 50000"/>
            </a:avLst>
          </a:prstGeom>
          <a:solidFill>
            <a:srgbClr val="16202E"/>
          </a:solidFill>
          <a:ln/>
        </p:spPr>
        <p:txBody>
          <a:bodyPr/>
          <a:lstStyle/>
          <a:p>
            <a:endParaRPr/>
          </a:p>
        </p:txBody>
      </p:sp>
      <p:pic>
        <p:nvPicPr>
          <p:cNvPr id="15" name="Image 2" descr="Search"/>
          <p:cNvPicPr>
            <a:picLocks noChangeAspect="1"/>
          </p:cNvPicPr>
          <p:nvPr/>
        </p:nvPicPr>
        <p:blipFill>
          <a:blip r:embed="rId9"/>
          <a:srcRect/>
          <a:stretch/>
        </p:blipFill>
        <p:spPr>
          <a:xfrm>
            <a:off x="9499632" y="1752352"/>
            <a:ext cx="355561" cy="355561"/>
          </a:xfrm>
          <a:prstGeom prst="rect">
            <a:avLst/>
          </a:prstGeom>
        </p:spPr>
      </p:pic>
      <p:sp>
        <p:nvSpPr>
          <p:cNvPr id="16" name="Text 11"/>
          <p:cNvSpPr/>
          <p:nvPr/>
        </p:nvSpPr>
        <p:spPr>
          <a:xfrm>
            <a:off x="9194857" y="2374578"/>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Guides inspection</a:t>
            </a:r>
            <a:endParaRPr lang="en-US" sz="1200" dirty="0"/>
          </a:p>
        </p:txBody>
      </p:sp>
      <p:pic>
        <p:nvPicPr>
          <p:cNvPr id="17" name="Image 3" descr="arrow-right"/>
          <p:cNvPicPr>
            <a:picLocks noChangeAspect="1"/>
          </p:cNvPicPr>
          <p:nvPr/>
        </p:nvPicPr>
        <p:blipFill>
          <a:blip r:embed="rId8"/>
          <a:srcRect l="-21" r="-21"/>
          <a:stretch/>
        </p:blipFill>
        <p:spPr>
          <a:xfrm>
            <a:off x="10223639" y="2081188"/>
            <a:ext cx="228557" cy="126923"/>
          </a:xfrm>
          <a:prstGeom prst="rect">
            <a:avLst/>
          </a:prstGeom>
        </p:spPr>
      </p:pic>
      <p:pic>
        <p:nvPicPr>
          <p:cNvPr id="18" name="Image 4" descr="Defect list"/>
          <p:cNvPicPr>
            <a:picLocks noChangeAspect="1"/>
          </p:cNvPicPr>
          <p:nvPr/>
        </p:nvPicPr>
        <p:blipFill>
          <a:blip r:embed="rId10"/>
          <a:srcRect/>
          <a:stretch/>
        </p:blipFill>
        <p:spPr>
          <a:xfrm>
            <a:off x="10617292" y="1549177"/>
            <a:ext cx="761939" cy="761939"/>
          </a:xfrm>
          <a:prstGeom prst="rect">
            <a:avLst/>
          </a:prstGeom>
        </p:spPr>
      </p:pic>
      <p:sp>
        <p:nvSpPr>
          <p:cNvPr id="19" name="Text 12"/>
          <p:cNvSpPr/>
          <p:nvPr/>
        </p:nvSpPr>
        <p:spPr>
          <a:xfrm>
            <a:off x="10515706" y="2374578"/>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Defects, fair price</a:t>
            </a:r>
            <a:endParaRPr lang="en-US" sz="1200" dirty="0"/>
          </a:p>
        </p:txBody>
      </p:sp>
      <p:sp>
        <p:nvSpPr>
          <p:cNvPr id="20" name="Shape 13"/>
          <p:cNvSpPr/>
          <p:nvPr/>
        </p:nvSpPr>
        <p:spPr>
          <a:xfrm>
            <a:off x="7775659" y="313945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21761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#34</a:t>
            </a:r>
            <a:endParaRPr lang="en-US" sz="2000" dirty="0"/>
          </a:p>
        </p:txBody>
      </p:sp>
      <p:sp>
        <p:nvSpPr>
          <p:cNvPr id="22" name="Text 15"/>
          <p:cNvSpPr/>
          <p:nvPr/>
        </p:nvSpPr>
        <p:spPr>
          <a:xfrm>
            <a:off x="7777607" y="349699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3136280"/>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21245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17/30</a:t>
            </a:r>
            <a:endParaRPr lang="en-US" sz="2000" dirty="0"/>
          </a:p>
        </p:txBody>
      </p:sp>
      <p:sp>
        <p:nvSpPr>
          <p:cNvPr id="25" name="Text 18"/>
          <p:cNvSpPr/>
          <p:nvPr/>
        </p:nvSpPr>
        <p:spPr>
          <a:xfrm>
            <a:off x="8738865" y="349183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313945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21761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49699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8582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936380"/>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40" name="Text 33"/>
          <p:cNvSpPr/>
          <p:nvPr/>
        </p:nvSpPr>
        <p:spPr>
          <a:xfrm>
            <a:off x="10682655" y="421575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637286"/>
            <a:ext cx="3809936" cy="1492952"/>
          </a:xfrm>
          <a:prstGeom prst="roundRect">
            <a:avLst>
              <a:gd name="adj" fmla="val 5955"/>
            </a:avLst>
          </a:prstGeom>
          <a:solidFill>
            <a:srgbClr val="16202E"/>
          </a:solidFill>
          <a:ln/>
        </p:spPr>
        <p:txBody>
          <a:bodyPr/>
          <a:lstStyle/>
          <a:p>
            <a:endParaRPr/>
          </a:p>
        </p:txBody>
      </p:sp>
      <p:sp>
        <p:nvSpPr>
          <p:cNvPr id="42" name="Text 35"/>
          <p:cNvSpPr/>
          <p:nvPr/>
        </p:nvSpPr>
        <p:spPr>
          <a:xfrm>
            <a:off x="7912132" y="475156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private buyers of a used car, bicycle or phone.</a:t>
            </a:r>
            <a:endParaRPr lang="en-US" sz="1200" dirty="0"/>
          </a:p>
        </p:txBody>
      </p:sp>
      <p:sp>
        <p:nvSpPr>
          <p:cNvPr id="43" name="Text 36"/>
          <p:cNvSpPr/>
          <p:nvPr/>
        </p:nvSpPr>
        <p:spPr>
          <a:xfrm>
            <a:off x="7912132" y="5185718"/>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used cars: $2.7T forecast for 2030 (6% CAGR). Source: </a:t>
            </a:r>
            <a:r>
              <a:rPr lang="en-US" sz="1200" u="sng" dirty="0">
                <a:solidFill>
                  <a:srgbClr val="F2B880"/>
                </a:solidFill>
                <a:latin typeface="Rubik" pitchFamily="34" charset="0"/>
                <a:ea typeface="Rubik" pitchFamily="34" charset="-122"/>
                <a:cs typeface="Rubik" pitchFamily="34" charset="-120"/>
                <a:hlinkClick r:id="rId11">
                  <a:extLst>
                    <a:ext uri="{A12FA001-AC4F-418D-AE19-62706E023703}">
                      <ahyp:hlinkClr xmlns:ahyp="http://schemas.microsoft.com/office/drawing/2018/hyperlinkcolor" val="tx"/>
                    </a:ext>
                  </a:extLst>
                </a:hlinkClick>
              </a:rPr>
              <a:t>Grand View Research</a:t>
            </a:r>
            <a:endParaRPr lang="en-US" sz="1200" dirty="0"/>
          </a:p>
        </p:txBody>
      </p:sp>
      <p:sp>
        <p:nvSpPr>
          <p:cNvPr id="44" name="Text 37"/>
          <p:cNvSpPr/>
          <p:nvPr/>
        </p:nvSpPr>
        <p:spPr>
          <a:xfrm>
            <a:off x="7912132" y="5619874"/>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Diagnosis from sound and image that until now needed a human expert.</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75"/>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36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Street Language</a:t>
            </a:r>
            <a:endParaRPr lang="en-US" sz="3000" dirty="0"/>
          </a:p>
        </p:txBody>
      </p:sp>
      <p:sp>
        <p:nvSpPr>
          <p:cNvPr id="4" name="Text 2"/>
          <p:cNvSpPr/>
          <p:nvPr/>
        </p:nvSpPr>
        <p:spPr>
          <a:xfrm>
            <a:off x="609567" y="1279996"/>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Language apps teach sentences about things that are not in front of the learner. He knows the app's vocabulary and cannot shop at the supermarket or ask a question in the street in the new language.</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language teacher that turns any surroundings into a lesson. The learner points the camera; the agent recognises what is in view, opens a spoken conversation about it, plays a role (shopkeeper, driver, neighbour) and corrects pronunciation. It remembers which words were already learned and adjusts the level. Limitation: talking to a phone aloud in public is awkward.</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live camera and the learner's speech.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spoken conversation and pronunciation corrections.</a:t>
            </a:r>
            <a:endParaRPr lang="en-US" sz="1200" dirty="0"/>
          </a:p>
        </p:txBody>
      </p:sp>
      <p:sp>
        <p:nvSpPr>
          <p:cNvPr id="6" name="Text 4"/>
          <p:cNvSpPr/>
          <p:nvPr/>
        </p:nvSpPr>
        <p:spPr>
          <a:xfrm>
            <a:off x="609567" y="328354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At the supermarket a learner points the camera at a shelf. The agent asks in English which cereal she would choose and why, and corrects two words.</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Duolingo's Video Call and Google's language practice tools cover AI conversation. Absorbed by platforms. The only angle: small languages, and Hebrew for new immigrants, where the large players invest less.</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Duolingo Video Call</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Little Language Lessons</a:t>
            </a:r>
            <a:endParaRPr lang="en-US" sz="1200" dirty="0"/>
          </a:p>
        </p:txBody>
      </p:sp>
      <p:sp>
        <p:nvSpPr>
          <p:cNvPr id="8" name="Text 6"/>
          <p:cNvSpPr/>
          <p:nvPr/>
        </p:nvSpPr>
        <p:spPr>
          <a:xfrm>
            <a:off x="609567" y="4670088"/>
            <a:ext cx="7162917"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Community language packs are the only route where openness gives an edge.</a:t>
            </a:r>
            <a:endParaRPr lang="en-US" sz="1200" dirty="0"/>
          </a:p>
        </p:txBody>
      </p:sp>
      <p:sp>
        <p:nvSpPr>
          <p:cNvPr id="9" name="Text 7"/>
          <p:cNvSpPr/>
          <p:nvPr/>
        </p:nvSpPr>
        <p:spPr>
          <a:xfrm>
            <a:off x="609567" y="495196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3/5.</a:t>
            </a:r>
            <a:r>
              <a:rPr lang="en-US" sz="1200" dirty="0">
                <a:solidFill>
                  <a:srgbClr val="16202E"/>
                </a:solidFill>
                <a:latin typeface="Rubik" pitchFamily="34" charset="0"/>
                <a:ea typeface="Rubik" pitchFamily="34" charset="-122"/>
                <a:cs typeface="Rubik" pitchFamily="34" charset="-120"/>
              </a:rPr>
              <a:t> Recognising objects in a real environment from a live camera and talking about them, the same core as Camera Companion. It builds no spatial memory.</a:t>
            </a:r>
            <a:endParaRPr lang="en-US" sz="1200" dirty="0"/>
          </a:p>
        </p:txBody>
      </p:sp>
      <p:sp>
        <p:nvSpPr>
          <p:cNvPr id="10" name="Shape 8"/>
          <p:cNvSpPr/>
          <p:nvPr/>
        </p:nvSpPr>
        <p:spPr>
          <a:xfrm>
            <a:off x="7772484" y="1279996"/>
            <a:ext cx="3809936" cy="1546508"/>
          </a:xfrm>
          <a:prstGeom prst="roundRect">
            <a:avLst>
              <a:gd name="adj" fmla="val 8212"/>
            </a:avLst>
          </a:prstGeom>
          <a:solidFill>
            <a:srgbClr val="ECE8DF"/>
          </a:solidFill>
          <a:ln/>
        </p:spPr>
        <p:txBody>
          <a:bodyPr/>
          <a:lstStyle/>
          <a:p>
            <a:endParaRPr/>
          </a:p>
        </p:txBody>
      </p:sp>
      <p:pic>
        <p:nvPicPr>
          <p:cNvPr id="11" name="Image 0" descr="Phone camera"/>
          <p:cNvPicPr>
            <a:picLocks noChangeAspect="1"/>
          </p:cNvPicPr>
          <p:nvPr/>
        </p:nvPicPr>
        <p:blipFill>
          <a:blip r:embed="rId5"/>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Camera and speech</a:t>
            </a:r>
            <a:endParaRPr lang="en-US" sz="1200" dirty="0"/>
          </a:p>
        </p:txBody>
      </p:sp>
      <p:pic>
        <p:nvPicPr>
          <p:cNvPr id="13" name="Image 1" descr="arrow-right"/>
          <p:cNvPicPr>
            <a:picLocks noChangeAspect="1"/>
          </p:cNvPicPr>
          <p:nvPr/>
        </p:nvPicPr>
        <p:blipFill>
          <a:blip r:embed="rId6"/>
          <a:srcRect l="-21" r="-21"/>
          <a:stretch/>
        </p:blipFill>
        <p:spPr>
          <a:xfrm>
            <a:off x="8902789" y="1989758"/>
            <a:ext cx="228557" cy="126923"/>
          </a:xfrm>
          <a:prstGeom prst="rect">
            <a:avLst/>
          </a:prstGeom>
        </p:spPr>
      </p:pic>
      <p:sp>
        <p:nvSpPr>
          <p:cNvPr id="14" name="Shape 10"/>
          <p:cNvSpPr/>
          <p:nvPr/>
        </p:nvSpPr>
        <p:spPr>
          <a:xfrm>
            <a:off x="9296443" y="1549152"/>
            <a:ext cx="761939" cy="761939"/>
          </a:xfrm>
          <a:prstGeom prst="roundRect">
            <a:avLst>
              <a:gd name="adj" fmla="val 50000"/>
            </a:avLst>
          </a:prstGeom>
          <a:solidFill>
            <a:srgbClr val="16202E"/>
          </a:solidFill>
          <a:ln/>
        </p:spPr>
        <p:txBody>
          <a:bodyPr/>
          <a:lstStyle/>
          <a:p>
            <a:endParaRPr/>
          </a:p>
        </p:txBody>
      </p:sp>
      <p:pic>
        <p:nvPicPr>
          <p:cNvPr id="15" name="Image 2" descr="Globe"/>
          <p:cNvPicPr>
            <a:picLocks noChangeAspect="1"/>
          </p:cNvPicPr>
          <p:nvPr/>
        </p:nvPicPr>
        <p:blipFill>
          <a:blip r:embed="rId7"/>
          <a:srcRect/>
          <a:stretch/>
        </p:blipFill>
        <p:spPr>
          <a:xfrm>
            <a:off x="9499632" y="1752352"/>
            <a:ext cx="355561" cy="355561"/>
          </a:xfrm>
          <a:prstGeom prst="rect">
            <a:avLst/>
          </a:prstGeom>
        </p:spPr>
      </p:pic>
      <p:sp>
        <p:nvSpPr>
          <p:cNvPr id="16" name="Text 11"/>
          <p:cNvSpPr/>
          <p:nvPr/>
        </p:nvSpPr>
        <p:spPr>
          <a:xfrm>
            <a:off x="9226329" y="2374553"/>
            <a:ext cx="902246"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Role-plays</a:t>
            </a:r>
            <a:endParaRPr lang="en-US" sz="1200" dirty="0"/>
          </a:p>
        </p:txBody>
      </p:sp>
      <p:pic>
        <p:nvPicPr>
          <p:cNvPr id="17" name="Image 3" descr="arrow-right"/>
          <p:cNvPicPr>
            <a:picLocks noChangeAspect="1"/>
          </p:cNvPicPr>
          <p:nvPr/>
        </p:nvPicPr>
        <p:blipFill>
          <a:blip r:embed="rId6"/>
          <a:srcRect l="-21" r="-21"/>
          <a:stretch/>
        </p:blipFill>
        <p:spPr>
          <a:xfrm>
            <a:off x="10223639" y="1989758"/>
            <a:ext cx="228557" cy="126923"/>
          </a:xfrm>
          <a:prstGeom prst="rect">
            <a:avLst/>
          </a:prstGeom>
        </p:spPr>
      </p:pic>
      <p:pic>
        <p:nvPicPr>
          <p:cNvPr id="18" name="Image 4" descr="Conversation"/>
          <p:cNvPicPr>
            <a:picLocks noChangeAspect="1"/>
          </p:cNvPicPr>
          <p:nvPr/>
        </p:nvPicPr>
        <p:blipFill>
          <a:blip r:embed="rId8"/>
          <a:srcRect/>
          <a:stretch/>
        </p:blipFill>
        <p:spPr>
          <a:xfrm>
            <a:off x="10617292" y="1457747"/>
            <a:ext cx="761939" cy="761939"/>
          </a:xfrm>
          <a:prstGeom prst="rect">
            <a:avLst/>
          </a:prstGeom>
        </p:spPr>
      </p:pic>
      <p:sp>
        <p:nvSpPr>
          <p:cNvPr id="19" name="Text 12"/>
          <p:cNvSpPr/>
          <p:nvPr/>
        </p:nvSpPr>
        <p:spPr>
          <a:xfrm>
            <a:off x="10511035" y="2283147"/>
            <a:ext cx="974533"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Live conversation</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#36</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16/30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889107"/>
          </a:xfrm>
          <a:prstGeom prst="roundRect">
            <a:avLst>
              <a:gd name="adj" fmla="val 5257"/>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language learners, new immigrants and travellers.</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online language learning: $44.9B forecast for 2031 (19.5%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Meticulous Research</a:t>
            </a:r>
            <a:endParaRPr lang="en-US" sz="1200" dirty="0"/>
          </a:p>
        </p:txBody>
      </p:sp>
      <p:sp>
        <p:nvSpPr>
          <p:cNvPr id="44" name="Text 37"/>
          <p:cNvSpPr/>
          <p:nvPr/>
        </p:nvSpPr>
        <p:spPr>
          <a:xfrm>
            <a:off x="7912132" y="5635159"/>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Recognising the surroundings and level-adjusted voice conversation.</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37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Practice coach that sees your work</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Tutorial videos cannot see the learner. He repeats the same wrong habit for months because nobody looks at what he made, and a private teacher who would give personal feedback costs too much for a hobby.</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coach that looks at the work itself. It examines the results against this week's exercise, marks on the image what does not work and suggests a fix, plans the next exercise and remembers habits that recur from week to week. In a live version it corrects by voice in real time. Start with photography; "any skill" is too broad for one product.</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the learner's photos, or a live camera on what they are doing.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annotated feedback, voice corrections and a practice plan.</a:t>
            </a:r>
            <a:endParaRPr lang="en-US" sz="1200" dirty="0"/>
          </a:p>
        </p:txBody>
      </p:sp>
      <p:sp>
        <p:nvSpPr>
          <p:cNvPr id="6" name="Text 4"/>
          <p:cNvSpPr/>
          <p:nvPr/>
        </p:nvSpPr>
        <p:spPr>
          <a:xfrm>
            <a:off x="609567" y="3283545"/>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Twelve photos on "leading lines": in three the lines lead the eye out of the frame, one gets a suggested crop, and last week's tilted horizon is back.</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Adobe added Photo Critique to its Project Indigo camera app in July 2026; photo critique has become a feature. Novelty: memory across weeks and a practice plan, which are hard to show in a demo.</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Adobe Project Indigo</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PhotoMentor</a:t>
            </a:r>
            <a:endParaRPr lang="en-US" sz="1200" dirty="0"/>
          </a:p>
        </p:txBody>
      </p:sp>
      <p:sp>
        <p:nvSpPr>
          <p:cNvPr id="8" name="Text 6"/>
          <p:cNvSpPr/>
          <p:nvPr/>
        </p:nvSpPr>
        <p:spPr>
          <a:xfrm>
            <a:off x="609567" y="46700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One open coaching loop with a curriculum file per skill, contributed by teachers.</a:t>
            </a:r>
            <a:endParaRPr lang="en-US" sz="1200" dirty="0"/>
          </a:p>
        </p:txBody>
      </p:sp>
      <p:sp>
        <p:nvSpPr>
          <p:cNvPr id="9" name="Text 7"/>
          <p:cNvSpPr/>
          <p:nvPr/>
        </p:nvSpPr>
        <p:spPr>
          <a:xfrm>
            <a:off x="609567" y="5157649"/>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3/5.</a:t>
            </a:r>
            <a:r>
              <a:rPr lang="en-US" sz="1200" dirty="0">
                <a:solidFill>
                  <a:srgbClr val="16202E"/>
                </a:solidFill>
                <a:latin typeface="Rubik" pitchFamily="34" charset="0"/>
                <a:ea typeface="Rubik" pitchFamily="34" charset="-122"/>
                <a:cs typeface="Rubik" pitchFamily="34" charset="-120"/>
              </a:rPr>
              <a:t> An optional demo in the ATARI deck: execution monitoring, that is, did the task come out right. Recommended there for photography only, with memory.</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amera"/>
          <p:cNvPicPr>
            <a:picLocks noChangeAspect="1"/>
          </p:cNvPicPr>
          <p:nvPr/>
        </p:nvPicPr>
        <p:blipFill>
          <a:blip r:embed="rId5"/>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This week's photos</a:t>
            </a:r>
            <a:endParaRPr lang="en-US" sz="1200" dirty="0"/>
          </a:p>
        </p:txBody>
      </p:sp>
      <p:pic>
        <p:nvPicPr>
          <p:cNvPr id="13" name="Image 1" descr="arrow-right"/>
          <p:cNvPicPr>
            <a:picLocks noChangeAspect="1"/>
          </p:cNvPicPr>
          <p:nvPr/>
        </p:nvPicPr>
        <p:blipFill>
          <a:blip r:embed="rId6"/>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GraduationCap"/>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Remembers habits</a:t>
            </a:r>
            <a:endParaRPr lang="en-US" sz="1200" dirty="0"/>
          </a:p>
        </p:txBody>
      </p:sp>
      <p:pic>
        <p:nvPicPr>
          <p:cNvPr id="17" name="Image 3" descr="arrow-right"/>
          <p:cNvPicPr>
            <a:picLocks noChangeAspect="1"/>
          </p:cNvPicPr>
          <p:nvPr/>
        </p:nvPicPr>
        <p:blipFill>
          <a:blip r:embed="rId6"/>
          <a:srcRect l="-21" r="-21"/>
          <a:stretch/>
        </p:blipFill>
        <p:spPr>
          <a:xfrm>
            <a:off x="10223639" y="1989758"/>
            <a:ext cx="228557" cy="126923"/>
          </a:xfrm>
          <a:prstGeom prst="rect">
            <a:avLst/>
          </a:prstGeom>
        </p:spPr>
      </p:pic>
      <p:pic>
        <p:nvPicPr>
          <p:cNvPr id="18" name="Image 4" descr="Annotated photo"/>
          <p:cNvPicPr>
            <a:picLocks noChangeAspect="1"/>
          </p:cNvPicPr>
          <p:nvPr/>
        </p:nvPicPr>
        <p:blipFill>
          <a:blip r:embed="rId8"/>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Critique and plan</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#37</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16/30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self-taught learners of photography, guitar, cooking or drawing.</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online photography education: +$846M growth 2023-2028 (7.9% CAGR).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Technavio</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Seeing the learner's work and remembering habits across weeks.</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38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Damage Assessor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After a dent in the car, a leak in the wall or a cracked screen, people do not know what the repair involves, what it should cost or how to word the claim. They reach the garage or the insurer with no point of reference.</a:t>
            </a:r>
            <a:endParaRPr lang="en-US" sz="1200" dirty="0"/>
          </a:p>
        </p:txBody>
      </p:sp>
      <p:sp>
        <p:nvSpPr>
          <p:cNvPr id="5" name="Text 3"/>
          <p:cNvSpPr/>
          <p:nvPr/>
        </p:nvSpPr>
        <p:spPr>
          <a:xfrm>
            <a:off x="609567" y="1973263"/>
            <a:ext cx="7063919" cy="1053828"/>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first-pass assessor on the phone. The user photographs the damage from several angles; the agent describes it, sets out the likely repair routes and parts, gives a rough cost range for each route and drafts an insurance claim or repair request with the photos. The range is an estimate, not a quote, and the user checks and submits.</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photos of the damage.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description, a parts list, a cost range and a claim draft.</a:t>
            </a:r>
            <a:endParaRPr lang="en-US" sz="1200" dirty="0"/>
          </a:p>
        </p:txBody>
      </p:sp>
      <p:sp>
        <p:nvSpPr>
          <p:cNvPr id="6" name="Text 4"/>
          <p:cNvSpPr/>
          <p:nvPr/>
        </p:nvSpPr>
        <p:spPr>
          <a:xfrm>
            <a:off x="609567" y="307789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Three photos of a dented rear door: cracked paint, intact seal, two repair routes with cost ranges, and a claim draft.</a:t>
            </a:r>
            <a:endParaRPr lang="en-US" sz="1200" dirty="0"/>
          </a:p>
        </p:txBody>
      </p:sp>
      <p:sp>
        <p:nvSpPr>
          <p:cNvPr id="7" name="Text 5"/>
          <p:cNvSpPr/>
          <p:nvPr/>
        </p:nvSpPr>
        <p:spPr>
          <a:xfrm>
            <a:off x="609567" y="356542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Small consumer apps exist, and insurers run their own estimation. No clear novelty. Why do it anyway: an easy demo that reuses the photo-inspection core of Second-Hand Inspector.</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Tractable</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Inspectrai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DeGould</a:t>
            </a:r>
            <a:endParaRPr lang="en-US" sz="1200" dirty="0"/>
          </a:p>
        </p:txBody>
      </p:sp>
      <p:sp>
        <p:nvSpPr>
          <p:cNvPr id="8" name="Text 6"/>
          <p:cNvSpPr/>
          <p:nvPr/>
        </p:nvSpPr>
        <p:spPr>
          <a:xfrm>
            <a:off x="609567" y="4464407"/>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Community price tables per country are possible; there is no natural community around insurance claims.</a:t>
            </a:r>
            <a:endParaRPr lang="en-US" sz="1200" dirty="0"/>
          </a:p>
        </p:txBody>
      </p:sp>
      <p:sp>
        <p:nvSpPr>
          <p:cNvPr id="9" name="Text 7"/>
          <p:cNvSpPr/>
          <p:nvPr/>
        </p:nvSpPr>
        <p:spPr>
          <a:xfrm>
            <a:off x="609567" y="495196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3/5.</a:t>
            </a:r>
            <a:r>
              <a:rPr lang="en-US" sz="1200" dirty="0">
                <a:solidFill>
                  <a:srgbClr val="16202E"/>
                </a:solidFill>
                <a:latin typeface="Rubik" pitchFamily="34" charset="0"/>
                <a:ea typeface="Rubik" pitchFamily="34" charset="-122"/>
                <a:cs typeface="Rubik" pitchFamily="34" charset="-120"/>
              </a:rPr>
              <a:t> Describing the state of a physical object and what changed in it, from photos. Close to the "what changed" question of spatial memory, without live video.</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ar with dent"/>
          <p:cNvPicPr>
            <a:picLocks noChangeAspect="1"/>
          </p:cNvPicPr>
          <p:nvPr/>
        </p:nvPicPr>
        <p:blipFill>
          <a:blip r:embed="rId6"/>
          <a:srcRect/>
          <a:stretch/>
        </p:blipFill>
        <p:spPr>
          <a:xfrm>
            <a:off x="7975593" y="1457771"/>
            <a:ext cx="761939" cy="761939"/>
          </a:xfrm>
          <a:prstGeom prst="rect">
            <a:avLst/>
          </a:prstGeom>
        </p:spPr>
      </p:pic>
      <p:sp>
        <p:nvSpPr>
          <p:cNvPr id="12" name="Text 9"/>
          <p:cNvSpPr/>
          <p:nvPr/>
        </p:nvSpPr>
        <p:spPr>
          <a:xfrm>
            <a:off x="787400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Damage photos</a:t>
            </a:r>
            <a:endParaRPr lang="en-US" sz="1200" dirty="0"/>
          </a:p>
        </p:txBody>
      </p:sp>
      <p:pic>
        <p:nvPicPr>
          <p:cNvPr id="13" name="Image 1" descr="arrow-right"/>
          <p:cNvPicPr>
            <a:picLocks noChangeAspect="1"/>
          </p:cNvPicPr>
          <p:nvPr/>
        </p:nvPicPr>
        <p:blipFill>
          <a:blip r:embed="rId7"/>
          <a:srcRect l="-21" r="-21"/>
          <a:stretch/>
        </p:blipFill>
        <p:spPr>
          <a:xfrm>
            <a:off x="8902789" y="1989782"/>
            <a:ext cx="228557" cy="126923"/>
          </a:xfrm>
          <a:prstGeom prst="rect">
            <a:avLst/>
          </a:prstGeom>
        </p:spPr>
      </p:pic>
      <p:sp>
        <p:nvSpPr>
          <p:cNvPr id="14" name="Shape 10"/>
          <p:cNvSpPr/>
          <p:nvPr/>
        </p:nvSpPr>
        <p:spPr>
          <a:xfrm>
            <a:off x="9296443" y="1549177"/>
            <a:ext cx="761939" cy="761939"/>
          </a:xfrm>
          <a:prstGeom prst="roundRect">
            <a:avLst>
              <a:gd name="adj" fmla="val 50000"/>
            </a:avLst>
          </a:prstGeom>
          <a:solidFill>
            <a:srgbClr val="16202E"/>
          </a:solidFill>
          <a:ln/>
        </p:spPr>
        <p:txBody>
          <a:bodyPr/>
          <a:lstStyle/>
          <a:p>
            <a:endParaRPr/>
          </a:p>
        </p:txBody>
      </p:sp>
      <p:pic>
        <p:nvPicPr>
          <p:cNvPr id="15" name="Image 2" descr="Search"/>
          <p:cNvPicPr>
            <a:picLocks noChangeAspect="1"/>
          </p:cNvPicPr>
          <p:nvPr/>
        </p:nvPicPr>
        <p:blipFill>
          <a:blip r:embed="rId8"/>
          <a:srcRect/>
          <a:stretch/>
        </p:blipFill>
        <p:spPr>
          <a:xfrm>
            <a:off x="9499632" y="1752352"/>
            <a:ext cx="355561" cy="355561"/>
          </a:xfrm>
          <a:prstGeom prst="rect">
            <a:avLst/>
          </a:prstGeom>
        </p:spPr>
      </p:pic>
      <p:sp>
        <p:nvSpPr>
          <p:cNvPr id="16" name="Text 11"/>
          <p:cNvSpPr/>
          <p:nvPr/>
        </p:nvSpPr>
        <p:spPr>
          <a:xfrm>
            <a:off x="9280650" y="2374578"/>
            <a:ext cx="793524"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Assesses</a:t>
            </a:r>
            <a:endParaRPr lang="en-US" sz="1200" dirty="0"/>
          </a:p>
        </p:txBody>
      </p:sp>
      <p:pic>
        <p:nvPicPr>
          <p:cNvPr id="17" name="Image 3" descr="arrow-right"/>
          <p:cNvPicPr>
            <a:picLocks noChangeAspect="1"/>
          </p:cNvPicPr>
          <p:nvPr/>
        </p:nvPicPr>
        <p:blipFill>
          <a:blip r:embed="rId7"/>
          <a:srcRect l="-21" r="-21"/>
          <a:stretch/>
        </p:blipFill>
        <p:spPr>
          <a:xfrm>
            <a:off x="10223639" y="1989782"/>
            <a:ext cx="228557" cy="126923"/>
          </a:xfrm>
          <a:prstGeom prst="rect">
            <a:avLst/>
          </a:prstGeom>
        </p:spPr>
      </p:pic>
      <p:pic>
        <p:nvPicPr>
          <p:cNvPr id="18" name="Image 4" descr="Claim document"/>
          <p:cNvPicPr>
            <a:picLocks noChangeAspect="1"/>
          </p:cNvPicPr>
          <p:nvPr/>
        </p:nvPicPr>
        <p:blipFill>
          <a:blip r:embed="rId9"/>
          <a:srcRect/>
          <a:stretch/>
        </p:blipFill>
        <p:spPr>
          <a:xfrm>
            <a:off x="10617292" y="1457771"/>
            <a:ext cx="761939" cy="761939"/>
          </a:xfrm>
          <a:prstGeom prst="rect">
            <a:avLst/>
          </a:prstGeom>
        </p:spPr>
      </p:pic>
      <p:sp>
        <p:nvSpPr>
          <p:cNvPr id="19" name="Text 12"/>
          <p:cNvSpPr/>
          <p:nvPr/>
        </p:nvSpPr>
        <p:spPr>
          <a:xfrm>
            <a:off x="10515706"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Estimate and claim</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#38</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16/30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drivers, homeowners and renters after damage.</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AI vehicle inspection: $1.2B in 2023, $5.7B by 2032 (18%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Global Market Insights</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Understanding physical damage from a photo and drafting a document.</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41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Paper-to-action</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School flyers, bills and official letters arrive on paper, with dates buried inside them. Families miss deadlines they never saw, pay fines, and the child arrives at the trip without the consent form.</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Photograph any letter, flyer, bill or form, and the agent handles what follows. It extracts dates and obligations, puts them in the calendar, prepares the next step (a filled form, items for the shopping list) and reminds before the deadline. Memory is managed locally, and the user signs, pays and submits.</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photos of letters, flyers, bills and forms, plus voice messages.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calendar entries, drafts and reminders.</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trip form found in a backpack: consent by Thursday, a fee, a packed lunch on the 14th. The dates are in the calendar, with a reminder on Wednesday evening.</a:t>
            </a:r>
            <a:endParaRPr lang="en-US" sz="1200" dirty="0"/>
          </a:p>
        </p:txBody>
      </p:sp>
      <p:sp>
        <p:nvSpPr>
          <p:cNvPr id="7" name="Text 5"/>
          <p:cNvSpPr/>
          <p:nvPr/>
        </p:nvSpPr>
        <p:spPr>
          <a:xfrm>
            <a:off x="609567" y="3771131"/>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Three family organiser apps already read photos of flyers, and a fourth, Maple, is shutting down at the end of 2026; system assistants are close to this too. Novelty: local memory, Hebrew, and follow-up until the task is closed.</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Maple</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Ohai.ai</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Nori</a:t>
            </a:r>
            <a:endParaRPr lang="en-US" sz="1200" dirty="0"/>
          </a:p>
        </p:txBody>
      </p:sp>
      <p:sp>
        <p:nvSpPr>
          <p:cNvPr id="8" name="Text 6"/>
          <p:cNvSpPr/>
          <p:nvPr/>
        </p:nvSpPr>
        <p:spPr>
          <a:xfrm>
            <a:off x="609567" y="4670112"/>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3/5.</a:t>
            </a:r>
            <a:r>
              <a:rPr lang="en-US" sz="1200" dirty="0">
                <a:solidFill>
                  <a:srgbClr val="16202E"/>
                </a:solidFill>
                <a:latin typeface="Rubik" pitchFamily="34" charset="0"/>
                <a:ea typeface="Rubik" pitchFamily="34" charset="-122"/>
                <a:cs typeface="Rubik" pitchFamily="34" charset="-120"/>
              </a:rPr>
              <a:t> Local memory is the selling point, and open code is how to check it. Connectors to open calendar and task standards.</a:t>
            </a:r>
            <a:endParaRPr lang="en-US" sz="1200" dirty="0"/>
          </a:p>
        </p:txBody>
      </p:sp>
      <p:sp>
        <p:nvSpPr>
          <p:cNvPr id="9" name="Text 7"/>
          <p:cNvSpPr/>
          <p:nvPr/>
        </p:nvSpPr>
        <p:spPr>
          <a:xfrm>
            <a:off x="609567" y="5157673"/>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direct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Paper letter"/>
          <p:cNvPicPr>
            <a:picLocks noChangeAspect="1"/>
          </p:cNvPicPr>
          <p:nvPr/>
        </p:nvPicPr>
        <p:blipFill>
          <a:blip r:embed="rId6"/>
          <a:srcRect/>
          <a:stretch/>
        </p:blipFill>
        <p:spPr>
          <a:xfrm>
            <a:off x="7975593" y="1457771"/>
            <a:ext cx="761939" cy="761939"/>
          </a:xfrm>
          <a:prstGeom prst="rect">
            <a:avLst/>
          </a:prstGeom>
        </p:spPr>
      </p:pic>
      <p:sp>
        <p:nvSpPr>
          <p:cNvPr id="12" name="Text 9"/>
          <p:cNvSpPr/>
          <p:nvPr/>
        </p:nvSpPr>
        <p:spPr>
          <a:xfrm>
            <a:off x="787400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Photo of a letter</a:t>
            </a:r>
            <a:endParaRPr lang="en-US" sz="1200" dirty="0"/>
          </a:p>
        </p:txBody>
      </p:sp>
      <p:pic>
        <p:nvPicPr>
          <p:cNvPr id="13" name="Image 1" descr="arrow-right"/>
          <p:cNvPicPr>
            <a:picLocks noChangeAspect="1"/>
          </p:cNvPicPr>
          <p:nvPr/>
        </p:nvPicPr>
        <p:blipFill>
          <a:blip r:embed="rId7"/>
          <a:srcRect l="-21" r="-21"/>
          <a:stretch/>
        </p:blipFill>
        <p:spPr>
          <a:xfrm>
            <a:off x="8902789" y="1989782"/>
            <a:ext cx="228557" cy="126923"/>
          </a:xfrm>
          <a:prstGeom prst="rect">
            <a:avLst/>
          </a:prstGeom>
        </p:spPr>
      </p:pic>
      <p:sp>
        <p:nvSpPr>
          <p:cNvPr id="14" name="Shape 10"/>
          <p:cNvSpPr/>
          <p:nvPr/>
        </p:nvSpPr>
        <p:spPr>
          <a:xfrm>
            <a:off x="9296443" y="1457771"/>
            <a:ext cx="761939" cy="761939"/>
          </a:xfrm>
          <a:prstGeom prst="roundRect">
            <a:avLst>
              <a:gd name="adj" fmla="val 50000"/>
            </a:avLst>
          </a:prstGeom>
          <a:solidFill>
            <a:srgbClr val="16202E"/>
          </a:solidFill>
          <a:ln/>
        </p:spPr>
        <p:txBody>
          <a:bodyPr/>
          <a:lstStyle/>
          <a:p>
            <a:endParaRPr/>
          </a:p>
        </p:txBody>
      </p:sp>
      <p:pic>
        <p:nvPicPr>
          <p:cNvPr id="15" name="Image 2" descr="Clock"/>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Finds the dates</a:t>
            </a:r>
            <a:endParaRPr lang="en-US" sz="1200" dirty="0"/>
          </a:p>
        </p:txBody>
      </p:sp>
      <p:pic>
        <p:nvPicPr>
          <p:cNvPr id="17" name="Image 3" descr="arrow-right"/>
          <p:cNvPicPr>
            <a:picLocks noChangeAspect="1"/>
          </p:cNvPicPr>
          <p:nvPr/>
        </p:nvPicPr>
        <p:blipFill>
          <a:blip r:embed="rId7"/>
          <a:srcRect l="-21" r="-21"/>
          <a:stretch/>
        </p:blipFill>
        <p:spPr>
          <a:xfrm>
            <a:off x="10223639" y="1989782"/>
            <a:ext cx="228557" cy="126923"/>
          </a:xfrm>
          <a:prstGeom prst="rect">
            <a:avLst/>
          </a:prstGeom>
        </p:spPr>
      </p:pic>
      <p:pic>
        <p:nvPicPr>
          <p:cNvPr id="18" name="Image 4" descr="Calendar"/>
          <p:cNvPicPr>
            <a:picLocks noChangeAspect="1"/>
          </p:cNvPicPr>
          <p:nvPr/>
        </p:nvPicPr>
        <p:blipFill>
          <a:blip r:embed="rId9"/>
          <a:srcRect/>
          <a:stretch/>
        </p:blipFill>
        <p:spPr>
          <a:xfrm>
            <a:off x="10617292" y="1457771"/>
            <a:ext cx="761939" cy="761939"/>
          </a:xfrm>
          <a:prstGeom prst="rect">
            <a:avLst/>
          </a:prstGeom>
        </p:spPr>
      </p:pic>
      <p:sp>
        <p:nvSpPr>
          <p:cNvPr id="19" name="Text 12"/>
          <p:cNvSpPr/>
          <p:nvPr/>
        </p:nvSpPr>
        <p:spPr>
          <a:xfrm>
            <a:off x="10515706" y="2283172"/>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Calendar, reminders</a:t>
            </a:r>
            <a:endParaRPr lang="en-US" sz="1200" dirty="0"/>
          </a:p>
        </p:txBody>
      </p:sp>
      <p:sp>
        <p:nvSpPr>
          <p:cNvPr id="20" name="Shape 13"/>
          <p:cNvSpPr/>
          <p:nvPr/>
        </p:nvSpPr>
        <p:spPr>
          <a:xfrm>
            <a:off x="7775659"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#41</a:t>
            </a:r>
            <a:endParaRPr lang="en-US" sz="2000" dirty="0"/>
          </a:p>
        </p:txBody>
      </p:sp>
      <p:sp>
        <p:nvSpPr>
          <p:cNvPr id="22" name="Text 15"/>
          <p:cNvSpPr/>
          <p:nvPr/>
        </p:nvSpPr>
        <p:spPr>
          <a:xfrm>
            <a:off x="7777607"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69"/>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16/30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44"/>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804"/>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79"/>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41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75"/>
            <a:ext cx="3809936" cy="1889107"/>
          </a:xfrm>
          <a:prstGeom prst="roundRect">
            <a:avLst>
              <a:gd name="adj" fmla="val 5257"/>
            </a:avLst>
          </a:prstGeom>
          <a:solidFill>
            <a:srgbClr val="16202E"/>
          </a:solidFill>
          <a:ln/>
        </p:spPr>
        <p:txBody>
          <a:bodyPr/>
          <a:lstStyle/>
          <a:p>
            <a:endParaRPr/>
          </a:p>
        </p:txBody>
      </p:sp>
      <p:sp>
        <p:nvSpPr>
          <p:cNvPr id="42" name="Text 35"/>
          <p:cNvSpPr/>
          <p:nvPr/>
        </p:nvSpPr>
        <p:spPr>
          <a:xfrm>
            <a:off x="7912132" y="4568751"/>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parents of children in nursery and school; anyone who gets official post.</a:t>
            </a:r>
            <a:endParaRPr lang="en-US" sz="1200" dirty="0"/>
          </a:p>
        </p:txBody>
      </p:sp>
      <p:sp>
        <p:nvSpPr>
          <p:cNvPr id="43" name="Text 36"/>
          <p:cNvSpPr/>
          <p:nvPr/>
        </p:nvSpPr>
        <p:spPr>
          <a:xfrm>
            <a:off x="7912132" y="5002907"/>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family calendar apps: $1.2B in 2025, $2.3B by 2034 (8.5% CAGR).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Market Intelo</a:t>
            </a:r>
            <a:endParaRPr lang="en-US" sz="1200" dirty="0"/>
          </a:p>
        </p:txBody>
      </p:sp>
      <p:sp>
        <p:nvSpPr>
          <p:cNvPr id="44" name="Text 37"/>
          <p:cNvSpPr/>
          <p:nvPr/>
        </p:nvSpPr>
        <p:spPr>
          <a:xfrm>
            <a:off x="7912132" y="5635183"/>
            <a:ext cx="3636560" cy="61950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high. Understanding a photographed document and turning it into tracked actions.</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175"/>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45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Form Filler</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Every form asks again for the same name, address and employer, and hides one field nobody understands. People waste time copying, guess at the unclear field, and the form comes back to them for correction.</a:t>
            </a:r>
            <a:endParaRPr lang="en-US" sz="1200" dirty="0"/>
          </a:p>
        </p:txBody>
      </p:sp>
      <p:sp>
        <p:nvSpPr>
          <p:cNvPr id="5" name="Text 3"/>
          <p:cNvSpPr/>
          <p:nvPr/>
        </p:nvSpPr>
        <p:spPr>
          <a:xfrm>
            <a:off x="609567" y="1973263"/>
            <a:ext cx="7063919" cy="848143"/>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skill that fills forms from what the agent already knows about the user. It reads the fields from a photo or a PDF, fills in what is known and returns a finished PDF. A field it is unsure of stays blank with an explanation: what is missing, or which two meanings the field could have.</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a photo of a paper form or a PDF.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 completed PDF and an explanation of unclear fields.</a:t>
            </a:r>
            <a:endParaRPr lang="en-US" sz="1200" dirty="0"/>
          </a:p>
        </p:txBody>
      </p:sp>
      <p:sp>
        <p:nvSpPr>
          <p:cNvPr id="6" name="Text 4"/>
          <p:cNvSpPr/>
          <p:nvPr/>
        </p:nvSpPr>
        <p:spPr>
          <a:xfrm>
            <a:off x="609567" y="2872184"/>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three-page rental application comes back filled. Two fields stay blank: the guarantor's details, which are unknown, and an ambiguous "date of entry".</a:t>
            </a:r>
            <a:endParaRPr lang="en-US" sz="1200" dirty="0"/>
          </a:p>
        </p:txBody>
      </p:sp>
      <p:sp>
        <p:nvSpPr>
          <p:cNvPr id="7" name="Text 5"/>
          <p:cNvSpPr/>
          <p:nvPr/>
        </p:nvSpPr>
        <p:spPr>
          <a:xfrm>
            <a:off x="609567" y="3359745"/>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Instafill, PaperBee and others. A crowded service with no differentiation. Not a product in its own right; the only novelty is the link to the shared personal memory and reuse inside Paper-to-action.</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Instafill</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Adobe Fill &amp; Sign</a:t>
            </a:r>
            <a:endParaRPr lang="en-US" sz="1200" dirty="0"/>
          </a:p>
        </p:txBody>
      </p:sp>
      <p:sp>
        <p:nvSpPr>
          <p:cNvPr id="8" name="Text 6"/>
          <p:cNvSpPr/>
          <p:nvPr/>
        </p:nvSpPr>
        <p:spPr>
          <a:xfrm>
            <a:off x="609567" y="4258727"/>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A small skill on the shared memory; no community around it.</a:t>
            </a:r>
            <a:endParaRPr lang="en-US" sz="1200" dirty="0"/>
          </a:p>
        </p:txBody>
      </p:sp>
      <p:sp>
        <p:nvSpPr>
          <p:cNvPr id="9" name="Text 7"/>
          <p:cNvSpPr/>
          <p:nvPr/>
        </p:nvSpPr>
        <p:spPr>
          <a:xfrm>
            <a:off x="609567" y="4540582"/>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Empty form"/>
          <p:cNvPicPr>
            <a:picLocks noChangeAspect="1"/>
          </p:cNvPicPr>
          <p:nvPr/>
        </p:nvPicPr>
        <p:blipFill>
          <a:blip r:embed="rId5"/>
          <a:srcRect/>
          <a:stretch/>
        </p:blipFill>
        <p:spPr>
          <a:xfrm>
            <a:off x="7975593" y="1549152"/>
            <a:ext cx="761939" cy="761939"/>
          </a:xfrm>
          <a:prstGeom prst="rect">
            <a:avLst/>
          </a:prstGeom>
        </p:spPr>
      </p:pic>
      <p:sp>
        <p:nvSpPr>
          <p:cNvPr id="12" name="Text 9"/>
          <p:cNvSpPr/>
          <p:nvPr/>
        </p:nvSpPr>
        <p:spPr>
          <a:xfrm>
            <a:off x="7897660" y="2374553"/>
            <a:ext cx="917806" cy="20821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Blank form</a:t>
            </a:r>
            <a:endParaRPr lang="en-US" sz="1200" dirty="0"/>
          </a:p>
        </p:txBody>
      </p:sp>
      <p:pic>
        <p:nvPicPr>
          <p:cNvPr id="13" name="Image 1" descr="arrow-right"/>
          <p:cNvPicPr>
            <a:picLocks noChangeAspect="1"/>
          </p:cNvPicPr>
          <p:nvPr/>
        </p:nvPicPr>
        <p:blipFill>
          <a:blip r:embed="rId6"/>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Database"/>
          <p:cNvPicPr>
            <a:picLocks noChangeAspect="1"/>
          </p:cNvPicPr>
          <p:nvPr/>
        </p:nvPicPr>
        <p:blipFill>
          <a:blip r:embed="rId7"/>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Knows your details</a:t>
            </a:r>
            <a:endParaRPr lang="en-US" sz="1200" dirty="0"/>
          </a:p>
        </p:txBody>
      </p:sp>
      <p:pic>
        <p:nvPicPr>
          <p:cNvPr id="17" name="Image 3" descr="arrow-right"/>
          <p:cNvPicPr>
            <a:picLocks noChangeAspect="1"/>
          </p:cNvPicPr>
          <p:nvPr/>
        </p:nvPicPr>
        <p:blipFill>
          <a:blip r:embed="rId6"/>
          <a:srcRect l="-21" r="-21"/>
          <a:stretch/>
        </p:blipFill>
        <p:spPr>
          <a:xfrm>
            <a:off x="10223639" y="1989758"/>
            <a:ext cx="228557" cy="126923"/>
          </a:xfrm>
          <a:prstGeom prst="rect">
            <a:avLst/>
          </a:prstGeom>
        </p:spPr>
      </p:pic>
      <p:pic>
        <p:nvPicPr>
          <p:cNvPr id="18" name="Image 4" descr="Completed form"/>
          <p:cNvPicPr>
            <a:picLocks noChangeAspect="1"/>
          </p:cNvPicPr>
          <p:nvPr/>
        </p:nvPicPr>
        <p:blipFill>
          <a:blip r:embed="rId8"/>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Completed PDF</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#45</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20"/>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15/30</a:t>
            </a:r>
            <a:endParaRPr lang="en-US" sz="2000" dirty="0"/>
          </a:p>
        </p:txBody>
      </p:sp>
      <p:sp>
        <p:nvSpPr>
          <p:cNvPr id="25" name="Text 18"/>
          <p:cNvSpPr/>
          <p:nvPr/>
        </p:nvSpPr>
        <p:spPr>
          <a:xfrm>
            <a:off x="8738865" y="3308995"/>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5/5</a:t>
            </a:r>
            <a:endParaRPr lang="en-US" sz="2000" dirty="0"/>
          </a:p>
        </p:txBody>
      </p:sp>
      <p:sp>
        <p:nvSpPr>
          <p:cNvPr id="34" name="Text 27"/>
          <p:cNvSpPr/>
          <p:nvPr/>
        </p:nvSpPr>
        <p:spPr>
          <a:xfrm>
            <a:off x="8745956"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45"/>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20"/>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anyone who fills in forms: renters, parents, the self-employed.</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intelligent document processing: $2.9B in 2025, $25B by 2035. Source: </a:t>
            </a:r>
            <a:r>
              <a:rPr lang="en-US" sz="1200" u="sng" dirty="0">
                <a:solidFill>
                  <a:srgbClr val="F2B880"/>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Global Market Insights</a:t>
            </a:r>
            <a:endParaRPr lang="en-US" sz="1200" dirty="0"/>
          </a:p>
        </p:txBody>
      </p:sp>
      <p:sp>
        <p:nvSpPr>
          <p:cNvPr id="44" name="Text 37"/>
          <p:cNvSpPr/>
          <p:nvPr/>
        </p:nvSpPr>
        <p:spPr>
          <a:xfrm>
            <a:off x="7912132" y="5635159"/>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medium to high. Reading fields from an image and explaining, not guessing.</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609567" y="457200"/>
            <a:ext cx="11302038" cy="2386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Rubik" pitchFamily="34" charset="0"/>
                <a:ea typeface="Rubik" pitchFamily="34" charset="-122"/>
                <a:cs typeface="Rubik" pitchFamily="34" charset="-120"/>
              </a:rPr>
              <a:t>Family &amp; Learning · Lead: Nizzan · Rank 48 of 50</a:t>
            </a:r>
            <a:endParaRPr lang="en-US" sz="1200" dirty="0"/>
          </a:p>
        </p:txBody>
      </p:sp>
      <p:sp>
        <p:nvSpPr>
          <p:cNvPr id="3" name="Text 1"/>
          <p:cNvSpPr>
            <a:spLocks noGrp="1"/>
          </p:cNvSpPr>
          <p:nvPr>
            <p:ph type="title"/>
          </p:nvPr>
        </p:nvSpPr>
        <p:spPr>
          <a:xfrm>
            <a:off x="609567" y="708546"/>
            <a:ext cx="11302038" cy="444503"/>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02E"/>
                </a:solidFill>
                <a:latin typeface="Rubik" pitchFamily="34" charset="0"/>
                <a:ea typeface="Rubik" pitchFamily="34" charset="-122"/>
                <a:cs typeface="Rubik" pitchFamily="34" charset="-120"/>
              </a:rPr>
              <a:t>Bedtime Story</a:t>
            </a:r>
            <a:endParaRPr lang="en-US" sz="3000" dirty="0"/>
          </a:p>
        </p:txBody>
      </p:sp>
      <p:sp>
        <p:nvSpPr>
          <p:cNvPr id="4" name="Text 2"/>
          <p:cNvSpPr/>
          <p:nvPr/>
        </p:nvSpPr>
        <p:spPr>
          <a:xfrm>
            <a:off x="609567" y="1280021"/>
            <a:ext cx="7063919" cy="64245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Problem.</a:t>
            </a:r>
            <a:r>
              <a:rPr lang="en-US" sz="1200" dirty="0">
                <a:solidFill>
                  <a:srgbClr val="16202E"/>
                </a:solidFill>
                <a:latin typeface="Rubik" pitchFamily="34" charset="0"/>
                <a:ea typeface="Rubik" pitchFamily="34" charset="-122"/>
                <a:cs typeface="Rubik" pitchFamily="34" charset="-120"/>
              </a:rPr>
              <a:t> A parent who travels or works late misses bedtime, and the child misses them. An ordinary audiobook is not Dad's voice, and the child is not part of the story, so it does not replace the moment.</a:t>
            </a:r>
            <a:endParaRPr lang="en-US" sz="1200" dirty="0"/>
          </a:p>
        </p:txBody>
      </p:sp>
      <p:sp>
        <p:nvSpPr>
          <p:cNvPr id="5" name="Text 3"/>
          <p:cNvSpPr/>
          <p:nvPr/>
        </p:nvSpPr>
        <p:spPr>
          <a:xfrm>
            <a:off x="609567" y="1973263"/>
            <a:ext cx="7063919" cy="12595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Product.</a:t>
            </a:r>
            <a:r>
              <a:rPr lang="en-US" sz="1200" dirty="0">
                <a:solidFill>
                  <a:srgbClr val="16202E"/>
                </a:solidFill>
                <a:latin typeface="Rubik" pitchFamily="34" charset="0"/>
                <a:ea typeface="Rubik" pitchFamily="34" charset="-122"/>
                <a:cs typeface="Rubik" pitchFamily="34" charset="-120"/>
              </a:rPr>
              <a:t> A bedtime story in which the child is the hero and the parent reads even from afar. The child picks a subject aloud; the agent writes the story, illustrates it with the child's likeness, and reads it in the parent's voice. It remembers the plot from night to night. Cloning the parent's voice requires a clear consent mechanism.</a:t>
            </a:r>
            <a:endParaRPr lang="en-US" sz="1200" dirty="0"/>
          </a:p>
          <a:p>
            <a:pPr marL="0" indent="0" algn="l">
              <a:lnSpc>
                <a:spcPts val="1620"/>
              </a:lnSpc>
              <a:buNone/>
            </a:pPr>
            <a:r>
              <a:rPr lang="en-US" sz="1200" b="1" dirty="0">
                <a:solidFill>
                  <a:srgbClr val="16202E"/>
                </a:solidFill>
                <a:latin typeface="Rubik" pitchFamily="34" charset="0"/>
                <a:ea typeface="Rubik" pitchFamily="34" charset="-122"/>
                <a:cs typeface="Rubik" pitchFamily="34" charset="-120"/>
              </a:rPr>
              <a:t>In:</a:t>
            </a:r>
            <a:r>
              <a:rPr lang="en-US" sz="1200" dirty="0">
                <a:solidFill>
                  <a:srgbClr val="16202E"/>
                </a:solidFill>
                <a:latin typeface="Rubik" pitchFamily="34" charset="0"/>
                <a:ea typeface="Rubik" pitchFamily="34" charset="-122"/>
                <a:cs typeface="Rubik" pitchFamily="34" charset="-120"/>
              </a:rPr>
              <a:t> the child's spoken choice, photos of the child and a sample of the parent's voice. </a:t>
            </a:r>
            <a:r>
              <a:rPr lang="en-US" sz="1200" b="1" dirty="0">
                <a:solidFill>
                  <a:srgbClr val="16202E"/>
                </a:solidFill>
                <a:latin typeface="Rubik" pitchFamily="34" charset="0"/>
                <a:ea typeface="Rubik" pitchFamily="34" charset="-122"/>
                <a:cs typeface="Rubik" pitchFamily="34" charset="-120"/>
              </a:rPr>
              <a:t>Out:</a:t>
            </a:r>
            <a:r>
              <a:rPr lang="en-US" sz="1200" dirty="0">
                <a:solidFill>
                  <a:srgbClr val="16202E"/>
                </a:solidFill>
                <a:latin typeface="Rubik" pitchFamily="34" charset="0"/>
                <a:ea typeface="Rubik" pitchFamily="34" charset="-122"/>
                <a:cs typeface="Rubik" pitchFamily="34" charset="-120"/>
              </a:rPr>
              <a:t> an illustrated story read aloud.</a:t>
            </a:r>
            <a:endParaRPr lang="en-US" sz="1200" dirty="0"/>
          </a:p>
        </p:txBody>
      </p:sp>
      <p:sp>
        <p:nvSpPr>
          <p:cNvPr id="6" name="Text 4"/>
          <p:cNvSpPr/>
          <p:nvPr/>
        </p:nvSpPr>
        <p:spPr>
          <a:xfrm>
            <a:off x="609567" y="3283570"/>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Example.</a:t>
            </a:r>
            <a:r>
              <a:rPr lang="en-US" sz="1200" dirty="0">
                <a:solidFill>
                  <a:srgbClr val="16202E"/>
                </a:solidFill>
                <a:latin typeface="Rubik" pitchFamily="34" charset="0"/>
                <a:ea typeface="Rubik" pitchFamily="34" charset="-122"/>
                <a:cs typeface="Rubik" pitchFamily="34" charset="-120"/>
              </a:rPr>
              <a:t> A child picks "Me and the cat in space". An illustrated book appears with him as the hero, read in the voice of Dad, who is abroad. Next night the story continues.</a:t>
            </a:r>
            <a:endParaRPr lang="en-US" sz="1200" dirty="0"/>
          </a:p>
        </p:txBody>
      </p:sp>
      <p:sp>
        <p:nvSpPr>
          <p:cNvPr id="7" name="Text 5"/>
          <p:cNvSpPr/>
          <p:nvPr/>
        </p:nvSpPr>
        <p:spPr>
          <a:xfrm>
            <a:off x="609567" y="3771106"/>
            <a:ext cx="7063919" cy="848197"/>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Competitors and our novelty.</a:t>
            </a:r>
            <a:r>
              <a:rPr lang="en-US" sz="1200" dirty="0">
                <a:solidFill>
                  <a:srgbClr val="16202E"/>
                </a:solidFill>
                <a:latin typeface="Rubik" pitchFamily="34" charset="0"/>
                <a:ea typeface="Rubik" pitchFamily="34" charset="-122"/>
                <a:cs typeface="Rubik" pitchFamily="34" charset="-120"/>
              </a:rPr>
              <a:t> One comparison found two apps that read in a parent's voice, and roundups list a dozen story apps. Novelty: a continuing plot with memory, shared with Living Drawing. Voice cloning for children invites scrutiny.</a:t>
            </a:r>
            <a:br>
              <a:rPr lang="en-US" sz="1200" dirty="0">
                <a:solidFill>
                  <a:srgbClr val="16202E"/>
                </a:solidFill>
                <a:latin typeface="Rubik" pitchFamily="34" charset="0"/>
                <a:ea typeface="Rubik" pitchFamily="34" charset="-122"/>
                <a:cs typeface="Rubik" pitchFamily="34" charset="-120"/>
              </a:rPr>
            </a:br>
            <a:r>
              <a:rPr lang="en-US" sz="1200" b="1" dirty="0">
                <a:solidFill>
                  <a:srgbClr val="C2410C"/>
                </a:solidFill>
                <a:latin typeface="Rubik" pitchFamily="34" charset="0"/>
                <a:ea typeface="Rubik" pitchFamily="34" charset="-122"/>
                <a:cs typeface="Rubik" pitchFamily="34" charset="-120"/>
              </a:rPr>
              <a:t>Similar products:</a:t>
            </a:r>
            <a:r>
              <a:rPr lang="en-US" sz="1200" dirty="0">
                <a:solidFill>
                  <a:srgbClr val="16202E"/>
                </a:solidFill>
                <a:latin typeface="Rubik" pitchFamily="34" charset="0"/>
                <a:ea typeface="Rubik" pitchFamily="34" charset="-122"/>
                <a:cs typeface="Rubik" pitchFamily="34" charset="-120"/>
              </a:rPr>
              <a:t> </a:t>
            </a:r>
            <a:r>
              <a:rPr lang="en-US" sz="1200" u="sng" dirty="0">
                <a:solidFill>
                  <a:srgbClr val="C2410C"/>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Fabler</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Oscar Stories</a:t>
            </a:r>
            <a:r>
              <a:rPr lang="en-US" sz="1200" dirty="0">
                <a:solidFill>
                  <a:srgbClr val="16202E"/>
                </a:solidFill>
                <a:latin typeface="Rubik" pitchFamily="34" charset="0"/>
                <a:ea typeface="Rubik" pitchFamily="34" charset="-122"/>
                <a:cs typeface="Rubik" pitchFamily="34" charset="-120"/>
              </a:rPr>
              <a:t> · </a:t>
            </a:r>
            <a:r>
              <a:rPr lang="en-US" sz="1200" u="sng" dirty="0">
                <a:solidFill>
                  <a:srgbClr val="C2410C"/>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Gramms</a:t>
            </a:r>
            <a:endParaRPr lang="en-US" sz="1200" dirty="0"/>
          </a:p>
        </p:txBody>
      </p:sp>
      <p:sp>
        <p:nvSpPr>
          <p:cNvPr id="8" name="Text 6"/>
          <p:cNvSpPr/>
          <p:nvPr/>
        </p:nvSpPr>
        <p:spPr>
          <a:xfrm>
            <a:off x="609567" y="4670088"/>
            <a:ext cx="7063919" cy="43677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2410C"/>
                </a:solidFill>
                <a:latin typeface="Rubik" pitchFamily="34" charset="0"/>
                <a:ea typeface="Rubik" pitchFamily="34" charset="-122"/>
                <a:cs typeface="Rubik" pitchFamily="34" charset="-120"/>
              </a:rPr>
              <a:t>Open source 2/5.</a:t>
            </a:r>
            <a:r>
              <a:rPr lang="en-US" sz="1200" dirty="0">
                <a:solidFill>
                  <a:srgbClr val="16202E"/>
                </a:solidFill>
                <a:latin typeface="Rubik" pitchFamily="34" charset="0"/>
                <a:ea typeface="Rubik" pitchFamily="34" charset="-122"/>
                <a:cs typeface="Rubik" pitchFamily="34" charset="-120"/>
              </a:rPr>
              <a:t> Only the voice-consent flow suits opening; open code for voice cloning is a risk.</a:t>
            </a:r>
            <a:endParaRPr lang="en-US" sz="1200" dirty="0"/>
          </a:p>
        </p:txBody>
      </p:sp>
      <p:sp>
        <p:nvSpPr>
          <p:cNvPr id="9" name="Text 7"/>
          <p:cNvSpPr/>
          <p:nvPr/>
        </p:nvSpPr>
        <p:spPr>
          <a:xfrm>
            <a:off x="609567" y="5157649"/>
            <a:ext cx="7063919" cy="231086"/>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7C3AED"/>
                </a:solidFill>
                <a:latin typeface="Rubik" pitchFamily="34" charset="0"/>
                <a:ea typeface="Rubik" pitchFamily="34" charset="-122"/>
                <a:cs typeface="Rubik" pitchFamily="34" charset="-120"/>
              </a:rPr>
              <a:t>ATARI 1/5.</a:t>
            </a:r>
            <a:r>
              <a:rPr lang="en-US" sz="1200" dirty="0">
                <a:solidFill>
                  <a:srgbClr val="16202E"/>
                </a:solidFill>
                <a:latin typeface="Rubik" pitchFamily="34" charset="0"/>
                <a:ea typeface="Rubik" pitchFamily="34" charset="-122"/>
                <a:cs typeface="Rubik" pitchFamily="34" charset="-120"/>
              </a:rPr>
              <a:t> No link.</a:t>
            </a:r>
            <a:endParaRPr lang="en-US" sz="1200" dirty="0"/>
          </a:p>
        </p:txBody>
      </p:sp>
      <p:sp>
        <p:nvSpPr>
          <p:cNvPr id="10" name="Shape 8"/>
          <p:cNvSpPr/>
          <p:nvPr/>
        </p:nvSpPr>
        <p:spPr>
          <a:xfrm>
            <a:off x="7772484" y="1280021"/>
            <a:ext cx="3809936" cy="1546508"/>
          </a:xfrm>
          <a:prstGeom prst="roundRect">
            <a:avLst>
              <a:gd name="adj" fmla="val 8212"/>
            </a:avLst>
          </a:prstGeom>
          <a:solidFill>
            <a:srgbClr val="ECE8DF"/>
          </a:solidFill>
          <a:ln/>
        </p:spPr>
        <p:txBody>
          <a:bodyPr/>
          <a:lstStyle/>
          <a:p>
            <a:endParaRPr/>
          </a:p>
        </p:txBody>
      </p:sp>
      <p:pic>
        <p:nvPicPr>
          <p:cNvPr id="11" name="Image 0" descr="Child"/>
          <p:cNvPicPr>
            <a:picLocks noChangeAspect="1"/>
          </p:cNvPicPr>
          <p:nvPr/>
        </p:nvPicPr>
        <p:blipFill>
          <a:blip r:embed="rId6"/>
          <a:srcRect/>
          <a:stretch/>
        </p:blipFill>
        <p:spPr>
          <a:xfrm>
            <a:off x="7975593" y="1457747"/>
            <a:ext cx="761939" cy="761939"/>
          </a:xfrm>
          <a:prstGeom prst="rect">
            <a:avLst/>
          </a:prstGeom>
        </p:spPr>
      </p:pic>
      <p:sp>
        <p:nvSpPr>
          <p:cNvPr id="12" name="Text 9"/>
          <p:cNvSpPr/>
          <p:nvPr/>
        </p:nvSpPr>
        <p:spPr>
          <a:xfrm>
            <a:off x="787400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Child picks a story</a:t>
            </a:r>
            <a:endParaRPr lang="en-US" sz="1200" dirty="0"/>
          </a:p>
        </p:txBody>
      </p:sp>
      <p:pic>
        <p:nvPicPr>
          <p:cNvPr id="13" name="Image 1" descr="arrow-right"/>
          <p:cNvPicPr>
            <a:picLocks noChangeAspect="1"/>
          </p:cNvPicPr>
          <p:nvPr/>
        </p:nvPicPr>
        <p:blipFill>
          <a:blip r:embed="rId7"/>
          <a:srcRect l="-21" r="-21"/>
          <a:stretch/>
        </p:blipFill>
        <p:spPr>
          <a:xfrm>
            <a:off x="8902789" y="1989758"/>
            <a:ext cx="228557" cy="126923"/>
          </a:xfrm>
          <a:prstGeom prst="rect">
            <a:avLst/>
          </a:prstGeom>
        </p:spPr>
      </p:pic>
      <p:sp>
        <p:nvSpPr>
          <p:cNvPr id="14" name="Shape 10"/>
          <p:cNvSpPr/>
          <p:nvPr/>
        </p:nvSpPr>
        <p:spPr>
          <a:xfrm>
            <a:off x="9296443" y="1457747"/>
            <a:ext cx="761939" cy="761939"/>
          </a:xfrm>
          <a:prstGeom prst="roundRect">
            <a:avLst>
              <a:gd name="adj" fmla="val 50000"/>
            </a:avLst>
          </a:prstGeom>
          <a:solidFill>
            <a:srgbClr val="16202E"/>
          </a:solidFill>
          <a:ln/>
        </p:spPr>
        <p:txBody>
          <a:bodyPr/>
          <a:lstStyle/>
          <a:p>
            <a:endParaRPr/>
          </a:p>
        </p:txBody>
      </p:sp>
      <p:pic>
        <p:nvPicPr>
          <p:cNvPr id="15" name="Image 2" descr="Star"/>
          <p:cNvPicPr>
            <a:picLocks noChangeAspect="1"/>
          </p:cNvPicPr>
          <p:nvPr/>
        </p:nvPicPr>
        <p:blipFill>
          <a:blip r:embed="rId8"/>
          <a:srcRect/>
          <a:stretch/>
        </p:blipFill>
        <p:spPr>
          <a:xfrm>
            <a:off x="9499632" y="1660947"/>
            <a:ext cx="355561" cy="355561"/>
          </a:xfrm>
          <a:prstGeom prst="rect">
            <a:avLst/>
          </a:prstGeom>
        </p:spPr>
      </p:pic>
      <p:sp>
        <p:nvSpPr>
          <p:cNvPr id="16" name="Text 11"/>
          <p:cNvSpPr/>
          <p:nvPr/>
        </p:nvSpPr>
        <p:spPr>
          <a:xfrm>
            <a:off x="9194857"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Writes, draws, reads</a:t>
            </a:r>
            <a:endParaRPr lang="en-US" sz="1200" dirty="0"/>
          </a:p>
        </p:txBody>
      </p:sp>
      <p:pic>
        <p:nvPicPr>
          <p:cNvPr id="17" name="Image 3" descr="arrow-right"/>
          <p:cNvPicPr>
            <a:picLocks noChangeAspect="1"/>
          </p:cNvPicPr>
          <p:nvPr/>
        </p:nvPicPr>
        <p:blipFill>
          <a:blip r:embed="rId7"/>
          <a:srcRect l="-21" r="-21"/>
          <a:stretch/>
        </p:blipFill>
        <p:spPr>
          <a:xfrm>
            <a:off x="10223639" y="1989758"/>
            <a:ext cx="228557" cy="126923"/>
          </a:xfrm>
          <a:prstGeom prst="rect">
            <a:avLst/>
          </a:prstGeom>
        </p:spPr>
      </p:pic>
      <p:pic>
        <p:nvPicPr>
          <p:cNvPr id="18" name="Image 4" descr="Story book"/>
          <p:cNvPicPr>
            <a:picLocks noChangeAspect="1"/>
          </p:cNvPicPr>
          <p:nvPr/>
        </p:nvPicPr>
        <p:blipFill>
          <a:blip r:embed="rId9"/>
          <a:srcRect/>
          <a:stretch/>
        </p:blipFill>
        <p:spPr>
          <a:xfrm>
            <a:off x="10617292" y="1457747"/>
            <a:ext cx="761939" cy="761939"/>
          </a:xfrm>
          <a:prstGeom prst="rect">
            <a:avLst/>
          </a:prstGeom>
        </p:spPr>
      </p:pic>
      <p:sp>
        <p:nvSpPr>
          <p:cNvPr id="19" name="Text 12"/>
          <p:cNvSpPr/>
          <p:nvPr/>
        </p:nvSpPr>
        <p:spPr>
          <a:xfrm>
            <a:off x="10515706" y="2283147"/>
            <a:ext cx="965191" cy="391028"/>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16202E"/>
                </a:solidFill>
                <a:latin typeface="Rubik" pitchFamily="34" charset="0"/>
                <a:ea typeface="Rubik" pitchFamily="34" charset="-122"/>
                <a:cs typeface="Rubik" pitchFamily="34" charset="-120"/>
              </a:rPr>
              <a:t>Story in Dad's voice</a:t>
            </a:r>
            <a:endParaRPr lang="en-US" sz="1200" dirty="0"/>
          </a:p>
        </p:txBody>
      </p:sp>
      <p:sp>
        <p:nvSpPr>
          <p:cNvPr id="20" name="Shape 13"/>
          <p:cNvSpPr/>
          <p:nvPr/>
        </p:nvSpPr>
        <p:spPr>
          <a:xfrm>
            <a:off x="7775659"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1" name="Text 14"/>
          <p:cNvSpPr/>
          <p:nvPr/>
        </p:nvSpPr>
        <p:spPr>
          <a:xfrm>
            <a:off x="7777607"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C2410C"/>
                </a:solidFill>
                <a:latin typeface="Rubik" pitchFamily="34" charset="0"/>
                <a:ea typeface="Rubik" pitchFamily="34" charset="-122"/>
                <a:cs typeface="Rubik" pitchFamily="34" charset="-120"/>
              </a:rPr>
              <a:t>#48</a:t>
            </a:r>
            <a:endParaRPr lang="en-US" sz="2000" dirty="0"/>
          </a:p>
        </p:txBody>
      </p:sp>
      <p:sp>
        <p:nvSpPr>
          <p:cNvPr id="22" name="Text 15"/>
          <p:cNvSpPr/>
          <p:nvPr/>
        </p:nvSpPr>
        <p:spPr>
          <a:xfrm>
            <a:off x="7777607"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Rank</a:t>
            </a:r>
            <a:endParaRPr lang="en-US" sz="1200" dirty="0"/>
          </a:p>
        </p:txBody>
      </p:sp>
      <p:sp>
        <p:nvSpPr>
          <p:cNvPr id="23" name="Shape 16"/>
          <p:cNvSpPr/>
          <p:nvPr/>
        </p:nvSpPr>
        <p:spPr>
          <a:xfrm>
            <a:off x="8740834" y="2953445"/>
            <a:ext cx="1873237" cy="655311"/>
          </a:xfrm>
          <a:prstGeom prst="roundRect">
            <a:avLst>
              <a:gd name="adj" fmla="val 11628"/>
            </a:avLst>
          </a:prstGeom>
          <a:solidFill>
            <a:srgbClr val="16202E"/>
          </a:solidFill>
          <a:ln/>
        </p:spPr>
        <p:txBody>
          <a:bodyPr/>
          <a:lstStyle/>
          <a:p>
            <a:endParaRPr/>
          </a:p>
        </p:txBody>
      </p:sp>
      <p:sp>
        <p:nvSpPr>
          <p:cNvPr id="24" name="Text 17"/>
          <p:cNvSpPr/>
          <p:nvPr/>
        </p:nvSpPr>
        <p:spPr>
          <a:xfrm>
            <a:off x="8738865" y="3029645"/>
            <a:ext cx="1877175"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F7F5F0"/>
                </a:solidFill>
                <a:latin typeface="Rubik" pitchFamily="34" charset="0"/>
                <a:ea typeface="Rubik" pitchFamily="34" charset="-122"/>
                <a:cs typeface="Rubik" pitchFamily="34" charset="-120"/>
              </a:rPr>
              <a:t>14/30</a:t>
            </a:r>
            <a:endParaRPr lang="en-US" sz="2000" dirty="0"/>
          </a:p>
        </p:txBody>
      </p:sp>
      <p:sp>
        <p:nvSpPr>
          <p:cNvPr id="25" name="Text 18"/>
          <p:cNvSpPr/>
          <p:nvPr/>
        </p:nvSpPr>
        <p:spPr>
          <a:xfrm>
            <a:off x="8738865" y="3309020"/>
            <a:ext cx="1877175"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7F5F0"/>
                </a:solidFill>
                <a:latin typeface="Rubik" pitchFamily="34" charset="0"/>
                <a:ea typeface="Rubik" pitchFamily="34" charset="-122"/>
                <a:cs typeface="Rubik" pitchFamily="34" charset="-120"/>
              </a:rPr>
              <a:t>Total score</a:t>
            </a:r>
            <a:endParaRPr lang="en-US" sz="1200" dirty="0"/>
          </a:p>
        </p:txBody>
      </p:sp>
      <p:sp>
        <p:nvSpPr>
          <p:cNvPr id="26" name="Shape 19"/>
          <p:cNvSpPr/>
          <p:nvPr/>
        </p:nvSpPr>
        <p:spPr>
          <a:xfrm>
            <a:off x="10680707" y="2956620"/>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27" name="Text 20"/>
          <p:cNvSpPr/>
          <p:nvPr/>
        </p:nvSpPr>
        <p:spPr>
          <a:xfrm>
            <a:off x="10682655" y="303477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28" name="Text 21"/>
          <p:cNvSpPr/>
          <p:nvPr/>
        </p:nvSpPr>
        <p:spPr>
          <a:xfrm>
            <a:off x="10682655" y="3314154"/>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Buzz</a:t>
            </a:r>
            <a:endParaRPr lang="en-US" sz="1200" dirty="0"/>
          </a:p>
        </p:txBody>
      </p:sp>
      <p:sp>
        <p:nvSpPr>
          <p:cNvPr id="29" name="Shape 22"/>
          <p:cNvSpPr/>
          <p:nvPr/>
        </p:nvSpPr>
        <p:spPr>
          <a:xfrm>
            <a:off x="777565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0" name="Text 23"/>
          <p:cNvSpPr/>
          <p:nvPr/>
        </p:nvSpPr>
        <p:spPr>
          <a:xfrm>
            <a:off x="7777607"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3/5</a:t>
            </a:r>
            <a:endParaRPr lang="en-US" sz="2000" dirty="0"/>
          </a:p>
        </p:txBody>
      </p:sp>
      <p:sp>
        <p:nvSpPr>
          <p:cNvPr id="31" name="Text 24"/>
          <p:cNvSpPr/>
          <p:nvPr/>
        </p:nvSpPr>
        <p:spPr>
          <a:xfrm>
            <a:off x="7777607"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Impact</a:t>
            </a:r>
            <a:endParaRPr lang="en-US" sz="1200" dirty="0"/>
          </a:p>
        </p:txBody>
      </p:sp>
      <p:sp>
        <p:nvSpPr>
          <p:cNvPr id="32" name="Shape 25"/>
          <p:cNvSpPr/>
          <p:nvPr/>
        </p:nvSpPr>
        <p:spPr>
          <a:xfrm>
            <a:off x="8744009"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3" name="Text 26"/>
          <p:cNvSpPr/>
          <p:nvPr/>
        </p:nvSpPr>
        <p:spPr>
          <a:xfrm>
            <a:off x="8745956"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4/5</a:t>
            </a:r>
            <a:endParaRPr lang="en-US" sz="2000" dirty="0"/>
          </a:p>
        </p:txBody>
      </p:sp>
      <p:sp>
        <p:nvSpPr>
          <p:cNvPr id="34" name="Text 27"/>
          <p:cNvSpPr/>
          <p:nvPr/>
        </p:nvSpPr>
        <p:spPr>
          <a:xfrm>
            <a:off x="8745956"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Demo</a:t>
            </a:r>
            <a:endParaRPr lang="en-US" sz="1200" dirty="0"/>
          </a:p>
        </p:txBody>
      </p:sp>
      <p:sp>
        <p:nvSpPr>
          <p:cNvPr id="35" name="Shape 28"/>
          <p:cNvSpPr/>
          <p:nvPr/>
        </p:nvSpPr>
        <p:spPr>
          <a:xfrm>
            <a:off x="9712358"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6" name="Text 29"/>
          <p:cNvSpPr/>
          <p:nvPr/>
        </p:nvSpPr>
        <p:spPr>
          <a:xfrm>
            <a:off x="971430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2/5</a:t>
            </a:r>
            <a:endParaRPr lang="en-US" sz="2000" dirty="0"/>
          </a:p>
        </p:txBody>
      </p:sp>
      <p:sp>
        <p:nvSpPr>
          <p:cNvPr id="37" name="Text 30"/>
          <p:cNvSpPr/>
          <p:nvPr/>
        </p:nvSpPr>
        <p:spPr>
          <a:xfrm>
            <a:off x="971430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Open src</a:t>
            </a:r>
            <a:endParaRPr lang="en-US" sz="1200" dirty="0"/>
          </a:p>
        </p:txBody>
      </p:sp>
      <p:sp>
        <p:nvSpPr>
          <p:cNvPr id="38" name="Shape 31"/>
          <p:cNvSpPr/>
          <p:nvPr/>
        </p:nvSpPr>
        <p:spPr>
          <a:xfrm>
            <a:off x="10680707" y="3675385"/>
            <a:ext cx="898538" cy="648961"/>
          </a:xfrm>
          <a:prstGeom prst="roundRect">
            <a:avLst>
              <a:gd name="adj" fmla="val 11253"/>
            </a:avLst>
          </a:prstGeom>
          <a:solidFill>
            <a:srgbClr val="FFFDF8"/>
          </a:solidFill>
          <a:ln w="6350">
            <a:solidFill>
              <a:srgbClr val="D9D3C7"/>
            </a:solidFill>
            <a:prstDash val="solid"/>
          </a:ln>
        </p:spPr>
        <p:txBody>
          <a:bodyPr/>
          <a:lstStyle/>
          <a:p>
            <a:endParaRPr/>
          </a:p>
        </p:txBody>
      </p:sp>
      <p:sp>
        <p:nvSpPr>
          <p:cNvPr id="39" name="Text 32"/>
          <p:cNvSpPr/>
          <p:nvPr/>
        </p:nvSpPr>
        <p:spPr>
          <a:xfrm>
            <a:off x="10682655" y="3753569"/>
            <a:ext cx="894643" cy="304775"/>
          </a:xfrm>
          <a:prstGeom prst="rect">
            <a:avLst/>
          </a:prstGeom>
          <a:noFill/>
          <a:ln/>
        </p:spPr>
        <p:txBody>
          <a:bodyPr wrap="square" lIns="0" tIns="0" rIns="0" bIns="0" rtlCol="0" anchor="t">
            <a:normAutofit/>
          </a:bodyPr>
          <a:lstStyle/>
          <a:p>
            <a:pPr marL="0" indent="0" algn="ctr">
              <a:lnSpc>
                <a:spcPts val="2200"/>
              </a:lnSpc>
              <a:buNone/>
            </a:pPr>
            <a:r>
              <a:rPr lang="en-US" sz="2000" b="1" dirty="0">
                <a:solidFill>
                  <a:srgbClr val="16202E"/>
                </a:solidFill>
                <a:latin typeface="Rubik" pitchFamily="34" charset="0"/>
                <a:ea typeface="Rubik" pitchFamily="34" charset="-122"/>
                <a:cs typeface="Rubik" pitchFamily="34" charset="-120"/>
              </a:rPr>
              <a:t>1/5</a:t>
            </a:r>
            <a:endParaRPr lang="en-US" sz="2000" dirty="0"/>
          </a:p>
        </p:txBody>
      </p:sp>
      <p:sp>
        <p:nvSpPr>
          <p:cNvPr id="40" name="Text 33"/>
          <p:cNvSpPr/>
          <p:nvPr/>
        </p:nvSpPr>
        <p:spPr>
          <a:xfrm>
            <a:off x="10682655" y="4032945"/>
            <a:ext cx="894643" cy="23865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202E"/>
                </a:solidFill>
                <a:latin typeface="Rubik" pitchFamily="34" charset="0"/>
                <a:ea typeface="Rubik" pitchFamily="34" charset="-122"/>
                <a:cs typeface="Rubik" pitchFamily="34" charset="-120"/>
              </a:rPr>
              <a:t>ATARI</a:t>
            </a:r>
            <a:endParaRPr lang="en-US" sz="1200" dirty="0"/>
          </a:p>
        </p:txBody>
      </p:sp>
      <p:sp>
        <p:nvSpPr>
          <p:cNvPr id="41" name="Shape 34"/>
          <p:cNvSpPr/>
          <p:nvPr/>
        </p:nvSpPr>
        <p:spPr>
          <a:xfrm>
            <a:off x="7772484" y="4454451"/>
            <a:ext cx="3809936" cy="1691072"/>
          </a:xfrm>
          <a:prstGeom prst="roundRect">
            <a:avLst>
              <a:gd name="adj" fmla="val 5955"/>
            </a:avLst>
          </a:prstGeom>
          <a:solidFill>
            <a:srgbClr val="16202E"/>
          </a:solidFill>
          <a:ln/>
        </p:spPr>
        <p:txBody>
          <a:bodyPr/>
          <a:lstStyle/>
          <a:p>
            <a:endParaRPr/>
          </a:p>
        </p:txBody>
      </p:sp>
      <p:sp>
        <p:nvSpPr>
          <p:cNvPr id="42" name="Text 35"/>
          <p:cNvSpPr/>
          <p:nvPr/>
        </p:nvSpPr>
        <p:spPr>
          <a:xfrm>
            <a:off x="7912132" y="4568726"/>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Audience:</a:t>
            </a:r>
            <a:r>
              <a:rPr lang="en-US" sz="1200" dirty="0">
                <a:solidFill>
                  <a:srgbClr val="F7F5F0"/>
                </a:solidFill>
                <a:latin typeface="Rubik" pitchFamily="34" charset="0"/>
                <a:ea typeface="Rubik" pitchFamily="34" charset="-122"/>
                <a:cs typeface="Rubik" pitchFamily="34" charset="-120"/>
              </a:rPr>
              <a:t> parents of young children, especially those who travel or work late.</a:t>
            </a:r>
            <a:endParaRPr lang="en-US" sz="1200" dirty="0"/>
          </a:p>
        </p:txBody>
      </p:sp>
      <p:sp>
        <p:nvSpPr>
          <p:cNvPr id="43" name="Text 36"/>
          <p:cNvSpPr/>
          <p:nvPr/>
        </p:nvSpPr>
        <p:spPr>
          <a:xfrm>
            <a:off x="7912132" y="5002882"/>
            <a:ext cx="3636560" cy="6195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Market:</a:t>
            </a:r>
            <a:r>
              <a:rPr lang="en-US" sz="1200" dirty="0">
                <a:solidFill>
                  <a:srgbClr val="F7F5F0"/>
                </a:solidFill>
                <a:latin typeface="Rubik" pitchFamily="34" charset="0"/>
                <a:ea typeface="Rubik" pitchFamily="34" charset="-122"/>
                <a:cs typeface="Rubik" pitchFamily="34" charset="-120"/>
              </a:rPr>
              <a:t> adjacent, children's audiobook apps: $1.5B in 2024, $7.5B by 2033. Source: </a:t>
            </a:r>
            <a:r>
              <a:rPr lang="en-US" sz="1200" u="sng" dirty="0">
                <a:solidFill>
                  <a:srgbClr val="F2B880"/>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DataHorizzon Research</a:t>
            </a:r>
            <a:endParaRPr lang="en-US" sz="1200" dirty="0"/>
          </a:p>
        </p:txBody>
      </p:sp>
      <p:sp>
        <p:nvSpPr>
          <p:cNvPr id="44" name="Text 37"/>
          <p:cNvSpPr/>
          <p:nvPr/>
        </p:nvSpPr>
        <p:spPr>
          <a:xfrm>
            <a:off x="7912132" y="5635183"/>
            <a:ext cx="3636560" cy="42147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7F5F0"/>
                </a:solidFill>
                <a:latin typeface="Rubik" pitchFamily="34" charset="0"/>
                <a:ea typeface="Rubik" pitchFamily="34" charset="-122"/>
                <a:cs typeface="Rubik" pitchFamily="34" charset="-120"/>
              </a:rPr>
              <a:t>AI relevance:</a:t>
            </a:r>
            <a:r>
              <a:rPr lang="en-US" sz="1200" dirty="0">
                <a:solidFill>
                  <a:srgbClr val="F7F5F0"/>
                </a:solidFill>
                <a:latin typeface="Rubik" pitchFamily="34" charset="0"/>
                <a:ea typeface="Rubik" pitchFamily="34" charset="-122"/>
                <a:cs typeface="Rubik" pitchFamily="34" charset="-120"/>
              </a:rPr>
              <a:t> very high. Writing, illustration, voice cloning and plot memory.</a:t>
            </a:r>
            <a:endParaRPr lang="en-US" sz="1200" dirty="0"/>
          </a:p>
        </p:txBody>
      </p:sp>
    </p:spTree>
  </p:cSld>
  <p:clrMapOvr>
    <a:masterClrMapping/>
  </p:clrMapOvr>
</p:sld>
</file>

<file path=ppt/theme/theme1.xml><?xml version="1.0" encoding="utf-8"?>
<a:theme xmlns:a="http://schemas.openxmlformats.org/drawingml/2006/main" name="50 Multimodal Agent Apps (English)">
  <a:themeElements>
    <a:clrScheme name="50 Multimodal Agent Apps (English)">
      <a:dk1>
        <a:srgbClr val="16202E"/>
      </a:dk1>
      <a:lt1>
        <a:srgbClr val="F7F5F0"/>
      </a:lt1>
      <a:dk2>
        <a:srgbClr val="4E555F"/>
      </a:dk2>
      <a:lt2>
        <a:srgbClr val="E1E0DD"/>
      </a:lt2>
      <a:accent1>
        <a:srgbClr val="C2410C"/>
      </a:accent1>
      <a:accent2>
        <a:srgbClr val="0F766E"/>
      </a:accent2>
      <a:accent3>
        <a:srgbClr val="1D4ED8"/>
      </a:accent3>
      <a:accent4>
        <a:srgbClr val="F2B880"/>
      </a:accent4>
      <a:accent5>
        <a:srgbClr val="22304A"/>
      </a:accent5>
      <a:accent6>
        <a:srgbClr val="7C3AED"/>
      </a:accent6>
      <a:hlink>
        <a:srgbClr val="0563C1"/>
      </a:hlink>
      <a:folHlink>
        <a:srgbClr val="954F72"/>
      </a:folHlink>
    </a:clrScheme>
    <a:fontScheme name="50 Multimodal Agent Apps (English)">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Agents for Physical AI &amp; Robots">
  <a:themeElements>
    <a:clrScheme name="Agents for Physical AI &amp; Robots">
      <a:dk1>
        <a:srgbClr val="0E1418"/>
      </a:dk1>
      <a:lt1>
        <a:srgbClr val="EEF1EC"/>
      </a:lt1>
      <a:dk2>
        <a:srgbClr val="242A2D"/>
      </a:dk2>
      <a:lt2>
        <a:srgbClr val="B6BAB7"/>
      </a:lt2>
      <a:accent1>
        <a:srgbClr val="FF8A3D"/>
      </a:accent1>
      <a:accent2>
        <a:srgbClr val="5CC8D7"/>
      </a:accent2>
      <a:accent3>
        <a:srgbClr val="A9B6BD"/>
      </a:accent3>
      <a:accent4>
        <a:srgbClr val="84949C"/>
      </a:accent4>
      <a:accent5>
        <a:srgbClr val="1B2A33"/>
      </a:accent5>
      <a:accent6>
        <a:srgbClr val="9AA0A6"/>
      </a:accent6>
      <a:hlink>
        <a:srgbClr val="0563C1"/>
      </a:hlink>
      <a:folHlink>
        <a:srgbClr val="954F72"/>
      </a:folHlink>
    </a:clrScheme>
    <a:fontScheme name="Agents for Physical AI &amp; Robot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20252</Words>
  <Application>Microsoft Office PowerPoint</Application>
  <PresentationFormat>Widescreen</PresentationFormat>
  <Paragraphs>1890</Paragraphs>
  <Slides>64</Slides>
  <Notes>63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64</vt:i4>
      </vt:variant>
    </vt:vector>
  </HeadingPairs>
  <TitlesOfParts>
    <vt:vector size="72" baseType="lpstr">
      <vt:lpstr>Aptos</vt:lpstr>
      <vt:lpstr>Arial</vt:lpstr>
      <vt:lpstr>Calibri</vt:lpstr>
      <vt:lpstr>IBM Plex Sans</vt:lpstr>
      <vt:lpstr>Rubik</vt:lpstr>
      <vt:lpstr>Space Grotesk</vt:lpstr>
      <vt:lpstr>50 Multimodal Agent Apps (English)</vt:lpstr>
      <vt:lpstr>Agents for Physical AI &amp; Robots</vt:lpstr>
      <vt:lpstr>50 ideas for agent apps</vt:lpstr>
      <vt:lpstr>AI App &amp; Software Innovation Lab    Director: Dr. Liu Hongsheng 60+ Vision &amp; Objectives Build an innovative AI App Marketplace featuring high-impact applications that address real customer needs and significant market opportunities. Business Model: Accelerate Huawei Ascend adoption by attracting users and developers through innovative, high-value AI applications.  Idea Evaluation Criteria Problem &amp; Customer Pain Points: What problem does the application solve, and what are the key customer bottlenecks? Market Potential: What is the size of the addressable market and its potential impact? AI Relevance: How can AI deliver meaningful value? Agent-based solutions are encouraged but not mandatory. Open-Source Potential: Evaluate opportunities for open-source contributions, community engagement, and ecosystem growth.  Organization &amp; Execution Model Three Development Teams: Led by Amir, Michael, and Nizzan. Agile Development: Assign a dedicated owner to each idea, responsible for end-to-end development and delivery. Private Repositories First: Begin development in private repositories, with progress monitored by Dr. Liu Hongsheng. Weekly Deliverables: Deliver working demos every week through a coordinated development pipeline across all three teams. Continuous Innovation: Maintain a prioritized pipeline of ideas at different stages of development to ensure consistent progress, rapid experimentation, and continuous delivery. </vt:lpstr>
      <vt:lpstr>How the 50 ideas are ranked</vt:lpstr>
      <vt:lpstr>Three teams, three leads</vt:lpstr>
      <vt:lpstr>One week inside a team</vt:lpstr>
      <vt:lpstr>All 50 by team: rank, name and score out of 30</vt:lpstr>
      <vt:lpstr>The ten biggest bets</vt:lpstr>
      <vt:lpstr>ATARI is  the interface between agents and robots</vt:lpstr>
      <vt:lpstr>Four layers, one open interface in the middle</vt:lpstr>
      <vt:lpstr>Eight ideas build ATARI directly</vt:lpstr>
      <vt:lpstr>Business &amp; Research</vt:lpstr>
      <vt:lpstr>Bug Video-to-Fix</vt:lpstr>
      <vt:lpstr>Visual acceptance service</vt:lpstr>
      <vt:lpstr>Figure and evidence auditor</vt:lpstr>
      <vt:lpstr>Paper-to-Code</vt:lpstr>
      <vt:lpstr>Live Meeting Copilot</vt:lpstr>
      <vt:lpstr>Call-to-demo</vt:lpstr>
      <vt:lpstr>PersonaQA</vt:lpstr>
      <vt:lpstr>Whiteboard-to-Spec</vt:lpstr>
      <vt:lpstr>One-Person Studio</vt:lpstr>
      <vt:lpstr>Design Critic</vt:lpstr>
      <vt:lpstr>Screenshot-to-Guide</vt:lpstr>
      <vt:lpstr>Receipt-to-Books</vt:lpstr>
      <vt:lpstr>Dashboard Narrator</vt:lpstr>
      <vt:lpstr>Front desk agent</vt:lpstr>
      <vt:lpstr>Sales Call Coach</vt:lpstr>
      <vt:lpstr>Hiring Screener</vt:lpstr>
      <vt:lpstr>Media &amp; Sport</vt:lpstr>
      <vt:lpstr>What I Did Today</vt:lpstr>
      <vt:lpstr>Watch-Along Commentator</vt:lpstr>
      <vt:lpstr>Sport Form Coach</vt:lpstr>
      <vt:lpstr>The Gang Edition</vt:lpstr>
      <vt:lpstr>The Referee</vt:lpstr>
      <vt:lpstr>Rep Counter</vt:lpstr>
      <vt:lpstr>Repo-to-Launch Video</vt:lpstr>
      <vt:lpstr>Video Clipper</vt:lpstr>
      <vt:lpstr>Dynamic Training Coach</vt:lpstr>
      <vt:lpstr>Text-based Video Editor</vt:lpstr>
      <vt:lpstr>Choreographer</vt:lpstr>
      <vt:lpstr>News-to-Explainer</vt:lpstr>
      <vt:lpstr>Talking Avatar Reply</vt:lpstr>
      <vt:lpstr>Real-time Voice Translator</vt:lpstr>
      <vt:lpstr>My Director</vt:lpstr>
      <vt:lpstr>Document-to-Podcast</vt:lpstr>
      <vt:lpstr>Family &amp; Learning</vt:lpstr>
      <vt:lpstr>Inkwell</vt:lpstr>
      <vt:lpstr>Camera Companion</vt:lpstr>
      <vt:lpstr>Living Drawing</vt:lpstr>
      <vt:lpstr>Listen to the Machine</vt:lpstr>
      <vt:lpstr>Fridge-to-Table</vt:lpstr>
      <vt:lpstr>Lecture-to-Notes</vt:lpstr>
      <vt:lpstr>Classroom Assistant</vt:lpstr>
      <vt:lpstr>Homework Buddy</vt:lpstr>
      <vt:lpstr>My Closet</vt:lpstr>
      <vt:lpstr>Dress Rehearsal</vt:lpstr>
      <vt:lpstr>Voices of Home</vt:lpstr>
      <vt:lpstr>New Room</vt:lpstr>
      <vt:lpstr>Second-Hand Inspector</vt:lpstr>
      <vt:lpstr>Street Language</vt:lpstr>
      <vt:lpstr>Practice coach that sees your work</vt:lpstr>
      <vt:lpstr>Damage Assessor</vt:lpstr>
      <vt:lpstr>Paper-to-action</vt:lpstr>
      <vt:lpstr>Form Filler</vt:lpstr>
      <vt:lpstr>Bedtime Story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 Multimodal Agent Apps (English)</dc:title>
  <dc:subject/>
  <dc:creator/>
  <cp:lastModifiedBy>Dror Mizrachi (TRC)</cp:lastModifiedBy>
  <cp:revision>28</cp:revision>
  <dcterms:created xsi:type="dcterms:W3CDTF">2026-10-08T06:44:57Z</dcterms:created>
  <dcterms:modified xsi:type="dcterms:W3CDTF">2026-10-08T14:02:21Z</dcterms:modified>
</cp:coreProperties>
</file>